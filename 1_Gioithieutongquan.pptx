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handoutMasterIdLst>
    <p:handoutMasterId r:id="rId44"/>
  </p:handoutMasterIdLst>
  <p:sldIdLst>
    <p:sldId id="256" r:id="rId5"/>
    <p:sldId id="302" r:id="rId6"/>
    <p:sldId id="303" r:id="rId7"/>
    <p:sldId id="304" r:id="rId8"/>
    <p:sldId id="306" r:id="rId9"/>
    <p:sldId id="305" r:id="rId10"/>
    <p:sldId id="307" r:id="rId11"/>
    <p:sldId id="308" r:id="rId12"/>
    <p:sldId id="309" r:id="rId13"/>
    <p:sldId id="310" r:id="rId14"/>
    <p:sldId id="311" r:id="rId15"/>
    <p:sldId id="312" r:id="rId16"/>
    <p:sldId id="267" r:id="rId17"/>
    <p:sldId id="268" r:id="rId18"/>
    <p:sldId id="269" r:id="rId19"/>
    <p:sldId id="271" r:id="rId20"/>
    <p:sldId id="274" r:id="rId21"/>
    <p:sldId id="333" r:id="rId22"/>
    <p:sldId id="335" r:id="rId23"/>
    <p:sldId id="340" r:id="rId24"/>
    <p:sldId id="338" r:id="rId25"/>
    <p:sldId id="272" r:id="rId26"/>
    <p:sldId id="270" r:id="rId27"/>
    <p:sldId id="341" r:id="rId28"/>
    <p:sldId id="342" r:id="rId29"/>
    <p:sldId id="343" r:id="rId30"/>
    <p:sldId id="277" r:id="rId31"/>
    <p:sldId id="344" r:id="rId32"/>
    <p:sldId id="345" r:id="rId33"/>
    <p:sldId id="346" r:id="rId34"/>
    <p:sldId id="347" r:id="rId35"/>
    <p:sldId id="280" r:id="rId36"/>
    <p:sldId id="281" r:id="rId37"/>
    <p:sldId id="348" r:id="rId38"/>
    <p:sldId id="299" r:id="rId39"/>
    <p:sldId id="287" r:id="rId40"/>
    <p:sldId id="300" r:id="rId41"/>
    <p:sldId id="30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2" d="100"/>
          <a:sy n="82" d="100"/>
        </p:scale>
        <p:origin x="643"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26/12/2023</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26/12/2023</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796F01-7154-41E0-B48B-A6921757531A}" type="slidenum">
              <a:rPr lang="en-US" smtClean="0"/>
              <a:pPr/>
              <a:t>35</a:t>
            </a:fld>
            <a:endParaRPr lang="en-US"/>
          </a:p>
        </p:txBody>
      </p:sp>
    </p:spTree>
    <p:extLst>
      <p:ext uri="{BB962C8B-B14F-4D97-AF65-F5344CB8AC3E}">
        <p14:creationId xmlns:p14="http://schemas.microsoft.com/office/powerpoint/2010/main" val="385644401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26/12/2023</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2pPr marL="796925" indent="-339725">
              <a:buFont typeface="Wingdings" panose="05000000000000000000" pitchFamily="2" charset="2"/>
              <a:buChar char="v"/>
              <a:defRPr sz="24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402B9795-92DC-40DC-A1CA-9A4B349D7824}" type="datetimeFigureOut">
              <a:rPr lang="en-US"/>
              <a:t>26/12/2023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26/12/2023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26/12/2023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26/12/2023</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26/12/2023</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26/12/2023</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26/12/2023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26/12/2023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26/12/2023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26/12/2023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388006"/>
            <a:ext cx="9982200" cy="4784194"/>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26/12/2023</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4301" y="2292094"/>
            <a:ext cx="6959320" cy="2219691"/>
          </a:xfrm>
        </p:spPr>
        <p:txBody>
          <a:bodyPr anchor="ct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000" cap="none"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Hệ</a:t>
            </a:r>
            <a:r>
              <a:rPr lang="en-US" sz="4000"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a:t>
            </a:r>
            <a:r>
              <a:rPr lang="en-US" sz="4000" cap="none"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thống</a:t>
            </a:r>
            <a:r>
              <a:rPr lang="en-US" sz="4000"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a:t>
            </a:r>
            <a:r>
              <a:rPr lang="en-US" sz="4000" cap="none"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và</a:t>
            </a:r>
            <a:r>
              <a:rPr lang="en-US" sz="4000"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a:t>
            </a:r>
            <a:r>
              <a:rPr lang="en-US" sz="4000" cap="none"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công</a:t>
            </a:r>
            <a:r>
              <a:rPr lang="en-US" sz="4000"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a:t>
            </a:r>
            <a:r>
              <a:rPr lang="en-US" sz="4000" cap="none"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nghệ</a:t>
            </a:r>
            <a:r>
              <a:rPr lang="en-US" sz="4000"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web</a:t>
            </a:r>
            <a:br>
              <a:rPr lang="en-US" sz="4000" cap="none" dirty="0">
                <a:ln/>
                <a:solidFill>
                  <a:schemeClr val="accent3"/>
                </a:solidFill>
              </a:rPr>
            </a:br>
            <a:r>
              <a:rPr lang="en-US" sz="4000" cap="none" dirty="0">
                <a:ln/>
                <a:solidFill>
                  <a:schemeClr val="accent3"/>
                </a:solidFill>
              </a:rPr>
              <a:t>(</a:t>
            </a:r>
            <a:r>
              <a:rPr lang="en-US" sz="3200" cap="none" dirty="0">
                <a:ln/>
                <a:solidFill>
                  <a:schemeClr val="accent3"/>
                </a:solidFill>
              </a:rPr>
              <a:t>Web systems and technologies</a:t>
            </a:r>
            <a:r>
              <a:rPr lang="en-US" sz="4000" cap="none" dirty="0">
                <a:ln/>
                <a:solidFill>
                  <a:schemeClr val="accent3"/>
                </a:solidFill>
              </a:rPr>
              <a:t>)</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a:xfrm>
            <a:off x="7073621" y="1333500"/>
            <a:ext cx="5118379" cy="41338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31-ACE9-4028-9E06-450CBBBA6E85}"/>
              </a:ext>
            </a:extLst>
          </p:cNvPr>
          <p:cNvSpPr>
            <a:spLocks noGrp="1"/>
          </p:cNvSpPr>
          <p:nvPr>
            <p:ph type="title"/>
          </p:nvPr>
        </p:nvSpPr>
        <p:spPr/>
        <p:txBody>
          <a:bodyPr/>
          <a:lstStyle/>
          <a:p>
            <a:r>
              <a:rPr lang="en-US" dirty="0" err="1"/>
              <a:t>Nội</a:t>
            </a:r>
            <a:r>
              <a:rPr lang="en-US" dirty="0"/>
              <a:t> dung</a:t>
            </a:r>
          </a:p>
        </p:txBody>
      </p:sp>
      <p:sp>
        <p:nvSpPr>
          <p:cNvPr id="3" name="Content Placeholder 2">
            <a:extLst>
              <a:ext uri="{FF2B5EF4-FFF2-40B4-BE49-F238E27FC236}">
                <a16:creationId xmlns:a16="http://schemas.microsoft.com/office/drawing/2014/main" id="{D80C1243-9688-4296-AD90-DD54EEEB3BEC}"/>
              </a:ext>
            </a:extLst>
          </p:cNvPr>
          <p:cNvSpPr>
            <a:spLocks noGrp="1"/>
          </p:cNvSpPr>
          <p:nvPr>
            <p:ph idx="1"/>
          </p:nvPr>
        </p:nvSpPr>
        <p:spPr/>
        <p:txBody>
          <a:bodyPr>
            <a:normAutofit/>
          </a:bodyPr>
          <a:lstStyle/>
          <a:p>
            <a:pPr>
              <a:lnSpc>
                <a:spcPct val="100000"/>
              </a:lnSpc>
            </a:pPr>
            <a:r>
              <a:rPr lang="en-US" b="1" dirty="0" err="1"/>
              <a:t>Giới</a:t>
            </a:r>
            <a:r>
              <a:rPr lang="en-US" b="1" dirty="0"/>
              <a:t> </a:t>
            </a:r>
            <a:r>
              <a:rPr lang="en-US" b="1" dirty="0" err="1"/>
              <a:t>thiệu</a:t>
            </a:r>
            <a:r>
              <a:rPr lang="en-US" b="1" dirty="0"/>
              <a:t> web</a:t>
            </a:r>
          </a:p>
          <a:p>
            <a:pPr lvl="1">
              <a:lnSpc>
                <a:spcPct val="100000"/>
              </a:lnSpc>
            </a:pPr>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web </a:t>
            </a:r>
          </a:p>
          <a:p>
            <a:pPr lvl="1">
              <a:lnSpc>
                <a:spcPct val="100000"/>
              </a:lnSpc>
            </a:pPr>
            <a:r>
              <a:rPr lang="en-US" dirty="0" err="1"/>
              <a:t>Các</a:t>
            </a:r>
            <a:r>
              <a:rPr lang="en-US" dirty="0"/>
              <a:t> </a:t>
            </a:r>
            <a:r>
              <a:rPr lang="en-US" dirty="0" err="1"/>
              <a:t>loại</a:t>
            </a:r>
            <a:r>
              <a:rPr lang="en-US" dirty="0"/>
              <a:t> </a:t>
            </a:r>
            <a:r>
              <a:rPr lang="en-US" dirty="0" err="1"/>
              <a:t>ứng</a:t>
            </a:r>
            <a:r>
              <a:rPr lang="en-US" dirty="0"/>
              <a:t> </a:t>
            </a:r>
            <a:r>
              <a:rPr lang="en-US" dirty="0" err="1"/>
              <a:t>dụng</a:t>
            </a:r>
            <a:r>
              <a:rPr lang="en-US" dirty="0"/>
              <a:t> Web</a:t>
            </a:r>
          </a:p>
          <a:p>
            <a:pPr>
              <a:lnSpc>
                <a:spcPct val="100000"/>
              </a:lnSpc>
            </a:pPr>
            <a:r>
              <a:rPr lang="en-US" b="1" dirty="0" err="1"/>
              <a:t>Kiến</a:t>
            </a:r>
            <a:r>
              <a:rPr lang="en-US" b="1" dirty="0"/>
              <a:t> </a:t>
            </a:r>
            <a:r>
              <a:rPr lang="en-US" b="1" dirty="0" err="1"/>
              <a:t>trúc</a:t>
            </a:r>
            <a:r>
              <a:rPr lang="en-US" b="1" dirty="0"/>
              <a:t> </a:t>
            </a:r>
            <a:r>
              <a:rPr lang="en-US" b="1" dirty="0" err="1"/>
              <a:t>ứng</a:t>
            </a:r>
            <a:r>
              <a:rPr lang="en-US" b="1" dirty="0"/>
              <a:t> </a:t>
            </a:r>
            <a:r>
              <a:rPr lang="en-US" b="1" dirty="0" err="1"/>
              <a:t>dụng</a:t>
            </a:r>
            <a:r>
              <a:rPr lang="en-US" b="1" dirty="0"/>
              <a:t> web</a:t>
            </a:r>
          </a:p>
          <a:p>
            <a:pPr lvl="1">
              <a:lnSpc>
                <a:spcPct val="100000"/>
              </a:lnSpc>
            </a:pPr>
            <a:r>
              <a:rPr lang="en-US" dirty="0" err="1"/>
              <a:t>Thành</a:t>
            </a:r>
            <a:r>
              <a:rPr lang="en-US" dirty="0"/>
              <a:t> </a:t>
            </a:r>
            <a:r>
              <a:rPr lang="en-US" dirty="0" err="1"/>
              <a:t>phần</a:t>
            </a:r>
            <a:r>
              <a:rPr lang="en-US" dirty="0"/>
              <a:t> </a:t>
            </a:r>
            <a:r>
              <a:rPr lang="en-US" dirty="0" err="1"/>
              <a:t>ứng</a:t>
            </a:r>
            <a:r>
              <a:rPr lang="en-US" dirty="0"/>
              <a:t> </a:t>
            </a:r>
            <a:r>
              <a:rPr lang="en-US" dirty="0" err="1"/>
              <a:t>dụng</a:t>
            </a:r>
            <a:r>
              <a:rPr lang="en-US" dirty="0"/>
              <a:t> web </a:t>
            </a:r>
          </a:p>
          <a:p>
            <a:pPr lvl="1">
              <a:lnSpc>
                <a:spcPct val="100000"/>
              </a:lnSpc>
            </a:pPr>
            <a:r>
              <a:rPr lang="en-US" dirty="0"/>
              <a:t>Web </a:t>
            </a:r>
            <a:r>
              <a:rPr lang="en-US" dirty="0" err="1"/>
              <a:t>phía</a:t>
            </a:r>
            <a:r>
              <a:rPr lang="en-US" dirty="0"/>
              <a:t> client - Web Client side</a:t>
            </a:r>
          </a:p>
          <a:p>
            <a:pPr lvl="1">
              <a:lnSpc>
                <a:spcPct val="100000"/>
              </a:lnSpc>
            </a:pPr>
            <a:r>
              <a:rPr lang="en-US" dirty="0"/>
              <a:t>Web </a:t>
            </a:r>
            <a:r>
              <a:rPr lang="en-US" dirty="0" err="1"/>
              <a:t>phía</a:t>
            </a:r>
            <a:r>
              <a:rPr lang="en-US" dirty="0"/>
              <a:t> server - Web Server side</a:t>
            </a:r>
          </a:p>
          <a:p>
            <a:pPr lvl="1">
              <a:lnSpc>
                <a:spcPct val="100000"/>
              </a:lnSpc>
            </a:pPr>
            <a:r>
              <a:rPr lang="en-US" dirty="0" err="1"/>
              <a:t>Giới</a:t>
            </a:r>
            <a:r>
              <a:rPr lang="en-US" dirty="0"/>
              <a:t> </a:t>
            </a:r>
            <a:r>
              <a:rPr lang="en-US" dirty="0" err="1"/>
              <a:t>thiệu</a:t>
            </a:r>
            <a:r>
              <a:rPr lang="en-US" dirty="0"/>
              <a:t> </a:t>
            </a:r>
            <a:r>
              <a:rPr lang="en-US" dirty="0" err="1"/>
              <a:t>về</a:t>
            </a:r>
            <a:r>
              <a:rPr lang="en-US" dirty="0"/>
              <a:t> </a:t>
            </a:r>
            <a:r>
              <a:rPr lang="en-US" dirty="0" err="1"/>
              <a:t>dịch</a:t>
            </a:r>
            <a:r>
              <a:rPr lang="en-US" dirty="0"/>
              <a:t> </a:t>
            </a:r>
            <a:r>
              <a:rPr lang="en-US" dirty="0" err="1"/>
              <a:t>vụ</a:t>
            </a:r>
            <a:r>
              <a:rPr lang="en-US" dirty="0"/>
              <a:t> Web - Web Services</a:t>
            </a:r>
          </a:p>
          <a:p>
            <a:pPr>
              <a:lnSpc>
                <a:spcPct val="100000"/>
              </a:lnSpc>
            </a:pPr>
            <a:r>
              <a:rPr lang="en-US" b="1" dirty="0" err="1"/>
              <a:t>Tổ</a:t>
            </a:r>
            <a:r>
              <a:rPr lang="en-US" b="1" dirty="0"/>
              <a:t> </a:t>
            </a:r>
            <a:r>
              <a:rPr lang="en-US" b="1" dirty="0" err="1"/>
              <a:t>chức</a:t>
            </a:r>
            <a:r>
              <a:rPr lang="en-US" b="1" dirty="0"/>
              <a:t> World Wide Web Consortium (W3C)</a:t>
            </a:r>
          </a:p>
        </p:txBody>
      </p:sp>
    </p:spTree>
    <p:extLst>
      <p:ext uri="{BB962C8B-B14F-4D97-AF65-F5344CB8AC3E}">
        <p14:creationId xmlns:p14="http://schemas.microsoft.com/office/powerpoint/2010/main" val="4147866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CA13-34B9-40F6-B085-D16F3CA84EFE}"/>
              </a:ext>
            </a:extLst>
          </p:cNvPr>
          <p:cNvSpPr>
            <a:spLocks noGrp="1"/>
          </p:cNvSpPr>
          <p:nvPr>
            <p:ph type="title"/>
          </p:nvPr>
        </p:nvSpPr>
        <p:spPr/>
        <p:txBody>
          <a:bodyPr/>
          <a:lstStyle/>
          <a:p>
            <a:r>
              <a:rPr lang="en-US" dirty="0" err="1"/>
              <a:t>Giới</a:t>
            </a:r>
            <a:r>
              <a:rPr lang="en-US" dirty="0"/>
              <a:t> </a:t>
            </a:r>
            <a:r>
              <a:rPr lang="en-US" dirty="0" err="1"/>
              <a:t>thiệu</a:t>
            </a:r>
            <a:r>
              <a:rPr lang="en-US" dirty="0"/>
              <a:t> Web</a:t>
            </a:r>
          </a:p>
        </p:txBody>
      </p:sp>
      <p:sp>
        <p:nvSpPr>
          <p:cNvPr id="3" name="Content Placeholder 2">
            <a:extLst>
              <a:ext uri="{FF2B5EF4-FFF2-40B4-BE49-F238E27FC236}">
                <a16:creationId xmlns:a16="http://schemas.microsoft.com/office/drawing/2014/main" id="{90D7BD5A-6C0D-4F67-BD1C-AA7591AFD7E2}"/>
              </a:ext>
            </a:extLst>
          </p:cNvPr>
          <p:cNvSpPr>
            <a:spLocks noGrp="1"/>
          </p:cNvSpPr>
          <p:nvPr>
            <p:ph idx="1"/>
          </p:nvPr>
        </p:nvSpPr>
        <p:spPr>
          <a:xfrm>
            <a:off x="1104900" y="1388005"/>
            <a:ext cx="5915025" cy="5117569"/>
          </a:xfrm>
        </p:spPr>
        <p:txBody>
          <a:bodyPr>
            <a:normAutofit/>
          </a:bodyPr>
          <a:lstStyle/>
          <a:p>
            <a:pPr algn="just"/>
            <a:r>
              <a:rPr lang="vi-VN" b="1" dirty="0">
                <a:solidFill>
                  <a:srgbClr val="FF0000"/>
                </a:solidFill>
              </a:rPr>
              <a:t>Internet</a:t>
            </a:r>
            <a:r>
              <a:rPr lang="vi-VN" dirty="0"/>
              <a:t> là một mạng </a:t>
            </a:r>
            <a:r>
              <a:rPr lang="en-US" dirty="0" err="1"/>
              <a:t>toàn</a:t>
            </a:r>
            <a:r>
              <a:rPr lang="en-US" dirty="0"/>
              <a:t> </a:t>
            </a:r>
            <a:r>
              <a:rPr lang="en-US" dirty="0" err="1"/>
              <a:t>cầu</a:t>
            </a:r>
            <a:r>
              <a:rPr lang="vi-VN" dirty="0"/>
              <a:t>, được tạo thành từ các máy tính và các kết nối vật lý (dây dẫn, bộ định tuyến, v.v.) cho phép chúng giao tiếp với nhau.</a:t>
            </a:r>
            <a:endParaRPr lang="en-US" dirty="0"/>
          </a:p>
          <a:p>
            <a:pPr algn="just"/>
            <a:r>
              <a:rPr lang="vi-VN" dirty="0"/>
              <a:t>Đây là mạng lưới kết nối hàng trăm nghìn mạng riêng lẻ trên toàn thế giới</a:t>
            </a:r>
            <a:r>
              <a:rPr lang="en-US" dirty="0"/>
              <a:t>, </a:t>
            </a:r>
            <a:r>
              <a:rPr lang="en-US" dirty="0" err="1"/>
              <a:t>với</a:t>
            </a:r>
            <a:r>
              <a:rPr lang="en-US" dirty="0"/>
              <a:t> </a:t>
            </a:r>
            <a:r>
              <a:rPr lang="en-US" dirty="0" err="1"/>
              <a:t>thuật</a:t>
            </a:r>
            <a:r>
              <a:rPr lang="en-US" dirty="0"/>
              <a:t> </a:t>
            </a:r>
            <a:r>
              <a:rPr lang="en-US" dirty="0" err="1"/>
              <a:t>ngữ</a:t>
            </a:r>
            <a:r>
              <a:rPr lang="vi-VN" dirty="0"/>
              <a:t> “xa lộ thông tin”.</a:t>
            </a:r>
            <a:endParaRPr lang="en-US" dirty="0"/>
          </a:p>
          <a:p>
            <a:r>
              <a:rPr lang="vi-VN" dirty="0"/>
              <a:t>Thay vì di chuyển qua không gian địa lý, </a:t>
            </a:r>
            <a:r>
              <a:rPr lang="en-US" dirty="0" err="1"/>
              <a:t>thì</a:t>
            </a:r>
            <a:r>
              <a:rPr lang="en-US" dirty="0"/>
              <a:t> internet</a:t>
            </a:r>
            <a:r>
              <a:rPr lang="vi-VN" dirty="0"/>
              <a:t> </a:t>
            </a:r>
            <a:r>
              <a:rPr lang="en-US" dirty="0" err="1"/>
              <a:t>trao</a:t>
            </a:r>
            <a:r>
              <a:rPr lang="en-US" dirty="0"/>
              <a:t> </a:t>
            </a:r>
            <a:r>
              <a:rPr lang="en-US" dirty="0" err="1"/>
              <a:t>đổi</a:t>
            </a:r>
            <a:r>
              <a:rPr lang="en-US" dirty="0"/>
              <a:t> </a:t>
            </a:r>
            <a:r>
              <a:rPr lang="vi-VN" dirty="0"/>
              <a:t>thông tin qua không gian mạng</a:t>
            </a:r>
            <a:r>
              <a:rPr lang="en-US" dirty="0"/>
              <a:t>.</a:t>
            </a:r>
          </a:p>
        </p:txBody>
      </p:sp>
      <p:pic>
        <p:nvPicPr>
          <p:cNvPr id="4" name="Picture 12" descr="Bài 2. Mạng thông tin toàn cầu internet | Loigiaihay">
            <a:extLst>
              <a:ext uri="{FF2B5EF4-FFF2-40B4-BE49-F238E27FC236}">
                <a16:creationId xmlns:a16="http://schemas.microsoft.com/office/drawing/2014/main" id="{373DE0F3-2A91-4AFC-A8FE-AFC05082B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9356" y="1685918"/>
            <a:ext cx="4574598" cy="37719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008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8CA8-F8B3-438F-8A3D-C75A0B9F6DC2}"/>
              </a:ext>
            </a:extLst>
          </p:cNvPr>
          <p:cNvSpPr>
            <a:spLocks noGrp="1"/>
          </p:cNvSpPr>
          <p:nvPr>
            <p:ph type="title"/>
          </p:nvPr>
        </p:nvSpPr>
        <p:spPr/>
        <p:txBody>
          <a:bodyPr/>
          <a:lstStyle/>
          <a:p>
            <a:r>
              <a:rPr lang="en-US" dirty="0" err="1"/>
              <a:t>Giới</a:t>
            </a:r>
            <a:r>
              <a:rPr lang="en-US" dirty="0"/>
              <a:t> </a:t>
            </a:r>
            <a:r>
              <a:rPr lang="en-US" dirty="0" err="1"/>
              <a:t>thiệu</a:t>
            </a:r>
            <a:r>
              <a:rPr lang="en-US" dirty="0"/>
              <a:t> Web</a:t>
            </a:r>
          </a:p>
        </p:txBody>
      </p:sp>
      <p:sp>
        <p:nvSpPr>
          <p:cNvPr id="3" name="Content Placeholder 2">
            <a:extLst>
              <a:ext uri="{FF2B5EF4-FFF2-40B4-BE49-F238E27FC236}">
                <a16:creationId xmlns:a16="http://schemas.microsoft.com/office/drawing/2014/main" id="{6EAECA51-C08D-4B43-B756-8033CF749C65}"/>
              </a:ext>
            </a:extLst>
          </p:cNvPr>
          <p:cNvSpPr>
            <a:spLocks noGrp="1"/>
          </p:cNvSpPr>
          <p:nvPr>
            <p:ph idx="1"/>
          </p:nvPr>
        </p:nvSpPr>
        <p:spPr>
          <a:xfrm>
            <a:off x="1103382" y="1388006"/>
            <a:ext cx="9982200" cy="4784194"/>
          </a:xfrm>
        </p:spPr>
        <p:txBody>
          <a:bodyPr>
            <a:normAutofit/>
          </a:bodyPr>
          <a:lstStyle/>
          <a:p>
            <a:pPr algn="just"/>
            <a:r>
              <a:rPr lang="en-US" b="1" dirty="0" err="1">
                <a:solidFill>
                  <a:srgbClr val="FF0000"/>
                </a:solidFill>
              </a:rPr>
              <a:t>Cách</a:t>
            </a:r>
            <a:r>
              <a:rPr lang="en-US" b="1" dirty="0">
                <a:solidFill>
                  <a:srgbClr val="FF0000"/>
                </a:solidFill>
              </a:rPr>
              <a:t> </a:t>
            </a:r>
            <a:r>
              <a:rPr lang="en-US" b="1" dirty="0" err="1">
                <a:solidFill>
                  <a:srgbClr val="FF0000"/>
                </a:solidFill>
              </a:rPr>
              <a:t>truy</a:t>
            </a:r>
            <a:r>
              <a:rPr lang="en-US" b="1" dirty="0">
                <a:solidFill>
                  <a:srgbClr val="FF0000"/>
                </a:solidFill>
              </a:rPr>
              <a:t> </a:t>
            </a:r>
            <a:r>
              <a:rPr lang="en-US" b="1" dirty="0" err="1">
                <a:solidFill>
                  <a:srgbClr val="FF0000"/>
                </a:solidFill>
              </a:rPr>
              <a:t>cập</a:t>
            </a:r>
            <a:r>
              <a:rPr lang="en-US" b="1" dirty="0">
                <a:solidFill>
                  <a:srgbClr val="FF0000"/>
                </a:solidFill>
              </a:rPr>
              <a:t> Internet</a:t>
            </a:r>
          </a:p>
          <a:p>
            <a:pPr lvl="1" algn="just"/>
            <a:r>
              <a:rPr lang="vi-VN" dirty="0"/>
              <a:t>Để truy cập Internet, cần phải đăng ký </a:t>
            </a:r>
            <a:r>
              <a:rPr lang="en-US" dirty="0" err="1"/>
              <a:t>dịch</a:t>
            </a:r>
            <a:r>
              <a:rPr lang="en-US" dirty="0"/>
              <a:t> </a:t>
            </a:r>
            <a:r>
              <a:rPr lang="en-US" dirty="0" err="1"/>
              <a:t>vụ</a:t>
            </a:r>
            <a:r>
              <a:rPr lang="en-US" dirty="0"/>
              <a:t> </a:t>
            </a:r>
            <a:r>
              <a:rPr lang="en-US" dirty="0" err="1"/>
              <a:t>thông</a:t>
            </a:r>
            <a:r>
              <a:rPr lang="en-US" dirty="0"/>
              <a:t> qua </a:t>
            </a:r>
            <a:r>
              <a:rPr lang="en-US" dirty="0" err="1"/>
              <a:t>nhà</a:t>
            </a:r>
            <a:r>
              <a:rPr lang="en-US" dirty="0"/>
              <a:t> </a:t>
            </a:r>
            <a:r>
              <a:rPr lang="en-US" dirty="0" err="1"/>
              <a:t>cung</a:t>
            </a:r>
            <a:r>
              <a:rPr lang="en-US" dirty="0"/>
              <a:t> </a:t>
            </a:r>
            <a:r>
              <a:rPr lang="en-US" dirty="0" err="1"/>
              <a:t>cấp</a:t>
            </a:r>
            <a:r>
              <a:rPr lang="en-US" dirty="0"/>
              <a:t> </a:t>
            </a:r>
            <a:r>
              <a:rPr lang="vi-VN" dirty="0"/>
              <a:t>dịch vụ Internet (ISP)</a:t>
            </a:r>
            <a:r>
              <a:rPr lang="en-US" dirty="0"/>
              <a:t>.</a:t>
            </a:r>
          </a:p>
          <a:p>
            <a:pPr lvl="1" algn="just"/>
            <a:r>
              <a:rPr lang="vi-VN" b="1" dirty="0"/>
              <a:t>Nhà cung cấp dịch vụ Internet (ISP)</a:t>
            </a:r>
            <a:r>
              <a:rPr lang="en-US" dirty="0"/>
              <a:t>: </a:t>
            </a:r>
            <a:r>
              <a:rPr lang="vi-VN" dirty="0"/>
              <a:t>Một tổ chức thương mại có kết nối vĩnh viễn với Internet bán các kết nối tạm thời cho người đăng ký</a:t>
            </a:r>
            <a:r>
              <a:rPr lang="en-US" dirty="0"/>
              <a:t>.</a:t>
            </a:r>
          </a:p>
          <a:p>
            <a:pPr lvl="1" algn="just"/>
            <a:r>
              <a:rPr lang="en-US" dirty="0" err="1"/>
              <a:t>Các</a:t>
            </a:r>
            <a:r>
              <a:rPr lang="en-US" dirty="0"/>
              <a:t> </a:t>
            </a:r>
            <a:r>
              <a:rPr lang="vi-VN" dirty="0"/>
              <a:t>trường học và doanh nghiệp có quyền truy cập trực tiếp vào Internet bằng đường dây và thiết bị liên lạc tốc độ cao đặc biệt. </a:t>
            </a:r>
            <a:endParaRPr lang="en-US" dirty="0"/>
          </a:p>
          <a:p>
            <a:pPr lvl="1" algn="just"/>
            <a:r>
              <a:rPr lang="vi-VN" dirty="0"/>
              <a:t>Sinh viên và nhân viên có thể truy cập thông qua mạng cục bộ (LAN) của tổ chức hoặc thông qua máy tính cá nhân.</a:t>
            </a:r>
            <a:endParaRPr lang="en-US" dirty="0"/>
          </a:p>
        </p:txBody>
      </p:sp>
    </p:spTree>
    <p:extLst>
      <p:ext uri="{BB962C8B-B14F-4D97-AF65-F5344CB8AC3E}">
        <p14:creationId xmlns:p14="http://schemas.microsoft.com/office/powerpoint/2010/main" val="3719685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456C6-46B0-4F32-880F-21A1F3829044}"/>
              </a:ext>
            </a:extLst>
          </p:cNvPr>
          <p:cNvSpPr>
            <a:spLocks noGrp="1"/>
          </p:cNvSpPr>
          <p:nvPr>
            <p:ph type="title"/>
          </p:nvPr>
        </p:nvSpPr>
        <p:spPr/>
        <p:txBody>
          <a:bodyPr/>
          <a:lstStyle/>
          <a:p>
            <a:r>
              <a:rPr lang="en-US" dirty="0"/>
              <a:t>World Wide Web </a:t>
            </a:r>
            <a:r>
              <a:rPr lang="en-US" dirty="0" err="1"/>
              <a:t>là</a:t>
            </a:r>
            <a:r>
              <a:rPr lang="en-US" dirty="0"/>
              <a:t> </a:t>
            </a:r>
            <a:r>
              <a:rPr lang="en-US" dirty="0" err="1"/>
              <a:t>gì</a:t>
            </a:r>
            <a:r>
              <a:rPr lang="en-US" dirty="0"/>
              <a:t>? </a:t>
            </a:r>
          </a:p>
        </p:txBody>
      </p:sp>
      <p:sp>
        <p:nvSpPr>
          <p:cNvPr id="3" name="Content Placeholder 2">
            <a:extLst>
              <a:ext uri="{FF2B5EF4-FFF2-40B4-BE49-F238E27FC236}">
                <a16:creationId xmlns:a16="http://schemas.microsoft.com/office/drawing/2014/main" id="{75E39444-40F6-49F1-A3BF-BB5743B83285}"/>
              </a:ext>
            </a:extLst>
          </p:cNvPr>
          <p:cNvSpPr>
            <a:spLocks noGrp="1"/>
          </p:cNvSpPr>
          <p:nvPr>
            <p:ph idx="1"/>
          </p:nvPr>
        </p:nvSpPr>
        <p:spPr>
          <a:xfrm>
            <a:off x="1104900" y="1388005"/>
            <a:ext cx="9982200" cy="5271211"/>
          </a:xfrm>
        </p:spPr>
        <p:txBody>
          <a:bodyPr>
            <a:normAutofit/>
          </a:bodyPr>
          <a:lstStyle/>
          <a:p>
            <a:pPr algn="just">
              <a:lnSpc>
                <a:spcPct val="100000"/>
              </a:lnSpc>
            </a:pPr>
            <a:r>
              <a:rPr lang="vi-VN" b="1" dirty="0">
                <a:solidFill>
                  <a:srgbClr val="FF0000"/>
                </a:solidFill>
              </a:rPr>
              <a:t>World Wide Web</a:t>
            </a:r>
            <a:r>
              <a:rPr lang="en-US" b="1" dirty="0">
                <a:solidFill>
                  <a:srgbClr val="FF0000"/>
                </a:solidFill>
              </a:rPr>
              <a:t> (Web):</a:t>
            </a:r>
            <a:r>
              <a:rPr lang="vi-VN" dirty="0">
                <a:solidFill>
                  <a:srgbClr val="FF0000"/>
                </a:solidFill>
              </a:rPr>
              <a:t> </a:t>
            </a:r>
            <a:r>
              <a:rPr lang="en-US" dirty="0" err="1">
                <a:solidFill>
                  <a:schemeClr val="tx1"/>
                </a:solidFill>
              </a:rPr>
              <a:t>là</a:t>
            </a:r>
            <a:r>
              <a:rPr lang="en-US" dirty="0">
                <a:solidFill>
                  <a:srgbClr val="FF0000"/>
                </a:solidFill>
              </a:rPr>
              <a:t> </a:t>
            </a:r>
            <a:r>
              <a:rPr lang="vi-VN" dirty="0"/>
              <a:t>một tập hợp các tài liệu, hình ảnh, video, âm thanh có thể được liên kết và truy cập qua Internet bằng cách sử dụng giao thức HTTP</a:t>
            </a:r>
            <a:r>
              <a:rPr lang="en-US" dirty="0"/>
              <a:t>.</a:t>
            </a:r>
          </a:p>
          <a:p>
            <a:pPr algn="just">
              <a:lnSpc>
                <a:spcPct val="100000"/>
              </a:lnSpc>
            </a:pPr>
            <a:r>
              <a:rPr lang="vi-VN" b="1" dirty="0">
                <a:solidFill>
                  <a:srgbClr val="FF0000"/>
                </a:solidFill>
              </a:rPr>
              <a:t>Trang web </a:t>
            </a:r>
            <a:r>
              <a:rPr lang="en-US" b="1" dirty="0">
                <a:solidFill>
                  <a:srgbClr val="FF0000"/>
                </a:solidFill>
              </a:rPr>
              <a:t>(Web page) </a:t>
            </a:r>
            <a:r>
              <a:rPr lang="vi-VN" dirty="0"/>
              <a:t>là một </a:t>
            </a:r>
            <a:r>
              <a:rPr lang="en-US" dirty="0" err="1"/>
              <a:t>tập</a:t>
            </a:r>
            <a:r>
              <a:rPr lang="en-US" dirty="0"/>
              <a:t> tin</a:t>
            </a:r>
            <a:r>
              <a:rPr lang="vi-VN" dirty="0"/>
              <a:t> được tạo bằng ngôn ngữ đánh dấu siêu văn bản (HTML).</a:t>
            </a:r>
            <a:r>
              <a:rPr lang="en-US" dirty="0"/>
              <a:t> C</a:t>
            </a:r>
            <a:r>
              <a:rPr lang="vi-VN" dirty="0"/>
              <a:t>ác </a:t>
            </a:r>
            <a:r>
              <a:rPr lang="vi-VN" b="1" dirty="0"/>
              <a:t>trang web </a:t>
            </a:r>
            <a:r>
              <a:rPr lang="vi-VN" dirty="0"/>
              <a:t>thường chứa các </a:t>
            </a:r>
            <a:r>
              <a:rPr lang="vi-VN" b="1" dirty="0"/>
              <a:t>liên kết đến các trang</a:t>
            </a:r>
            <a:r>
              <a:rPr lang="en-US" b="1" dirty="0"/>
              <a:t> web</a:t>
            </a:r>
            <a:r>
              <a:rPr lang="vi-VN" b="1" dirty="0"/>
              <a:t> </a:t>
            </a:r>
            <a:r>
              <a:rPr lang="vi-VN" dirty="0"/>
              <a:t>khác nằm trên các máy chủ web trên Internet. </a:t>
            </a:r>
            <a:endParaRPr lang="en-US" dirty="0"/>
          </a:p>
          <a:p>
            <a:pPr algn="just">
              <a:lnSpc>
                <a:spcPct val="100000"/>
              </a:lnSpc>
            </a:pPr>
            <a:r>
              <a:rPr lang="en-US" b="1" dirty="0">
                <a:solidFill>
                  <a:srgbClr val="FF0000"/>
                </a:solidFill>
              </a:rPr>
              <a:t>Website:</a:t>
            </a:r>
            <a:r>
              <a:rPr lang="en-US" dirty="0"/>
              <a:t> </a:t>
            </a:r>
            <a:r>
              <a:rPr lang="vi-VN" dirty="0"/>
              <a:t>Tập hợp các </a:t>
            </a:r>
            <a:r>
              <a:rPr lang="vi-VN" b="1" dirty="0"/>
              <a:t>trang Web </a:t>
            </a:r>
            <a:r>
              <a:rPr lang="vi-VN" dirty="0"/>
              <a:t>được liên kết</a:t>
            </a:r>
            <a:r>
              <a:rPr lang="en-US" dirty="0"/>
              <a:t> </a:t>
            </a:r>
            <a:r>
              <a:rPr lang="en-US" dirty="0" err="1"/>
              <a:t>với</a:t>
            </a:r>
            <a:r>
              <a:rPr lang="en-US" dirty="0"/>
              <a:t> </a:t>
            </a:r>
            <a:r>
              <a:rPr lang="en-US" dirty="0" err="1"/>
              <a:t>nhau</a:t>
            </a:r>
            <a:r>
              <a:rPr lang="en-US" dirty="0"/>
              <a:t>. </a:t>
            </a:r>
          </a:p>
          <a:p>
            <a:pPr algn="just">
              <a:lnSpc>
                <a:spcPct val="100000"/>
              </a:lnSpc>
            </a:pPr>
            <a:r>
              <a:rPr lang="en-US" b="1" dirty="0">
                <a:solidFill>
                  <a:srgbClr val="FF0000"/>
                </a:solidFill>
              </a:rPr>
              <a:t>Trang </a:t>
            </a:r>
            <a:r>
              <a:rPr lang="en-US" b="1" dirty="0" err="1">
                <a:solidFill>
                  <a:srgbClr val="FF0000"/>
                </a:solidFill>
              </a:rPr>
              <a:t>chủ</a:t>
            </a:r>
            <a:r>
              <a:rPr lang="en-US" b="1" dirty="0">
                <a:solidFill>
                  <a:srgbClr val="FF0000"/>
                </a:solidFill>
              </a:rPr>
              <a:t> - Home page</a:t>
            </a:r>
            <a:r>
              <a:rPr lang="en-US" dirty="0"/>
              <a:t>: </a:t>
            </a:r>
            <a:r>
              <a:rPr lang="vi-VN" dirty="0"/>
              <a:t>là trang đầu tiên khi người dùng truy cập vào </a:t>
            </a:r>
            <a:r>
              <a:rPr lang="vi-VN" b="1" dirty="0"/>
              <a:t>website</a:t>
            </a:r>
            <a:r>
              <a:rPr lang="en-US" dirty="0"/>
              <a:t>.</a:t>
            </a:r>
          </a:p>
        </p:txBody>
      </p:sp>
    </p:spTree>
    <p:extLst>
      <p:ext uri="{BB962C8B-B14F-4D97-AF65-F5344CB8AC3E}">
        <p14:creationId xmlns:p14="http://schemas.microsoft.com/office/powerpoint/2010/main" val="1185442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6ACC1-2A87-4D1F-BF2F-0A1DF518C4C7}"/>
              </a:ext>
            </a:extLst>
          </p:cNvPr>
          <p:cNvSpPr>
            <a:spLocks noGrp="1"/>
          </p:cNvSpPr>
          <p:nvPr>
            <p:ph type="title"/>
          </p:nvPr>
        </p:nvSpPr>
        <p:spPr/>
        <p:txBody>
          <a:bodyPr/>
          <a:lstStyle/>
          <a:p>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web</a:t>
            </a:r>
          </a:p>
        </p:txBody>
      </p:sp>
      <p:sp>
        <p:nvSpPr>
          <p:cNvPr id="3" name="Content Placeholder 2">
            <a:extLst>
              <a:ext uri="{FF2B5EF4-FFF2-40B4-BE49-F238E27FC236}">
                <a16:creationId xmlns:a16="http://schemas.microsoft.com/office/drawing/2014/main" id="{984B6F45-1C70-4613-BD66-F42502E0D483}"/>
              </a:ext>
            </a:extLst>
          </p:cNvPr>
          <p:cNvSpPr>
            <a:spLocks noGrp="1"/>
          </p:cNvSpPr>
          <p:nvPr>
            <p:ph idx="1"/>
          </p:nvPr>
        </p:nvSpPr>
        <p:spPr/>
        <p:txBody>
          <a:bodyPr/>
          <a:lstStyle/>
          <a:p>
            <a:r>
              <a:rPr lang="en-US" b="1" dirty="0" err="1">
                <a:solidFill>
                  <a:srgbClr val="FF0000"/>
                </a:solidFill>
              </a:rPr>
              <a:t>Sự</a:t>
            </a:r>
            <a:r>
              <a:rPr lang="en-US" b="1" dirty="0">
                <a:solidFill>
                  <a:srgbClr val="FF0000"/>
                </a:solidFill>
              </a:rPr>
              <a:t> </a:t>
            </a:r>
            <a:r>
              <a:rPr lang="en-US" b="1" dirty="0" err="1">
                <a:solidFill>
                  <a:srgbClr val="FF0000"/>
                </a:solidFill>
              </a:rPr>
              <a:t>hình</a:t>
            </a:r>
            <a:r>
              <a:rPr lang="en-US" b="1" dirty="0">
                <a:solidFill>
                  <a:srgbClr val="FF0000"/>
                </a:solidFill>
              </a:rPr>
              <a:t> </a:t>
            </a:r>
            <a:r>
              <a:rPr lang="en-US" b="1" dirty="0" err="1">
                <a:solidFill>
                  <a:srgbClr val="FF0000"/>
                </a:solidFill>
              </a:rPr>
              <a:t>thành</a:t>
            </a:r>
            <a:r>
              <a:rPr lang="en-US" b="1" dirty="0">
                <a:solidFill>
                  <a:srgbClr val="FF0000"/>
                </a:solidFill>
              </a:rPr>
              <a:t> </a:t>
            </a:r>
            <a:r>
              <a:rPr lang="en-US" b="1" dirty="0" err="1">
                <a:solidFill>
                  <a:srgbClr val="FF0000"/>
                </a:solidFill>
              </a:rPr>
              <a:t>của</a:t>
            </a:r>
            <a:r>
              <a:rPr lang="en-US" b="1" dirty="0">
                <a:solidFill>
                  <a:srgbClr val="FF0000"/>
                </a:solidFill>
              </a:rPr>
              <a:t> </a:t>
            </a:r>
            <a:r>
              <a:rPr lang="vi-VN" b="1" dirty="0">
                <a:solidFill>
                  <a:srgbClr val="FF0000"/>
                </a:solidFill>
              </a:rPr>
              <a:t>mạng máy tính</a:t>
            </a:r>
            <a:endParaRPr lang="en-US" b="1" dirty="0">
              <a:solidFill>
                <a:srgbClr val="FF0000"/>
              </a:solidFill>
            </a:endParaRPr>
          </a:p>
          <a:p>
            <a:pPr lvl="1"/>
            <a:r>
              <a:rPr lang="vi-VN" dirty="0"/>
              <a:t>Sự phát triển của máy tính được mở rộng theo nhiều cấp độ.</a:t>
            </a:r>
            <a:endParaRPr lang="en-US" dirty="0"/>
          </a:p>
          <a:p>
            <a:pPr lvl="1"/>
            <a:r>
              <a:rPr lang="vi-VN" dirty="0"/>
              <a:t>Các tổ chức kết nối với nhau để </a:t>
            </a:r>
            <a:r>
              <a:rPr lang="vi-VN" b="1" dirty="0"/>
              <a:t>chia sẻ dữ liệu</a:t>
            </a:r>
            <a:r>
              <a:rPr lang="vi-VN" dirty="0"/>
              <a:t>.</a:t>
            </a:r>
            <a:endParaRPr lang="en-US" dirty="0"/>
          </a:p>
          <a:p>
            <a:pPr lvl="1"/>
            <a:r>
              <a:rPr lang="vi-VN" dirty="0"/>
              <a:t>Điều này tạo nên sự </a:t>
            </a:r>
            <a:r>
              <a:rPr lang="vi-VN" b="1" dirty="0"/>
              <a:t>khởi đầu của mạng máy tính</a:t>
            </a:r>
            <a:r>
              <a:rPr lang="vi-VN" dirty="0"/>
              <a:t>.</a:t>
            </a:r>
            <a:endParaRPr lang="en-US" dirty="0"/>
          </a:p>
        </p:txBody>
      </p:sp>
      <p:pic>
        <p:nvPicPr>
          <p:cNvPr id="4" name="Picture 22" descr="C:\Users\Phuong Tuyen\Desktop\10-Sep-2010 11-02-06.png">
            <a:extLst>
              <a:ext uri="{FF2B5EF4-FFF2-40B4-BE49-F238E27FC236}">
                <a16:creationId xmlns:a16="http://schemas.microsoft.com/office/drawing/2014/main" id="{301D2F61-3F24-4595-8937-752E7916708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559" b="96296" l="3672" r="100000"/>
                    </a14:imgEffect>
                  </a14:imgLayer>
                </a14:imgProps>
              </a:ext>
              <a:ext uri="{28A0092B-C50C-407E-A947-70E740481C1C}">
                <a14:useLocalDpi xmlns:a14="http://schemas.microsoft.com/office/drawing/2010/main" val="0"/>
              </a:ext>
            </a:extLst>
          </a:blip>
          <a:srcRect/>
          <a:stretch>
            <a:fillRect/>
          </a:stretch>
        </p:blipFill>
        <p:spPr bwMode="auto">
          <a:xfrm>
            <a:off x="3658921" y="3027160"/>
            <a:ext cx="3457496" cy="383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3741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D422-44CA-48F9-B2BB-A3B8A01AB066}"/>
              </a:ext>
            </a:extLst>
          </p:cNvPr>
          <p:cNvSpPr>
            <a:spLocks noGrp="1"/>
          </p:cNvSpPr>
          <p:nvPr>
            <p:ph type="title"/>
          </p:nvPr>
        </p:nvSpPr>
        <p:spPr/>
        <p:txBody>
          <a:bodyPr/>
          <a:lstStyle/>
          <a:p>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web</a:t>
            </a:r>
          </a:p>
        </p:txBody>
      </p:sp>
      <p:sp>
        <p:nvSpPr>
          <p:cNvPr id="3" name="Content Placeholder 2">
            <a:extLst>
              <a:ext uri="{FF2B5EF4-FFF2-40B4-BE49-F238E27FC236}">
                <a16:creationId xmlns:a16="http://schemas.microsoft.com/office/drawing/2014/main" id="{8866DEB7-4699-42D5-8A6E-10E7E89B31C8}"/>
              </a:ext>
            </a:extLst>
          </p:cNvPr>
          <p:cNvSpPr>
            <a:spLocks noGrp="1"/>
          </p:cNvSpPr>
          <p:nvPr>
            <p:ph idx="1"/>
          </p:nvPr>
        </p:nvSpPr>
        <p:spPr/>
        <p:txBody>
          <a:bodyPr/>
          <a:lstStyle/>
          <a:p>
            <a:r>
              <a:rPr lang="en-US" altLang="en-US" b="1" dirty="0">
                <a:solidFill>
                  <a:srgbClr val="FF0000"/>
                </a:solidFill>
              </a:rPr>
              <a:t>Web </a:t>
            </a:r>
            <a:r>
              <a:rPr lang="en-US" altLang="en-US" b="1" dirty="0" err="1">
                <a:solidFill>
                  <a:srgbClr val="FF0000"/>
                </a:solidFill>
              </a:rPr>
              <a:t>và</a:t>
            </a:r>
            <a:r>
              <a:rPr lang="en-US" altLang="en-US" b="1" dirty="0">
                <a:solidFill>
                  <a:srgbClr val="FF0000"/>
                </a:solidFill>
              </a:rPr>
              <a:t> Internet</a:t>
            </a:r>
          </a:p>
          <a:p>
            <a:pPr lvl="1" algn="just"/>
            <a:r>
              <a:rPr lang="vi-VN" altLang="en-US" dirty="0"/>
              <a:t>Mạng WAN làm dấy lên nhu cầu mạnh mẽ về việc chia sẻ dữ liệu toàn cầu</a:t>
            </a:r>
            <a:endParaRPr lang="en-US" altLang="en-US" dirty="0"/>
          </a:p>
          <a:p>
            <a:pPr lvl="1" algn="just"/>
            <a:r>
              <a:rPr lang="vi-VN" altLang="en-US" dirty="0"/>
              <a:t>Kết quả này được gọi là WWW.</a:t>
            </a:r>
            <a:endParaRPr lang="en-US" altLang="en-US" dirty="0"/>
          </a:p>
          <a:p>
            <a:pPr lvl="1" algn="just"/>
            <a:r>
              <a:rPr lang="vi-VN" altLang="en-US" dirty="0"/>
              <a:t>Internet được biết đến là mạng WAN lớn nhất.</a:t>
            </a:r>
            <a:endParaRPr lang="en-US" dirty="0"/>
          </a:p>
        </p:txBody>
      </p:sp>
      <p:pic>
        <p:nvPicPr>
          <p:cNvPr id="4" name="Picture 17" descr="C:\Users\Phuong Tuyen\Desktop\H2.png">
            <a:extLst>
              <a:ext uri="{FF2B5EF4-FFF2-40B4-BE49-F238E27FC236}">
                <a16:creationId xmlns:a16="http://schemas.microsoft.com/office/drawing/2014/main" id="{28B479DA-516B-4AE4-97D7-DE4B5024B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4313" y="3505534"/>
            <a:ext cx="3279913" cy="320669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720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A782-596D-4A4B-86EE-0FBDBFD66848}"/>
              </a:ext>
            </a:extLst>
          </p:cNvPr>
          <p:cNvSpPr>
            <a:spLocks noGrp="1"/>
          </p:cNvSpPr>
          <p:nvPr>
            <p:ph type="title"/>
          </p:nvPr>
        </p:nvSpPr>
        <p:spPr/>
        <p:txBody>
          <a:bodyPr/>
          <a:lstStyle/>
          <a:p>
            <a:r>
              <a:rPr lang="en-US" dirty="0" err="1"/>
              <a:t>Phân</a:t>
            </a:r>
            <a:r>
              <a:rPr lang="en-US" dirty="0"/>
              <a:t> </a:t>
            </a:r>
            <a:r>
              <a:rPr lang="en-US" dirty="0" err="1"/>
              <a:t>loại</a:t>
            </a:r>
            <a:r>
              <a:rPr lang="en-US" dirty="0"/>
              <a:t> web</a:t>
            </a:r>
          </a:p>
        </p:txBody>
      </p:sp>
      <p:sp>
        <p:nvSpPr>
          <p:cNvPr id="3" name="Content Placeholder 2">
            <a:extLst>
              <a:ext uri="{FF2B5EF4-FFF2-40B4-BE49-F238E27FC236}">
                <a16:creationId xmlns:a16="http://schemas.microsoft.com/office/drawing/2014/main" id="{CD271B81-A387-4E64-A520-3873022F2C0B}"/>
              </a:ext>
            </a:extLst>
          </p:cNvPr>
          <p:cNvSpPr>
            <a:spLocks noGrp="1"/>
          </p:cNvSpPr>
          <p:nvPr>
            <p:ph idx="1"/>
          </p:nvPr>
        </p:nvSpPr>
        <p:spPr/>
        <p:txBody>
          <a:bodyPr/>
          <a:lstStyle/>
          <a:p>
            <a:r>
              <a:rPr lang="en-US" altLang="en-US" b="1" dirty="0">
                <a:solidFill>
                  <a:srgbClr val="FF0000"/>
                </a:solidFill>
              </a:rPr>
              <a:t>Web 1.0</a:t>
            </a:r>
          </a:p>
          <a:p>
            <a:pPr lvl="1"/>
            <a:r>
              <a:rPr lang="vi-VN" dirty="0"/>
              <a:t>Được gọi là Web truyền thống.</a:t>
            </a:r>
            <a:endParaRPr lang="en-US" dirty="0"/>
          </a:p>
          <a:p>
            <a:pPr lvl="1"/>
            <a:r>
              <a:rPr lang="vi-VN" dirty="0"/>
              <a:t>Tác giả viết / xuất bản nội dung trên Web.</a:t>
            </a:r>
            <a:endParaRPr lang="en-US" dirty="0"/>
          </a:p>
          <a:p>
            <a:pPr lvl="1"/>
            <a:r>
              <a:rPr lang="vi-VN" dirty="0"/>
              <a:t>Nội dung đã xuất bản có định dạng chỉ đọc.</a:t>
            </a:r>
            <a:endParaRPr lang="en-US" dirty="0"/>
          </a:p>
          <a:p>
            <a:pPr lvl="1"/>
            <a:r>
              <a:rPr lang="vi-VN" dirty="0"/>
              <a:t>Đặt ra vấn đề về tính tương tác của Người dùng.</a:t>
            </a:r>
            <a:endParaRPr lang="en-US" dirty="0"/>
          </a:p>
        </p:txBody>
      </p:sp>
      <p:grpSp>
        <p:nvGrpSpPr>
          <p:cNvPr id="5" name="Group 17">
            <a:extLst>
              <a:ext uri="{FF2B5EF4-FFF2-40B4-BE49-F238E27FC236}">
                <a16:creationId xmlns:a16="http://schemas.microsoft.com/office/drawing/2014/main" id="{C8FE7816-2AF7-411C-9C13-70ED2C19DF91}"/>
              </a:ext>
            </a:extLst>
          </p:cNvPr>
          <p:cNvGrpSpPr>
            <a:grpSpLocks/>
          </p:cNvGrpSpPr>
          <p:nvPr/>
        </p:nvGrpSpPr>
        <p:grpSpPr bwMode="auto">
          <a:xfrm>
            <a:off x="970434" y="3989287"/>
            <a:ext cx="5509879" cy="1596504"/>
            <a:chOff x="1058685" y="4013178"/>
            <a:chExt cx="6901218" cy="1981156"/>
          </a:xfrm>
        </p:grpSpPr>
        <p:pic>
          <p:nvPicPr>
            <p:cNvPr id="7" name="Picture 3" descr="C:\Users\Phuong Tuyen\Desktop\Desktop.jpg">
              <a:extLst>
                <a:ext uri="{FF2B5EF4-FFF2-40B4-BE49-F238E27FC236}">
                  <a16:creationId xmlns:a16="http://schemas.microsoft.com/office/drawing/2014/main" id="{D84412A0-E7B1-45A9-B5AD-FFF29B0444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46188" y="4107974"/>
              <a:ext cx="1420812" cy="1508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Users\Phuong Tuyen\Desktop\Desktop.jpg">
              <a:extLst>
                <a:ext uri="{FF2B5EF4-FFF2-40B4-BE49-F238E27FC236}">
                  <a16:creationId xmlns:a16="http://schemas.microsoft.com/office/drawing/2014/main" id="{B8F1DC3A-03D7-412D-A7D0-98684EECB5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1588" y="4107975"/>
              <a:ext cx="1420812" cy="1508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4">
              <a:extLst>
                <a:ext uri="{FF2B5EF4-FFF2-40B4-BE49-F238E27FC236}">
                  <a16:creationId xmlns:a16="http://schemas.microsoft.com/office/drawing/2014/main" id="{B99158A4-147D-4A77-B04A-841A5DCF7104}"/>
                </a:ext>
              </a:extLst>
            </p:cNvPr>
            <p:cNvSpPr txBox="1">
              <a:spLocks noChangeArrowheads="1"/>
            </p:cNvSpPr>
            <p:nvPr/>
          </p:nvSpPr>
          <p:spPr bwMode="auto">
            <a:xfrm>
              <a:off x="1058685" y="5625002"/>
              <a:ext cx="179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a:t>Web Author</a:t>
              </a:r>
            </a:p>
          </p:txBody>
        </p:sp>
        <p:cxnSp>
          <p:nvCxnSpPr>
            <p:cNvPr id="10" name="Straight Arrow Connector 7">
              <a:extLst>
                <a:ext uri="{FF2B5EF4-FFF2-40B4-BE49-F238E27FC236}">
                  <a16:creationId xmlns:a16="http://schemas.microsoft.com/office/drawing/2014/main" id="{61255863-91D1-432B-A353-9F31C7167187}"/>
                </a:ext>
              </a:extLst>
            </p:cNvPr>
            <p:cNvCxnSpPr>
              <a:cxnSpLocks noChangeShapeType="1"/>
            </p:cNvCxnSpPr>
            <p:nvPr/>
          </p:nvCxnSpPr>
          <p:spPr bwMode="auto">
            <a:xfrm flipV="1">
              <a:off x="2286000" y="4852523"/>
              <a:ext cx="1055119" cy="0"/>
            </a:xfrm>
            <a:prstGeom prst="straightConnector1">
              <a:avLst/>
            </a:prstGeom>
            <a:noFill/>
            <a:ln w="2857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657A416B-9A34-4733-AE7B-0DC12C56530C}"/>
                </a:ext>
              </a:extLst>
            </p:cNvPr>
            <p:cNvCxnSpPr>
              <a:cxnSpLocks noChangeShapeType="1"/>
            </p:cNvCxnSpPr>
            <p:nvPr/>
          </p:nvCxnSpPr>
          <p:spPr bwMode="auto">
            <a:xfrm flipH="1">
              <a:off x="5334001" y="4857455"/>
              <a:ext cx="1066799" cy="0"/>
            </a:xfrm>
            <a:prstGeom prst="straightConnector1">
              <a:avLst/>
            </a:prstGeom>
            <a:noFill/>
            <a:ln w="2857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12" name="Cloud Callout 9">
              <a:extLst>
                <a:ext uri="{FF2B5EF4-FFF2-40B4-BE49-F238E27FC236}">
                  <a16:creationId xmlns:a16="http://schemas.microsoft.com/office/drawing/2014/main" id="{4BB6B00A-9293-4B77-8E47-4C566CAB5B85}"/>
                </a:ext>
              </a:extLst>
            </p:cNvPr>
            <p:cNvSpPr>
              <a:spLocks noChangeArrowheads="1"/>
            </p:cNvSpPr>
            <p:nvPr/>
          </p:nvSpPr>
          <p:spPr bwMode="auto">
            <a:xfrm>
              <a:off x="3505200" y="4357222"/>
              <a:ext cx="1676400" cy="990600"/>
            </a:xfrm>
            <a:prstGeom prst="cloudCallout">
              <a:avLst>
                <a:gd name="adj1" fmla="val 53259"/>
                <a:gd name="adj2" fmla="val 505"/>
              </a:avLst>
            </a:prstGeom>
            <a:solidFill>
              <a:schemeClr val="bg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endParaRPr lang="en-US" altLang="en-US" sz="800" dirty="0"/>
            </a:p>
            <a:p>
              <a:pPr algn="ctr" eaLnBrk="1" hangingPunct="1"/>
              <a:r>
                <a:rPr lang="en-US" altLang="en-US" sz="2000" dirty="0"/>
                <a:t>Internet</a:t>
              </a:r>
            </a:p>
          </p:txBody>
        </p:sp>
        <p:sp>
          <p:nvSpPr>
            <p:cNvPr id="13" name="TextBox 12">
              <a:extLst>
                <a:ext uri="{FF2B5EF4-FFF2-40B4-BE49-F238E27FC236}">
                  <a16:creationId xmlns:a16="http://schemas.microsoft.com/office/drawing/2014/main" id="{BBA4A2C0-44DC-4D98-B5AC-D12215C0D3BD}"/>
                </a:ext>
              </a:extLst>
            </p:cNvPr>
            <p:cNvSpPr txBox="1">
              <a:spLocks noChangeArrowheads="1"/>
            </p:cNvSpPr>
            <p:nvPr/>
          </p:nvSpPr>
          <p:spPr bwMode="auto">
            <a:xfrm>
              <a:off x="6164085" y="5607402"/>
              <a:ext cx="179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a:t>Web Reader</a:t>
              </a:r>
            </a:p>
          </p:txBody>
        </p:sp>
        <p:sp>
          <p:nvSpPr>
            <p:cNvPr id="14" name="TextBox 13">
              <a:extLst>
                <a:ext uri="{FF2B5EF4-FFF2-40B4-BE49-F238E27FC236}">
                  <a16:creationId xmlns:a16="http://schemas.microsoft.com/office/drawing/2014/main" id="{B2E8C255-C136-44C5-8537-ECBCC416AAAD}"/>
                </a:ext>
              </a:extLst>
            </p:cNvPr>
            <p:cNvSpPr txBox="1">
              <a:spLocks noChangeArrowheads="1"/>
            </p:cNvSpPr>
            <p:nvPr/>
          </p:nvSpPr>
          <p:spPr bwMode="auto">
            <a:xfrm>
              <a:off x="4916995" y="4013178"/>
              <a:ext cx="1079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dirty="0"/>
                <a:t>read</a:t>
              </a:r>
            </a:p>
          </p:txBody>
        </p:sp>
        <p:sp>
          <p:nvSpPr>
            <p:cNvPr id="15" name="TextBox 14">
              <a:extLst>
                <a:ext uri="{FF2B5EF4-FFF2-40B4-BE49-F238E27FC236}">
                  <a16:creationId xmlns:a16="http://schemas.microsoft.com/office/drawing/2014/main" id="{54875AD4-3914-4F3F-9CFD-06A0E8F6D5F2}"/>
                </a:ext>
              </a:extLst>
            </p:cNvPr>
            <p:cNvSpPr txBox="1">
              <a:spLocks noChangeArrowheads="1"/>
            </p:cNvSpPr>
            <p:nvPr/>
          </p:nvSpPr>
          <p:spPr bwMode="auto">
            <a:xfrm>
              <a:off x="2705300" y="4075280"/>
              <a:ext cx="9746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dirty="0"/>
                <a:t>write</a:t>
              </a:r>
            </a:p>
          </p:txBody>
        </p:sp>
      </p:grpSp>
      <p:pic>
        <p:nvPicPr>
          <p:cNvPr id="6" name="Picture 15" descr="C:\Users\Phuong Tuyen\Desktop\H3.png">
            <a:extLst>
              <a:ext uri="{FF2B5EF4-FFF2-40B4-BE49-F238E27FC236}">
                <a16:creationId xmlns:a16="http://schemas.microsoft.com/office/drawing/2014/main" id="{38663B24-4D36-4EBB-B3FD-3E934213A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9800" y="3896139"/>
            <a:ext cx="4775934" cy="18288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841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8656-2863-42D4-B02C-60146933FC1A}"/>
              </a:ext>
            </a:extLst>
          </p:cNvPr>
          <p:cNvSpPr>
            <a:spLocks noGrp="1"/>
          </p:cNvSpPr>
          <p:nvPr>
            <p:ph type="title"/>
          </p:nvPr>
        </p:nvSpPr>
        <p:spPr/>
        <p:txBody>
          <a:bodyPr/>
          <a:lstStyle/>
          <a:p>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web</a:t>
            </a:r>
          </a:p>
        </p:txBody>
      </p:sp>
      <p:sp>
        <p:nvSpPr>
          <p:cNvPr id="3" name="Content Placeholder 2">
            <a:extLst>
              <a:ext uri="{FF2B5EF4-FFF2-40B4-BE49-F238E27FC236}">
                <a16:creationId xmlns:a16="http://schemas.microsoft.com/office/drawing/2014/main" id="{C38D9F7D-6842-479F-A0F6-B40DE78C59B7}"/>
              </a:ext>
            </a:extLst>
          </p:cNvPr>
          <p:cNvSpPr>
            <a:spLocks noGrp="1"/>
          </p:cNvSpPr>
          <p:nvPr>
            <p:ph idx="1"/>
          </p:nvPr>
        </p:nvSpPr>
        <p:spPr/>
        <p:txBody>
          <a:bodyPr/>
          <a:lstStyle/>
          <a:p>
            <a:r>
              <a:rPr lang="en-US" altLang="en-US" b="1" dirty="0">
                <a:solidFill>
                  <a:srgbClr val="FF0000"/>
                </a:solidFill>
              </a:rPr>
              <a:t>Web 2.0</a:t>
            </a:r>
          </a:p>
          <a:p>
            <a:pPr lvl="1"/>
            <a:r>
              <a:rPr lang="vi-VN" dirty="0"/>
              <a:t>Web 2.0 còn được gọi là web đọc-ghi.</a:t>
            </a:r>
            <a:endParaRPr lang="en-US" dirty="0"/>
          </a:p>
          <a:p>
            <a:pPr lvl="1"/>
            <a:r>
              <a:rPr lang="vi-VN" dirty="0"/>
              <a:t>Người đọc có thể tương tác với các tác giả bằng cách cung cấp nhận xét, blog, truy vấn, xếp hạng, v.v.</a:t>
            </a:r>
            <a:endParaRPr lang="en-US" dirty="0"/>
          </a:p>
          <a:p>
            <a:pPr lvl="1"/>
            <a:r>
              <a:rPr lang="vi-VN" dirty="0"/>
              <a:t>Đó là nền tảng để người đọc chia sẻ quan điểm của họ với tác giả.</a:t>
            </a:r>
            <a:endParaRPr lang="en-US" dirty="0"/>
          </a:p>
          <a:p>
            <a:pPr lvl="1"/>
            <a:r>
              <a:rPr lang="vi-VN" dirty="0"/>
              <a:t>Không gian Web bị giới hạn trong Web 1.0 và 2.0.</a:t>
            </a:r>
            <a:endParaRPr lang="en-US" dirty="0"/>
          </a:p>
        </p:txBody>
      </p:sp>
      <p:grpSp>
        <p:nvGrpSpPr>
          <p:cNvPr id="4" name="Group 17">
            <a:extLst>
              <a:ext uri="{FF2B5EF4-FFF2-40B4-BE49-F238E27FC236}">
                <a16:creationId xmlns:a16="http://schemas.microsoft.com/office/drawing/2014/main" id="{E12CA372-5683-45EB-9071-71F0F39BA179}"/>
              </a:ext>
            </a:extLst>
          </p:cNvPr>
          <p:cNvGrpSpPr>
            <a:grpSpLocks/>
          </p:cNvGrpSpPr>
          <p:nvPr/>
        </p:nvGrpSpPr>
        <p:grpSpPr bwMode="auto">
          <a:xfrm>
            <a:off x="2522435" y="4187282"/>
            <a:ext cx="6989313" cy="1796076"/>
            <a:chOff x="557591" y="4107975"/>
            <a:chExt cx="7402312" cy="1902911"/>
          </a:xfrm>
        </p:grpSpPr>
        <p:pic>
          <p:nvPicPr>
            <p:cNvPr id="5" name="Picture 3" descr="C:\Users\Phuong Tuyen\Desktop\Desktop.jpg">
              <a:extLst>
                <a:ext uri="{FF2B5EF4-FFF2-40B4-BE49-F238E27FC236}">
                  <a16:creationId xmlns:a16="http://schemas.microsoft.com/office/drawing/2014/main" id="{E14D58F9-FC3D-4C2E-AE22-8D6F6A3CD2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094" y="4124527"/>
              <a:ext cx="1420812" cy="1508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Users\Phuong Tuyen\Desktop\Desktop.jpg">
              <a:extLst>
                <a:ext uri="{FF2B5EF4-FFF2-40B4-BE49-F238E27FC236}">
                  <a16:creationId xmlns:a16="http://schemas.microsoft.com/office/drawing/2014/main" id="{61BE4289-55C4-44F4-8BF4-C68361BF82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1588" y="4107975"/>
              <a:ext cx="1420812" cy="1508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a:extLst>
                <a:ext uri="{FF2B5EF4-FFF2-40B4-BE49-F238E27FC236}">
                  <a16:creationId xmlns:a16="http://schemas.microsoft.com/office/drawing/2014/main" id="{FA34F817-D3D1-4521-8551-3173E6006856}"/>
                </a:ext>
              </a:extLst>
            </p:cNvPr>
            <p:cNvSpPr txBox="1">
              <a:spLocks noChangeArrowheads="1"/>
            </p:cNvSpPr>
            <p:nvPr/>
          </p:nvSpPr>
          <p:spPr bwMode="auto">
            <a:xfrm>
              <a:off x="557591" y="5641554"/>
              <a:ext cx="179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a:t>Web Author</a:t>
              </a:r>
            </a:p>
          </p:txBody>
        </p:sp>
        <p:cxnSp>
          <p:nvCxnSpPr>
            <p:cNvPr id="8" name="Straight Arrow Connector 7">
              <a:extLst>
                <a:ext uri="{FF2B5EF4-FFF2-40B4-BE49-F238E27FC236}">
                  <a16:creationId xmlns:a16="http://schemas.microsoft.com/office/drawing/2014/main" id="{6491429B-C55D-4495-9A7F-FC546AC15372}"/>
                </a:ext>
              </a:extLst>
            </p:cNvPr>
            <p:cNvCxnSpPr>
              <a:cxnSpLocks noChangeShapeType="1"/>
            </p:cNvCxnSpPr>
            <p:nvPr/>
          </p:nvCxnSpPr>
          <p:spPr bwMode="auto">
            <a:xfrm flipV="1">
              <a:off x="2286000" y="4852523"/>
              <a:ext cx="1055119" cy="0"/>
            </a:xfrm>
            <a:prstGeom prst="straightConnector1">
              <a:avLst/>
            </a:prstGeom>
            <a:noFill/>
            <a:ln w="2857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9" name="Straight Arrow Connector 10">
              <a:extLst>
                <a:ext uri="{FF2B5EF4-FFF2-40B4-BE49-F238E27FC236}">
                  <a16:creationId xmlns:a16="http://schemas.microsoft.com/office/drawing/2014/main" id="{1B680655-4960-4B0F-9F73-5F055A568095}"/>
                </a:ext>
              </a:extLst>
            </p:cNvPr>
            <p:cNvCxnSpPr>
              <a:cxnSpLocks noChangeShapeType="1"/>
            </p:cNvCxnSpPr>
            <p:nvPr/>
          </p:nvCxnSpPr>
          <p:spPr bwMode="auto">
            <a:xfrm flipH="1">
              <a:off x="5334001" y="4857455"/>
              <a:ext cx="1066799" cy="0"/>
            </a:xfrm>
            <a:prstGeom prst="straightConnector1">
              <a:avLst/>
            </a:prstGeom>
            <a:noFill/>
            <a:ln w="2857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10" name="Cloud Callout 9">
              <a:extLst>
                <a:ext uri="{FF2B5EF4-FFF2-40B4-BE49-F238E27FC236}">
                  <a16:creationId xmlns:a16="http://schemas.microsoft.com/office/drawing/2014/main" id="{B9EAE665-72DF-4D98-A3D8-31E60930D7BF}"/>
                </a:ext>
              </a:extLst>
            </p:cNvPr>
            <p:cNvSpPr>
              <a:spLocks noChangeArrowheads="1"/>
            </p:cNvSpPr>
            <p:nvPr/>
          </p:nvSpPr>
          <p:spPr bwMode="auto">
            <a:xfrm>
              <a:off x="3505200" y="4357222"/>
              <a:ext cx="1676400" cy="990600"/>
            </a:xfrm>
            <a:prstGeom prst="cloudCallout">
              <a:avLst>
                <a:gd name="adj1" fmla="val 53259"/>
                <a:gd name="adj2" fmla="val 505"/>
              </a:avLst>
            </a:prstGeom>
            <a:solidFill>
              <a:schemeClr val="bg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endParaRPr lang="en-US" altLang="en-US" sz="800"/>
            </a:p>
            <a:p>
              <a:pPr algn="ctr" eaLnBrk="1" hangingPunct="1"/>
              <a:r>
                <a:rPr lang="en-US" altLang="en-US" sz="2000"/>
                <a:t>Internet</a:t>
              </a:r>
            </a:p>
          </p:txBody>
        </p:sp>
        <p:sp>
          <p:nvSpPr>
            <p:cNvPr id="11" name="TextBox 13">
              <a:extLst>
                <a:ext uri="{FF2B5EF4-FFF2-40B4-BE49-F238E27FC236}">
                  <a16:creationId xmlns:a16="http://schemas.microsoft.com/office/drawing/2014/main" id="{87BF76AB-F26E-4D6A-965C-F817F73ABB75}"/>
                </a:ext>
              </a:extLst>
            </p:cNvPr>
            <p:cNvSpPr txBox="1">
              <a:spLocks noChangeArrowheads="1"/>
            </p:cNvSpPr>
            <p:nvPr/>
          </p:nvSpPr>
          <p:spPr bwMode="auto">
            <a:xfrm>
              <a:off x="6164085" y="5607402"/>
              <a:ext cx="179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a:t>Web Reader</a:t>
              </a:r>
            </a:p>
          </p:txBody>
        </p:sp>
        <p:sp>
          <p:nvSpPr>
            <p:cNvPr id="12" name="TextBox 14">
              <a:extLst>
                <a:ext uri="{FF2B5EF4-FFF2-40B4-BE49-F238E27FC236}">
                  <a16:creationId xmlns:a16="http://schemas.microsoft.com/office/drawing/2014/main" id="{193E20E3-9633-45D0-968C-D039142F1772}"/>
                </a:ext>
              </a:extLst>
            </p:cNvPr>
            <p:cNvSpPr txBox="1">
              <a:spLocks noChangeArrowheads="1"/>
            </p:cNvSpPr>
            <p:nvPr/>
          </p:nvSpPr>
          <p:spPr bwMode="auto">
            <a:xfrm>
              <a:off x="2143003" y="4325648"/>
              <a:ext cx="1362197" cy="35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700" dirty="0"/>
                <a:t>read/write</a:t>
              </a:r>
            </a:p>
          </p:txBody>
        </p:sp>
        <p:sp>
          <p:nvSpPr>
            <p:cNvPr id="13" name="TextBox 15">
              <a:extLst>
                <a:ext uri="{FF2B5EF4-FFF2-40B4-BE49-F238E27FC236}">
                  <a16:creationId xmlns:a16="http://schemas.microsoft.com/office/drawing/2014/main" id="{752BD4A3-2282-4E3D-B538-C49C9B206443}"/>
                </a:ext>
              </a:extLst>
            </p:cNvPr>
            <p:cNvSpPr txBox="1">
              <a:spLocks noChangeArrowheads="1"/>
            </p:cNvSpPr>
            <p:nvPr/>
          </p:nvSpPr>
          <p:spPr bwMode="auto">
            <a:xfrm>
              <a:off x="5014129" y="4319983"/>
              <a:ext cx="1504604" cy="374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700" dirty="0"/>
                <a:t>read/write</a:t>
              </a:r>
            </a:p>
          </p:txBody>
        </p:sp>
      </p:grpSp>
    </p:spTree>
    <p:extLst>
      <p:ext uri="{BB962C8B-B14F-4D97-AF65-F5344CB8AC3E}">
        <p14:creationId xmlns:p14="http://schemas.microsoft.com/office/powerpoint/2010/main" val="953992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8656-2863-42D4-B02C-60146933FC1A}"/>
              </a:ext>
            </a:extLst>
          </p:cNvPr>
          <p:cNvSpPr>
            <a:spLocks noGrp="1"/>
          </p:cNvSpPr>
          <p:nvPr>
            <p:ph type="title"/>
          </p:nvPr>
        </p:nvSpPr>
        <p:spPr/>
        <p:txBody>
          <a:bodyPr/>
          <a:lstStyle/>
          <a:p>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web</a:t>
            </a:r>
          </a:p>
        </p:txBody>
      </p:sp>
      <p:sp>
        <p:nvSpPr>
          <p:cNvPr id="3" name="Content Placeholder 2">
            <a:extLst>
              <a:ext uri="{FF2B5EF4-FFF2-40B4-BE49-F238E27FC236}">
                <a16:creationId xmlns:a16="http://schemas.microsoft.com/office/drawing/2014/main" id="{C38D9F7D-6842-479F-A0F6-B40DE78C59B7}"/>
              </a:ext>
            </a:extLst>
          </p:cNvPr>
          <p:cNvSpPr>
            <a:spLocks noGrp="1"/>
          </p:cNvSpPr>
          <p:nvPr>
            <p:ph idx="1"/>
          </p:nvPr>
        </p:nvSpPr>
        <p:spPr/>
        <p:txBody>
          <a:bodyPr/>
          <a:lstStyle/>
          <a:p>
            <a:r>
              <a:rPr lang="en-US" b="1" dirty="0">
                <a:solidFill>
                  <a:srgbClr val="FF0000"/>
                </a:solidFill>
              </a:rPr>
              <a:t>Web </a:t>
            </a:r>
            <a:r>
              <a:rPr lang="en-US" b="1" dirty="0" err="1">
                <a:solidFill>
                  <a:srgbClr val="FF0000"/>
                </a:solidFill>
              </a:rPr>
              <a:t>ngữ</a:t>
            </a:r>
            <a:r>
              <a:rPr lang="en-US" b="1" dirty="0">
                <a:solidFill>
                  <a:srgbClr val="FF0000"/>
                </a:solidFill>
              </a:rPr>
              <a:t> </a:t>
            </a:r>
            <a:r>
              <a:rPr lang="en-US" b="1" dirty="0" err="1">
                <a:solidFill>
                  <a:srgbClr val="FF0000"/>
                </a:solidFill>
              </a:rPr>
              <a:t>nghĩa</a:t>
            </a:r>
            <a:r>
              <a:rPr lang="en-US" b="1" dirty="0">
                <a:solidFill>
                  <a:srgbClr val="FF0000"/>
                </a:solidFill>
              </a:rPr>
              <a:t> - </a:t>
            </a:r>
            <a:r>
              <a:rPr lang="en-US" altLang="en-US" b="1" dirty="0">
                <a:solidFill>
                  <a:srgbClr val="FF0000"/>
                </a:solidFill>
              </a:rPr>
              <a:t>Semantic web</a:t>
            </a:r>
          </a:p>
          <a:p>
            <a:pPr lvl="1"/>
            <a:r>
              <a:rPr lang="vi-VN" dirty="0"/>
              <a:t>Khái niệm được kỳ vọng là tương lai của web.</a:t>
            </a:r>
            <a:endParaRPr lang="en-US" dirty="0"/>
          </a:p>
          <a:p>
            <a:pPr lvl="1"/>
            <a:r>
              <a:rPr lang="vi-VN" dirty="0"/>
              <a:t>Đó là web yêu cầu đọc-ghi.</a:t>
            </a:r>
            <a:endParaRPr lang="en-US" dirty="0"/>
          </a:p>
          <a:p>
            <a:pPr lvl="1"/>
            <a:r>
              <a:rPr lang="vi-VN" dirty="0"/>
              <a:t>Người dùng có thể gửi yêu cầu về không gian Web.</a:t>
            </a:r>
            <a:endParaRPr lang="en-US" dirty="0"/>
          </a:p>
        </p:txBody>
      </p:sp>
      <p:grpSp>
        <p:nvGrpSpPr>
          <p:cNvPr id="4" name="Group 31">
            <a:extLst>
              <a:ext uri="{FF2B5EF4-FFF2-40B4-BE49-F238E27FC236}">
                <a16:creationId xmlns:a16="http://schemas.microsoft.com/office/drawing/2014/main" id="{C54CC514-DE6D-40EB-B3AA-63A5F255FDC0}"/>
              </a:ext>
            </a:extLst>
          </p:cNvPr>
          <p:cNvGrpSpPr>
            <a:grpSpLocks/>
          </p:cNvGrpSpPr>
          <p:nvPr/>
        </p:nvGrpSpPr>
        <p:grpSpPr bwMode="auto">
          <a:xfrm>
            <a:off x="1978302" y="3588026"/>
            <a:ext cx="8233878" cy="2190613"/>
            <a:chOff x="1128548" y="3967578"/>
            <a:chExt cx="7372777" cy="2445250"/>
          </a:xfrm>
        </p:grpSpPr>
        <p:pic>
          <p:nvPicPr>
            <p:cNvPr id="5" name="Picture 3" descr="C:\Users\Phuong Tuyen\Desktop\Desktop.jpg">
              <a:extLst>
                <a:ext uri="{FF2B5EF4-FFF2-40B4-BE49-F238E27FC236}">
                  <a16:creationId xmlns:a16="http://schemas.microsoft.com/office/drawing/2014/main" id="{4806588F-B2C4-4462-966F-7A77899A63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693" y="4565203"/>
              <a:ext cx="1420739" cy="150849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Users\Phuong Tuyen\Desktop\Desktop.jpg">
              <a:extLst>
                <a:ext uri="{FF2B5EF4-FFF2-40B4-BE49-F238E27FC236}">
                  <a16:creationId xmlns:a16="http://schemas.microsoft.com/office/drawing/2014/main" id="{4F0D9719-0C2A-4F52-99D0-6275A63C0B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4535077"/>
              <a:ext cx="1420739" cy="150849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a:extLst>
                <a:ext uri="{FF2B5EF4-FFF2-40B4-BE49-F238E27FC236}">
                  <a16:creationId xmlns:a16="http://schemas.microsoft.com/office/drawing/2014/main" id="{C4B26EDC-E598-45B7-AC03-C4513E6F8E9A}"/>
                </a:ext>
              </a:extLst>
            </p:cNvPr>
            <p:cNvSpPr txBox="1">
              <a:spLocks noChangeArrowheads="1"/>
            </p:cNvSpPr>
            <p:nvPr/>
          </p:nvSpPr>
          <p:spPr bwMode="auto">
            <a:xfrm>
              <a:off x="1128548" y="6031548"/>
              <a:ext cx="1795725" cy="36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a:t>Web Author</a:t>
              </a:r>
            </a:p>
          </p:txBody>
        </p:sp>
        <p:cxnSp>
          <p:nvCxnSpPr>
            <p:cNvPr id="8" name="Straight Arrow Connector 7">
              <a:extLst>
                <a:ext uri="{FF2B5EF4-FFF2-40B4-BE49-F238E27FC236}">
                  <a16:creationId xmlns:a16="http://schemas.microsoft.com/office/drawing/2014/main" id="{80C4EDF3-D87B-4B8F-B2BD-4D4959A280D3}"/>
                </a:ext>
              </a:extLst>
            </p:cNvPr>
            <p:cNvCxnSpPr>
              <a:cxnSpLocks noChangeShapeType="1"/>
            </p:cNvCxnSpPr>
            <p:nvPr/>
          </p:nvCxnSpPr>
          <p:spPr bwMode="auto">
            <a:xfrm>
              <a:off x="2426310" y="5387806"/>
              <a:ext cx="401122" cy="1"/>
            </a:xfrm>
            <a:prstGeom prst="straightConnector1">
              <a:avLst/>
            </a:prstGeom>
            <a:noFill/>
            <a:ln w="2857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9" name="Straight Arrow Connector 10">
              <a:extLst>
                <a:ext uri="{FF2B5EF4-FFF2-40B4-BE49-F238E27FC236}">
                  <a16:creationId xmlns:a16="http://schemas.microsoft.com/office/drawing/2014/main" id="{C8FCF58D-99AF-4CB5-9A86-4A62EE0148C8}"/>
                </a:ext>
              </a:extLst>
            </p:cNvPr>
            <p:cNvCxnSpPr>
              <a:cxnSpLocks noChangeShapeType="1"/>
            </p:cNvCxnSpPr>
            <p:nvPr/>
          </p:nvCxnSpPr>
          <p:spPr bwMode="auto">
            <a:xfrm flipH="1">
              <a:off x="6705600" y="5393495"/>
              <a:ext cx="457200" cy="0"/>
            </a:xfrm>
            <a:prstGeom prst="straightConnector1">
              <a:avLst/>
            </a:prstGeom>
            <a:noFill/>
            <a:ln w="2857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10" name="Cloud Callout 9">
              <a:extLst>
                <a:ext uri="{FF2B5EF4-FFF2-40B4-BE49-F238E27FC236}">
                  <a16:creationId xmlns:a16="http://schemas.microsoft.com/office/drawing/2014/main" id="{AF59BC38-22B6-467F-8EB8-AA9F2859D469}"/>
                </a:ext>
              </a:extLst>
            </p:cNvPr>
            <p:cNvSpPr>
              <a:spLocks noChangeArrowheads="1"/>
            </p:cNvSpPr>
            <p:nvPr/>
          </p:nvSpPr>
          <p:spPr bwMode="auto">
            <a:xfrm>
              <a:off x="4183097" y="3967578"/>
              <a:ext cx="1303303" cy="736227"/>
            </a:xfrm>
            <a:prstGeom prst="cloudCallout">
              <a:avLst>
                <a:gd name="adj1" fmla="val 53259"/>
                <a:gd name="adj2" fmla="val 505"/>
              </a:avLst>
            </a:prstGeom>
            <a:solidFill>
              <a:schemeClr val="bg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2000"/>
                <a:t>Web</a:t>
              </a:r>
              <a:endParaRPr lang="en-US" altLang="en-US" sz="800"/>
            </a:p>
          </p:txBody>
        </p:sp>
        <p:sp>
          <p:nvSpPr>
            <p:cNvPr id="11" name="TextBox 13">
              <a:extLst>
                <a:ext uri="{FF2B5EF4-FFF2-40B4-BE49-F238E27FC236}">
                  <a16:creationId xmlns:a16="http://schemas.microsoft.com/office/drawing/2014/main" id="{585DF301-1011-4912-9E67-DE84C8B67B20}"/>
                </a:ext>
              </a:extLst>
            </p:cNvPr>
            <p:cNvSpPr txBox="1">
              <a:spLocks noChangeArrowheads="1"/>
            </p:cNvSpPr>
            <p:nvPr/>
          </p:nvSpPr>
          <p:spPr bwMode="auto">
            <a:xfrm>
              <a:off x="6705600" y="6043576"/>
              <a:ext cx="1795725" cy="36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a:t>Web Reader</a:t>
              </a:r>
            </a:p>
          </p:txBody>
        </p:sp>
        <p:sp>
          <p:nvSpPr>
            <p:cNvPr id="12" name="TextBox 14">
              <a:extLst>
                <a:ext uri="{FF2B5EF4-FFF2-40B4-BE49-F238E27FC236}">
                  <a16:creationId xmlns:a16="http://schemas.microsoft.com/office/drawing/2014/main" id="{CEE7F31F-E838-4029-B818-C4E1E9C9E0DE}"/>
                </a:ext>
              </a:extLst>
            </p:cNvPr>
            <p:cNvSpPr txBox="1">
              <a:spLocks noChangeArrowheads="1"/>
            </p:cNvSpPr>
            <p:nvPr/>
          </p:nvSpPr>
          <p:spPr bwMode="auto">
            <a:xfrm>
              <a:off x="1460485" y="4200251"/>
              <a:ext cx="219233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700"/>
                <a:t>read/write/request</a:t>
              </a:r>
            </a:p>
          </p:txBody>
        </p:sp>
        <p:sp>
          <p:nvSpPr>
            <p:cNvPr id="13" name="TextBox 14">
              <a:extLst>
                <a:ext uri="{FF2B5EF4-FFF2-40B4-BE49-F238E27FC236}">
                  <a16:creationId xmlns:a16="http://schemas.microsoft.com/office/drawing/2014/main" id="{76AEB10A-ECB8-4E67-B2AF-7C4C0BE6DB00}"/>
                </a:ext>
              </a:extLst>
            </p:cNvPr>
            <p:cNvSpPr txBox="1">
              <a:spLocks noChangeArrowheads="1"/>
            </p:cNvSpPr>
            <p:nvPr/>
          </p:nvSpPr>
          <p:spPr bwMode="auto">
            <a:xfrm>
              <a:off x="2883258" y="5085718"/>
              <a:ext cx="1536341" cy="68710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700" dirty="0"/>
                <a:t>Semantic</a:t>
              </a:r>
            </a:p>
            <a:p>
              <a:pPr algn="ctr" eaLnBrk="1" hangingPunct="1"/>
              <a:r>
                <a:rPr lang="en-US" altLang="en-US" sz="1700" dirty="0"/>
                <a:t>Web space</a:t>
              </a:r>
            </a:p>
          </p:txBody>
        </p:sp>
        <p:sp>
          <p:nvSpPr>
            <p:cNvPr id="14" name="TextBox 14">
              <a:extLst>
                <a:ext uri="{FF2B5EF4-FFF2-40B4-BE49-F238E27FC236}">
                  <a16:creationId xmlns:a16="http://schemas.microsoft.com/office/drawing/2014/main" id="{727B7A99-41C7-4E4F-AD75-B77C1E53EBE8}"/>
                </a:ext>
              </a:extLst>
            </p:cNvPr>
            <p:cNvSpPr txBox="1">
              <a:spLocks noChangeArrowheads="1"/>
            </p:cNvSpPr>
            <p:nvPr/>
          </p:nvSpPr>
          <p:spPr bwMode="auto">
            <a:xfrm>
              <a:off x="5181600" y="5085719"/>
              <a:ext cx="1460141" cy="6155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700"/>
                <a:t>Semantic</a:t>
              </a:r>
            </a:p>
            <a:p>
              <a:pPr algn="ctr" eaLnBrk="1" hangingPunct="1"/>
              <a:r>
                <a:rPr lang="en-US" altLang="en-US" sz="1700"/>
                <a:t>Web space</a:t>
              </a:r>
            </a:p>
          </p:txBody>
        </p:sp>
        <p:sp>
          <p:nvSpPr>
            <p:cNvPr id="15" name="TextBox 14">
              <a:extLst>
                <a:ext uri="{FF2B5EF4-FFF2-40B4-BE49-F238E27FC236}">
                  <a16:creationId xmlns:a16="http://schemas.microsoft.com/office/drawing/2014/main" id="{924EE9E6-5EEE-48BA-8957-3D59C4F76377}"/>
                </a:ext>
              </a:extLst>
            </p:cNvPr>
            <p:cNvSpPr txBox="1">
              <a:spLocks noChangeArrowheads="1"/>
            </p:cNvSpPr>
            <p:nvPr/>
          </p:nvSpPr>
          <p:spPr bwMode="auto">
            <a:xfrm>
              <a:off x="6180861" y="4204186"/>
              <a:ext cx="219233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700"/>
                <a:t>read/write/request</a:t>
              </a:r>
            </a:p>
          </p:txBody>
        </p:sp>
        <p:cxnSp>
          <p:nvCxnSpPr>
            <p:cNvPr id="16" name="Straight Arrow Connector 21">
              <a:extLst>
                <a:ext uri="{FF2B5EF4-FFF2-40B4-BE49-F238E27FC236}">
                  <a16:creationId xmlns:a16="http://schemas.microsoft.com/office/drawing/2014/main" id="{1E6993EA-BFD9-415E-9E31-2BC896C7B16C}"/>
                </a:ext>
              </a:extLst>
            </p:cNvPr>
            <p:cNvCxnSpPr>
              <a:cxnSpLocks noChangeShapeType="1"/>
            </p:cNvCxnSpPr>
            <p:nvPr/>
          </p:nvCxnSpPr>
          <p:spPr bwMode="auto">
            <a:xfrm flipV="1">
              <a:off x="3810000" y="4535077"/>
              <a:ext cx="609600" cy="570324"/>
            </a:xfrm>
            <a:prstGeom prst="straightConnector1">
              <a:avLst/>
            </a:prstGeom>
            <a:noFill/>
            <a:ln w="1905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17" name="Straight Arrow Connector 23">
              <a:extLst>
                <a:ext uri="{FF2B5EF4-FFF2-40B4-BE49-F238E27FC236}">
                  <a16:creationId xmlns:a16="http://schemas.microsoft.com/office/drawing/2014/main" id="{46612C0D-14DE-4FA2-ADDD-7F168B0B2CCD}"/>
                </a:ext>
              </a:extLst>
            </p:cNvPr>
            <p:cNvCxnSpPr>
              <a:cxnSpLocks noChangeShapeType="1"/>
              <a:endCxn id="14" idx="0"/>
            </p:cNvCxnSpPr>
            <p:nvPr/>
          </p:nvCxnSpPr>
          <p:spPr bwMode="auto">
            <a:xfrm>
              <a:off x="5334000" y="4535077"/>
              <a:ext cx="577671" cy="550642"/>
            </a:xfrm>
            <a:prstGeom prst="straightConnector1">
              <a:avLst/>
            </a:prstGeom>
            <a:noFill/>
            <a:ln w="1905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164418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8656-2863-42D4-B02C-60146933FC1A}"/>
              </a:ext>
            </a:extLst>
          </p:cNvPr>
          <p:cNvSpPr>
            <a:spLocks noGrp="1"/>
          </p:cNvSpPr>
          <p:nvPr>
            <p:ph type="title"/>
          </p:nvPr>
        </p:nvSpPr>
        <p:spPr/>
        <p:txBody>
          <a:bodyPr/>
          <a:lstStyle/>
          <a:p>
            <a:r>
              <a:rPr lang="en-US" dirty="0" err="1"/>
              <a:t>Truy</a:t>
            </a:r>
            <a:r>
              <a:rPr lang="en-US" dirty="0"/>
              <a:t> </a:t>
            </a:r>
            <a:r>
              <a:rPr lang="en-US" dirty="0" err="1"/>
              <a:t>cập</a:t>
            </a:r>
            <a:r>
              <a:rPr lang="en-US" dirty="0"/>
              <a:t> web</a:t>
            </a:r>
          </a:p>
        </p:txBody>
      </p:sp>
      <p:sp>
        <p:nvSpPr>
          <p:cNvPr id="3" name="Content Placeholder 2">
            <a:extLst>
              <a:ext uri="{FF2B5EF4-FFF2-40B4-BE49-F238E27FC236}">
                <a16:creationId xmlns:a16="http://schemas.microsoft.com/office/drawing/2014/main" id="{C38D9F7D-6842-479F-A0F6-B40DE78C59B7}"/>
              </a:ext>
            </a:extLst>
          </p:cNvPr>
          <p:cNvSpPr>
            <a:spLocks noGrp="1"/>
          </p:cNvSpPr>
          <p:nvPr>
            <p:ph idx="1"/>
          </p:nvPr>
        </p:nvSpPr>
        <p:spPr>
          <a:xfrm>
            <a:off x="1104900" y="1388006"/>
            <a:ext cx="9982200" cy="5393794"/>
          </a:xfrm>
        </p:spPr>
        <p:txBody>
          <a:bodyPr>
            <a:normAutofit/>
          </a:bodyPr>
          <a:lstStyle/>
          <a:p>
            <a:pPr algn="just">
              <a:lnSpc>
                <a:spcPct val="100000"/>
              </a:lnSpc>
            </a:pPr>
            <a:r>
              <a:rPr lang="en-US" b="1" dirty="0" err="1">
                <a:solidFill>
                  <a:srgbClr val="FF0000"/>
                </a:solidFill>
              </a:rPr>
              <a:t>Trình</a:t>
            </a:r>
            <a:r>
              <a:rPr lang="en-US" b="1" dirty="0">
                <a:solidFill>
                  <a:srgbClr val="FF0000"/>
                </a:solidFill>
              </a:rPr>
              <a:t> </a:t>
            </a:r>
            <a:r>
              <a:rPr lang="en-US" b="1" dirty="0" err="1">
                <a:solidFill>
                  <a:srgbClr val="FF0000"/>
                </a:solidFill>
              </a:rPr>
              <a:t>duyệt</a:t>
            </a:r>
            <a:r>
              <a:rPr lang="en-US" b="1" dirty="0">
                <a:solidFill>
                  <a:srgbClr val="FF0000"/>
                </a:solidFill>
              </a:rPr>
              <a:t> web: </a:t>
            </a:r>
            <a:r>
              <a:rPr lang="vi-VN" dirty="0"/>
              <a:t>khi có kết nối Internet, cần một phần mềm đặc biệt gọi là </a:t>
            </a:r>
            <a:r>
              <a:rPr lang="vi-VN" b="1" dirty="0"/>
              <a:t>trình duyệt </a:t>
            </a:r>
            <a:r>
              <a:rPr lang="en-US" b="1" dirty="0"/>
              <a:t>(browser) </a:t>
            </a:r>
            <a:r>
              <a:rPr lang="vi-VN" dirty="0"/>
              <a:t>để truy cập Web.</a:t>
            </a:r>
            <a:endParaRPr lang="en-US" dirty="0"/>
          </a:p>
          <a:p>
            <a:pPr algn="just">
              <a:lnSpc>
                <a:spcPct val="100000"/>
              </a:lnSpc>
            </a:pPr>
            <a:r>
              <a:rPr lang="vi-VN" b="1" dirty="0"/>
              <a:t>Trình duyệt web </a:t>
            </a:r>
            <a:r>
              <a:rPr lang="vi-VN" dirty="0"/>
              <a:t>được sử dụng để kết nối </a:t>
            </a:r>
            <a:r>
              <a:rPr lang="en-US" dirty="0" err="1"/>
              <a:t>máy</a:t>
            </a:r>
            <a:r>
              <a:rPr lang="en-US" dirty="0"/>
              <a:t> </a:t>
            </a:r>
            <a:r>
              <a:rPr lang="en-US" dirty="0" err="1"/>
              <a:t>tính</a:t>
            </a:r>
            <a:r>
              <a:rPr lang="en-US" dirty="0"/>
              <a:t> </a:t>
            </a:r>
            <a:r>
              <a:rPr lang="en-US" dirty="0" err="1"/>
              <a:t>của</a:t>
            </a:r>
            <a:r>
              <a:rPr lang="en-US" dirty="0"/>
              <a:t> </a:t>
            </a:r>
            <a:r>
              <a:rPr lang="en-US" dirty="0" err="1"/>
              <a:t>bạn</a:t>
            </a:r>
            <a:r>
              <a:rPr lang="en-US" dirty="0"/>
              <a:t> </a:t>
            </a:r>
            <a:r>
              <a:rPr lang="vi-VN" dirty="0"/>
              <a:t>với máy tính từ xa, mở và truyền </a:t>
            </a:r>
            <a:r>
              <a:rPr lang="en-US" dirty="0" err="1"/>
              <a:t>tập</a:t>
            </a:r>
            <a:r>
              <a:rPr lang="en-US" dirty="0"/>
              <a:t> tin</a:t>
            </a:r>
            <a:r>
              <a:rPr lang="vi-VN" dirty="0"/>
              <a:t>, hiển thị văn bản và hình ảnh.</a:t>
            </a:r>
            <a:endParaRPr lang="en-US" dirty="0"/>
          </a:p>
          <a:p>
            <a:pPr algn="just">
              <a:lnSpc>
                <a:spcPct val="100000"/>
              </a:lnSpc>
            </a:pPr>
            <a:r>
              <a:rPr lang="en-US" b="1" dirty="0" err="1"/>
              <a:t>Các</a:t>
            </a:r>
            <a:r>
              <a:rPr lang="en-US" b="1" dirty="0"/>
              <a:t> t</a:t>
            </a:r>
            <a:r>
              <a:rPr lang="vi-VN" b="1" dirty="0"/>
              <a:t>rình duyệt web </a:t>
            </a:r>
            <a:r>
              <a:rPr lang="en-US" b="1" dirty="0" err="1"/>
              <a:t>thông</a:t>
            </a:r>
            <a:r>
              <a:rPr lang="en-US" b="1" dirty="0"/>
              <a:t> </a:t>
            </a:r>
            <a:r>
              <a:rPr lang="en-US" b="1" dirty="0" err="1"/>
              <a:t>dụng</a:t>
            </a:r>
            <a:r>
              <a:rPr lang="en-US" dirty="0"/>
              <a:t>: </a:t>
            </a:r>
          </a:p>
          <a:p>
            <a:pPr lvl="1" algn="just">
              <a:lnSpc>
                <a:spcPct val="100000"/>
              </a:lnSpc>
            </a:pPr>
            <a:r>
              <a:rPr lang="vi-VN" dirty="0"/>
              <a:t>Netscape Navigator </a:t>
            </a:r>
            <a:endParaRPr lang="en-US" dirty="0"/>
          </a:p>
          <a:p>
            <a:pPr lvl="1" algn="just">
              <a:lnSpc>
                <a:spcPct val="100000"/>
              </a:lnSpc>
            </a:pPr>
            <a:r>
              <a:rPr lang="vi-VN" dirty="0"/>
              <a:t>Internet Explorer</a:t>
            </a:r>
            <a:endParaRPr lang="en-US" dirty="0"/>
          </a:p>
          <a:p>
            <a:pPr lvl="1" algn="just">
              <a:lnSpc>
                <a:spcPct val="100000"/>
              </a:lnSpc>
            </a:pPr>
            <a:r>
              <a:rPr lang="vi-VN" dirty="0"/>
              <a:t>Chrome</a:t>
            </a:r>
            <a:endParaRPr lang="en-US" dirty="0"/>
          </a:p>
          <a:p>
            <a:pPr lvl="1" algn="just">
              <a:lnSpc>
                <a:spcPct val="100000"/>
              </a:lnSpc>
            </a:pPr>
            <a:r>
              <a:rPr lang="vi-VN" dirty="0"/>
              <a:t>Safari</a:t>
            </a:r>
            <a:endParaRPr lang="en-US" dirty="0"/>
          </a:p>
          <a:p>
            <a:pPr lvl="1" algn="just">
              <a:lnSpc>
                <a:spcPct val="100000"/>
              </a:lnSpc>
            </a:pPr>
            <a:r>
              <a:rPr lang="vi-VN" dirty="0"/>
              <a:t>FireFox…</a:t>
            </a:r>
            <a:r>
              <a:rPr lang="en-US" dirty="0"/>
              <a:t> </a:t>
            </a:r>
          </a:p>
        </p:txBody>
      </p:sp>
    </p:spTree>
    <p:extLst>
      <p:ext uri="{BB962C8B-B14F-4D97-AF65-F5344CB8AC3E}">
        <p14:creationId xmlns:p14="http://schemas.microsoft.com/office/powerpoint/2010/main" val="3798291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7C421-AA8D-4D7D-9707-333D29356328}"/>
              </a:ext>
            </a:extLst>
          </p:cNvPr>
          <p:cNvSpPr>
            <a:spLocks noGrp="1"/>
          </p:cNvSpPr>
          <p:nvPr>
            <p:ph type="title"/>
          </p:nvPr>
        </p:nvSpPr>
        <p:spPr/>
        <p:txBody>
          <a:bodyPr/>
          <a:lstStyle/>
          <a:p>
            <a:r>
              <a:rPr lang="en-US" dirty="0"/>
              <a:t>Web </a:t>
            </a:r>
            <a:r>
              <a:rPr lang="en-US" dirty="0" err="1"/>
              <a:t>tĩnh</a:t>
            </a:r>
            <a:r>
              <a:rPr lang="en-US" dirty="0"/>
              <a:t> </a:t>
            </a:r>
            <a:r>
              <a:rPr lang="en-US" dirty="0" err="1"/>
              <a:t>và</a:t>
            </a:r>
            <a:r>
              <a:rPr lang="en-US" dirty="0"/>
              <a:t> web </a:t>
            </a:r>
            <a:r>
              <a:rPr lang="en-US" dirty="0" err="1"/>
              <a:t>động</a:t>
            </a:r>
            <a:endParaRPr lang="en-US" dirty="0"/>
          </a:p>
        </p:txBody>
      </p:sp>
      <p:sp>
        <p:nvSpPr>
          <p:cNvPr id="3" name="Content Placeholder 2">
            <a:extLst>
              <a:ext uri="{FF2B5EF4-FFF2-40B4-BE49-F238E27FC236}">
                <a16:creationId xmlns:a16="http://schemas.microsoft.com/office/drawing/2014/main" id="{00218B37-9A50-42B7-B641-81098F42E836}"/>
              </a:ext>
            </a:extLst>
          </p:cNvPr>
          <p:cNvSpPr>
            <a:spLocks noGrp="1"/>
          </p:cNvSpPr>
          <p:nvPr>
            <p:ph idx="1"/>
          </p:nvPr>
        </p:nvSpPr>
        <p:spPr>
          <a:xfrm>
            <a:off x="1104900" y="1388006"/>
            <a:ext cx="9982200" cy="5089796"/>
          </a:xfrm>
        </p:spPr>
        <p:txBody>
          <a:bodyPr>
            <a:normAutofit/>
          </a:bodyPr>
          <a:lstStyle/>
          <a:p>
            <a:pPr algn="just"/>
            <a:r>
              <a:rPr lang="vi-VN" b="1" dirty="0">
                <a:solidFill>
                  <a:srgbClr val="FF0000"/>
                </a:solidFill>
              </a:rPr>
              <a:t>Trang web tĩnh</a:t>
            </a:r>
            <a:endParaRPr lang="en-US" b="1" dirty="0">
              <a:solidFill>
                <a:srgbClr val="FF0000"/>
              </a:solidFill>
            </a:endParaRPr>
          </a:p>
          <a:p>
            <a:pPr lvl="1" algn="just"/>
            <a:r>
              <a:rPr lang="vi-VN" dirty="0"/>
              <a:t>Không cho phép bất kỳ tương tác nào của người dùng.</a:t>
            </a:r>
            <a:endParaRPr lang="en-US" dirty="0"/>
          </a:p>
          <a:p>
            <a:pPr lvl="1" algn="just"/>
            <a:r>
              <a:rPr lang="en-US" dirty="0"/>
              <a:t>H</a:t>
            </a:r>
            <a:r>
              <a:rPr lang="vi-VN" dirty="0"/>
              <a:t>ạn chế</a:t>
            </a:r>
            <a:r>
              <a:rPr lang="en-US" dirty="0"/>
              <a:t>: k</a:t>
            </a:r>
            <a:r>
              <a:rPr lang="vi-VN" dirty="0"/>
              <a:t>hó bảo trì, </a:t>
            </a:r>
            <a:r>
              <a:rPr lang="en-US" dirty="0"/>
              <a:t>c</a:t>
            </a:r>
            <a:r>
              <a:rPr lang="vi-VN" dirty="0"/>
              <a:t>ập nhật thủ công, </a:t>
            </a:r>
            <a:r>
              <a:rPr lang="en-US" dirty="0"/>
              <a:t>k</a:t>
            </a:r>
            <a:r>
              <a:rPr lang="vi-VN" dirty="0"/>
              <a:t>hông nhất quán.</a:t>
            </a:r>
            <a:endParaRPr lang="en-US" dirty="0"/>
          </a:p>
          <a:p>
            <a:pPr algn="just"/>
            <a:r>
              <a:rPr lang="vi-VN" b="1" dirty="0">
                <a:solidFill>
                  <a:srgbClr val="FF0000"/>
                </a:solidFill>
              </a:rPr>
              <a:t>Trang web động</a:t>
            </a:r>
            <a:endParaRPr lang="en-US" b="1" dirty="0">
              <a:solidFill>
                <a:srgbClr val="FF0000"/>
              </a:solidFill>
            </a:endParaRPr>
          </a:p>
          <a:p>
            <a:pPr lvl="1" algn="just"/>
            <a:r>
              <a:rPr lang="en-US" dirty="0" err="1"/>
              <a:t>Tương</a:t>
            </a:r>
            <a:r>
              <a:rPr lang="en-US" dirty="0"/>
              <a:t> </a:t>
            </a:r>
            <a:r>
              <a:rPr lang="en-US" dirty="0" err="1"/>
              <a:t>tác</a:t>
            </a:r>
            <a:r>
              <a:rPr lang="en-US" dirty="0"/>
              <a:t> </a:t>
            </a:r>
            <a:r>
              <a:rPr lang="en-US" dirty="0" err="1"/>
              <a:t>với</a:t>
            </a:r>
            <a:r>
              <a:rPr lang="en-US" dirty="0"/>
              <a:t> </a:t>
            </a:r>
            <a:r>
              <a:rPr lang="en-US" dirty="0" err="1"/>
              <a:t>người</a:t>
            </a:r>
            <a:r>
              <a:rPr lang="en-US" dirty="0"/>
              <a:t> </a:t>
            </a:r>
            <a:r>
              <a:rPr lang="en-US" dirty="0" err="1"/>
              <a:t>dùng</a:t>
            </a:r>
            <a:r>
              <a:rPr lang="en-US" dirty="0"/>
              <a:t>, b</a:t>
            </a:r>
            <a:r>
              <a:rPr lang="vi-VN" dirty="0"/>
              <a:t>ao gồm các trang web tĩnh </a:t>
            </a:r>
            <a:r>
              <a:rPr lang="en-US" dirty="0" err="1"/>
              <a:t>và</a:t>
            </a:r>
            <a:r>
              <a:rPr lang="vi-VN" dirty="0"/>
              <a:t> động.</a:t>
            </a:r>
            <a:endParaRPr lang="en-US" dirty="0"/>
          </a:p>
          <a:p>
            <a:pPr lvl="1" algn="just"/>
            <a:r>
              <a:rPr lang="vi-VN" dirty="0"/>
              <a:t>Cho phép tùy chỉnh nội dung và hình thức trong trình duyệt.</a:t>
            </a:r>
            <a:endParaRPr lang="en-US" dirty="0"/>
          </a:p>
          <a:p>
            <a:pPr lvl="1" algn="just"/>
            <a:r>
              <a:rPr lang="vi-VN" dirty="0"/>
              <a:t>Tạo nội dung "</a:t>
            </a:r>
            <a:r>
              <a:rPr lang="en-US" dirty="0"/>
              <a:t>on-demand</a:t>
            </a:r>
            <a:r>
              <a:rPr lang="vi-VN" dirty="0"/>
              <a:t>".</a:t>
            </a:r>
            <a:endParaRPr lang="en-US" dirty="0"/>
          </a:p>
          <a:p>
            <a:pPr lvl="1" algn="just"/>
            <a:r>
              <a:rPr lang="vi-VN" dirty="0"/>
              <a:t>Chấp nhận đầu vào của người dùng thông qua trình duyệt web.</a:t>
            </a:r>
            <a:endParaRPr lang="en-US" dirty="0"/>
          </a:p>
          <a:p>
            <a:pPr lvl="1" algn="just"/>
            <a:r>
              <a:rPr lang="vi-VN" dirty="0"/>
              <a:t>Các công nghệ phục vụ được tích hợp để làm cho các trang web linh hoạt và năng động hơn.</a:t>
            </a:r>
            <a:endParaRPr lang="en-US" dirty="0"/>
          </a:p>
          <a:p>
            <a:pPr lvl="1" algn="just"/>
            <a:r>
              <a:rPr lang="vi-VN" dirty="0"/>
              <a:t>Nhiều thiết bị như PDA</a:t>
            </a:r>
            <a:r>
              <a:rPr lang="en-US" dirty="0"/>
              <a:t> </a:t>
            </a:r>
            <a:r>
              <a:rPr lang="en-US" b="0" i="0" dirty="0">
                <a:solidFill>
                  <a:srgbClr val="202124"/>
                </a:solidFill>
                <a:effectLst/>
                <a:latin typeface="arial" panose="020B0604020202020204" pitchFamily="34" charset="0"/>
              </a:rPr>
              <a:t>(Personal Digital Assistant)</a:t>
            </a:r>
            <a:r>
              <a:rPr lang="vi-VN" dirty="0"/>
              <a:t>, </a:t>
            </a:r>
            <a:r>
              <a:rPr lang="en-US" dirty="0"/>
              <a:t>đ</a:t>
            </a:r>
            <a:r>
              <a:rPr lang="vi-VN" dirty="0"/>
              <a:t>iện thoại di động, v.v. </a:t>
            </a:r>
            <a:endParaRPr lang="en-US" dirty="0"/>
          </a:p>
        </p:txBody>
      </p:sp>
    </p:spTree>
    <p:extLst>
      <p:ext uri="{BB962C8B-B14F-4D97-AF65-F5344CB8AC3E}">
        <p14:creationId xmlns:p14="http://schemas.microsoft.com/office/powerpoint/2010/main" val="1698945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2C7A3-0464-4362-932A-AAC326F35EF0}"/>
              </a:ext>
            </a:extLst>
          </p:cNvPr>
          <p:cNvSpPr>
            <a:spLocks noGrp="1"/>
          </p:cNvSpPr>
          <p:nvPr>
            <p:ph type="title"/>
          </p:nvPr>
        </p:nvSpPr>
        <p:spPr/>
        <p:txBody>
          <a:bodyPr>
            <a:normAutofit/>
          </a:bodyPr>
          <a:lstStyle/>
          <a:p>
            <a:r>
              <a:rPr lang="en-US" sz="4000" dirty="0"/>
              <a:t>IP Address (</a:t>
            </a:r>
            <a:r>
              <a:rPr lang="en-US" sz="4000" dirty="0">
                <a:solidFill>
                  <a:srgbClr val="C00000"/>
                </a:solidFill>
              </a:rPr>
              <a:t>Internet Protocol </a:t>
            </a:r>
            <a:r>
              <a:rPr lang="en-US" sz="4000" dirty="0"/>
              <a:t>address)</a:t>
            </a:r>
          </a:p>
        </p:txBody>
      </p:sp>
      <p:sp>
        <p:nvSpPr>
          <p:cNvPr id="3" name="Content Placeholder 2">
            <a:extLst>
              <a:ext uri="{FF2B5EF4-FFF2-40B4-BE49-F238E27FC236}">
                <a16:creationId xmlns:a16="http://schemas.microsoft.com/office/drawing/2014/main" id="{F2F1B31C-60E6-460B-8181-27FFB42D99A7}"/>
              </a:ext>
            </a:extLst>
          </p:cNvPr>
          <p:cNvSpPr>
            <a:spLocks noGrp="1"/>
          </p:cNvSpPr>
          <p:nvPr>
            <p:ph idx="1"/>
          </p:nvPr>
        </p:nvSpPr>
        <p:spPr/>
        <p:txBody>
          <a:bodyPr/>
          <a:lstStyle/>
          <a:p>
            <a:r>
              <a:rPr lang="en-US" b="1" i="1" dirty="0" err="1">
                <a:solidFill>
                  <a:srgbClr val="C00000"/>
                </a:solidFill>
              </a:rPr>
              <a:t>Mỗi</a:t>
            </a:r>
            <a:r>
              <a:rPr lang="en-US" b="1" i="1" dirty="0">
                <a:solidFill>
                  <a:srgbClr val="C00000"/>
                </a:solidFill>
              </a:rPr>
              <a:t> </a:t>
            </a:r>
            <a:r>
              <a:rPr lang="en-US" b="1" i="1" dirty="0" err="1">
                <a:solidFill>
                  <a:srgbClr val="C00000"/>
                </a:solidFill>
              </a:rPr>
              <a:t>máy</a:t>
            </a:r>
            <a:r>
              <a:rPr lang="en-US" b="1" i="1" dirty="0">
                <a:solidFill>
                  <a:srgbClr val="C00000"/>
                </a:solidFill>
              </a:rPr>
              <a:t> </a:t>
            </a:r>
            <a:r>
              <a:rPr lang="en-US" b="1" i="1" dirty="0" err="1">
                <a:solidFill>
                  <a:srgbClr val="C00000"/>
                </a:solidFill>
              </a:rPr>
              <a:t>tính</a:t>
            </a:r>
            <a:r>
              <a:rPr lang="en-US" b="1" i="1" dirty="0">
                <a:solidFill>
                  <a:srgbClr val="C00000"/>
                </a:solidFill>
              </a:rPr>
              <a:t> </a:t>
            </a:r>
            <a:r>
              <a:rPr lang="en-US" b="1" i="1" dirty="0" err="1">
                <a:solidFill>
                  <a:srgbClr val="C00000"/>
                </a:solidFill>
              </a:rPr>
              <a:t>trên</a:t>
            </a:r>
            <a:r>
              <a:rPr lang="en-US" b="1" i="1" dirty="0">
                <a:solidFill>
                  <a:srgbClr val="C00000"/>
                </a:solidFill>
              </a:rPr>
              <a:t> </a:t>
            </a:r>
            <a:r>
              <a:rPr lang="en-US" b="1" i="1" dirty="0" err="1">
                <a:solidFill>
                  <a:srgbClr val="C00000"/>
                </a:solidFill>
              </a:rPr>
              <a:t>mạng</a:t>
            </a:r>
            <a:r>
              <a:rPr lang="en-US" b="1" i="1" dirty="0">
                <a:solidFill>
                  <a:srgbClr val="C00000"/>
                </a:solidFill>
              </a:rPr>
              <a:t> </a:t>
            </a:r>
            <a:r>
              <a:rPr lang="en-US" b="1" i="1" dirty="0" err="1">
                <a:solidFill>
                  <a:srgbClr val="C00000"/>
                </a:solidFill>
              </a:rPr>
              <a:t>phải</a:t>
            </a:r>
            <a:r>
              <a:rPr lang="en-US" b="1" i="1" dirty="0">
                <a:solidFill>
                  <a:srgbClr val="C00000"/>
                </a:solidFill>
              </a:rPr>
              <a:t> </a:t>
            </a:r>
            <a:r>
              <a:rPr lang="en-US" b="1" i="1" dirty="0" err="1">
                <a:solidFill>
                  <a:srgbClr val="C00000"/>
                </a:solidFill>
              </a:rPr>
              <a:t>có</a:t>
            </a:r>
            <a:r>
              <a:rPr lang="en-US" b="1" i="1" dirty="0">
                <a:solidFill>
                  <a:srgbClr val="C00000"/>
                </a:solidFill>
              </a:rPr>
              <a:t> </a:t>
            </a:r>
            <a:r>
              <a:rPr lang="en-US" b="1" i="1" dirty="0" err="1">
                <a:solidFill>
                  <a:srgbClr val="C00000"/>
                </a:solidFill>
              </a:rPr>
              <a:t>một</a:t>
            </a:r>
            <a:r>
              <a:rPr lang="en-US" b="1" i="1" dirty="0">
                <a:solidFill>
                  <a:srgbClr val="C00000"/>
                </a:solidFill>
              </a:rPr>
              <a:t> </a:t>
            </a:r>
            <a:r>
              <a:rPr lang="en-US" b="1" i="1" dirty="0" err="1">
                <a:solidFill>
                  <a:srgbClr val="C00000"/>
                </a:solidFill>
              </a:rPr>
              <a:t>địa</a:t>
            </a:r>
            <a:r>
              <a:rPr lang="en-US" b="1" i="1" dirty="0">
                <a:solidFill>
                  <a:srgbClr val="C00000"/>
                </a:solidFill>
              </a:rPr>
              <a:t> </a:t>
            </a:r>
            <a:r>
              <a:rPr lang="en-US" b="1" i="1" dirty="0" err="1">
                <a:solidFill>
                  <a:srgbClr val="C00000"/>
                </a:solidFill>
              </a:rPr>
              <a:t>chỉ</a:t>
            </a:r>
            <a:r>
              <a:rPr lang="en-US" b="1" i="1" dirty="0">
                <a:solidFill>
                  <a:srgbClr val="C00000"/>
                </a:solidFill>
              </a:rPr>
              <a:t> </a:t>
            </a:r>
            <a:r>
              <a:rPr lang="en-US" b="1" i="1" dirty="0" err="1">
                <a:solidFill>
                  <a:srgbClr val="C00000"/>
                </a:solidFill>
              </a:rPr>
              <a:t>nhận</a:t>
            </a:r>
            <a:r>
              <a:rPr lang="en-US" b="1" i="1" dirty="0">
                <a:solidFill>
                  <a:srgbClr val="C00000"/>
                </a:solidFill>
              </a:rPr>
              <a:t> </a:t>
            </a:r>
            <a:r>
              <a:rPr lang="en-US" b="1" i="1" dirty="0" err="1">
                <a:solidFill>
                  <a:srgbClr val="C00000"/>
                </a:solidFill>
              </a:rPr>
              <a:t>dạng</a:t>
            </a:r>
            <a:r>
              <a:rPr lang="en-US" b="1" i="1" dirty="0">
                <a:solidFill>
                  <a:srgbClr val="C00000"/>
                </a:solidFill>
              </a:rPr>
              <a:t> </a:t>
            </a:r>
            <a:r>
              <a:rPr lang="en-US" dirty="0" err="1"/>
              <a:t>giúp</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có</a:t>
            </a:r>
            <a:r>
              <a:rPr lang="en-US" dirty="0"/>
              <a:t> </a:t>
            </a:r>
            <a:r>
              <a:rPr lang="en-US" dirty="0" err="1"/>
              <a:t>thể</a:t>
            </a:r>
            <a:r>
              <a:rPr lang="en-US" dirty="0"/>
              <a:t> </a:t>
            </a:r>
            <a:r>
              <a:rPr lang="en-US" dirty="0" err="1"/>
              <a:t>liên</a:t>
            </a:r>
            <a:r>
              <a:rPr lang="en-US" dirty="0"/>
              <a:t> </a:t>
            </a:r>
            <a:r>
              <a:rPr lang="en-US" dirty="0" err="1"/>
              <a:t>lạc</a:t>
            </a:r>
            <a:r>
              <a:rPr lang="en-US" dirty="0"/>
              <a:t> </a:t>
            </a:r>
            <a:r>
              <a:rPr lang="en-US" dirty="0" err="1"/>
              <a:t>với</a:t>
            </a:r>
            <a:r>
              <a:rPr lang="en-US" dirty="0"/>
              <a:t> </a:t>
            </a:r>
            <a:r>
              <a:rPr lang="en-US" dirty="0" err="1"/>
              <a:t>nhau</a:t>
            </a:r>
            <a:r>
              <a:rPr lang="en-US" dirty="0"/>
              <a:t>.</a:t>
            </a:r>
          </a:p>
          <a:p>
            <a:r>
              <a:rPr lang="en-US" b="1" dirty="0">
                <a:solidFill>
                  <a:srgbClr val="C00000"/>
                </a:solidFill>
              </a:rPr>
              <a:t>ISP</a:t>
            </a:r>
            <a:r>
              <a:rPr lang="en-US" dirty="0"/>
              <a:t> </a:t>
            </a:r>
            <a:r>
              <a:rPr lang="en-US" b="1" dirty="0" err="1"/>
              <a:t>cung</a:t>
            </a:r>
            <a:r>
              <a:rPr lang="en-US" b="1" dirty="0"/>
              <a:t> </a:t>
            </a:r>
            <a:r>
              <a:rPr lang="en-US" b="1" dirty="0" err="1"/>
              <a:t>cấp</a:t>
            </a:r>
            <a:r>
              <a:rPr lang="en-US" b="1" dirty="0"/>
              <a:t> </a:t>
            </a:r>
            <a:r>
              <a:rPr lang="en-US" b="1" dirty="0" err="1"/>
              <a:t>địa</a:t>
            </a:r>
            <a:r>
              <a:rPr lang="en-US" b="1" dirty="0"/>
              <a:t> </a:t>
            </a:r>
            <a:r>
              <a:rPr lang="en-US" b="1" dirty="0" err="1"/>
              <a:t>chỉ</a:t>
            </a:r>
            <a:r>
              <a:rPr lang="en-US" b="1" dirty="0"/>
              <a:t> IP </a:t>
            </a:r>
            <a:r>
              <a:rPr lang="en-US" b="1" dirty="0" err="1"/>
              <a:t>khi</a:t>
            </a:r>
            <a:r>
              <a:rPr lang="en-US" b="1" dirty="0"/>
              <a:t> </a:t>
            </a:r>
            <a:r>
              <a:rPr lang="en-US" b="1" dirty="0" err="1"/>
              <a:t>đăng</a:t>
            </a:r>
            <a:r>
              <a:rPr lang="en-US" b="1" dirty="0"/>
              <a:t> </a:t>
            </a:r>
            <a:r>
              <a:rPr lang="en-US" b="1" dirty="0" err="1"/>
              <a:t>ký</a:t>
            </a:r>
            <a:r>
              <a:rPr lang="en-US" b="1" dirty="0"/>
              <a:t> </a:t>
            </a:r>
            <a:r>
              <a:rPr lang="en-US" b="1" dirty="0" err="1"/>
              <a:t>dịch</a:t>
            </a:r>
            <a:r>
              <a:rPr lang="en-US" b="1" dirty="0"/>
              <a:t> </a:t>
            </a:r>
            <a:r>
              <a:rPr lang="en-US" b="1" dirty="0" err="1"/>
              <a:t>vụ</a:t>
            </a:r>
            <a:r>
              <a:rPr lang="en-US" b="1" dirty="0"/>
              <a:t> Internet </a:t>
            </a:r>
            <a:r>
              <a:rPr lang="en-US" dirty="0" err="1"/>
              <a:t>và</a:t>
            </a:r>
            <a:r>
              <a:rPr lang="en-US" dirty="0"/>
              <a:t> </a:t>
            </a:r>
            <a:r>
              <a:rPr lang="en-US" dirty="0" err="1"/>
              <a:t>máy</a:t>
            </a:r>
            <a:r>
              <a:rPr lang="en-US" dirty="0"/>
              <a:t> </a:t>
            </a:r>
            <a:r>
              <a:rPr lang="en-US" dirty="0" err="1"/>
              <a:t>tính</a:t>
            </a:r>
            <a:r>
              <a:rPr lang="en-US" dirty="0"/>
              <a:t> </a:t>
            </a:r>
            <a:r>
              <a:rPr lang="en-US" dirty="0" err="1"/>
              <a:t>sử</a:t>
            </a:r>
            <a:r>
              <a:rPr lang="en-US" dirty="0"/>
              <a:t> </a:t>
            </a:r>
            <a:r>
              <a:rPr lang="en-US" dirty="0" err="1"/>
              <a:t>dụng</a:t>
            </a:r>
            <a:r>
              <a:rPr lang="en-US" dirty="0"/>
              <a:t> </a:t>
            </a:r>
            <a:r>
              <a:rPr lang="en-US" dirty="0" err="1"/>
              <a:t>địa</a:t>
            </a:r>
            <a:r>
              <a:rPr lang="en-US" dirty="0"/>
              <a:t> </a:t>
            </a:r>
            <a:r>
              <a:rPr lang="en-US" dirty="0" err="1"/>
              <a:t>chỉ</a:t>
            </a:r>
            <a:r>
              <a:rPr lang="en-US" dirty="0"/>
              <a:t> </a:t>
            </a:r>
            <a:r>
              <a:rPr lang="en-US" dirty="0" err="1"/>
              <a:t>này</a:t>
            </a:r>
            <a:r>
              <a:rPr lang="en-US" dirty="0"/>
              <a:t> </a:t>
            </a:r>
            <a:r>
              <a:rPr lang="en-US" dirty="0" err="1"/>
              <a:t>khi</a:t>
            </a:r>
            <a:r>
              <a:rPr lang="en-US" dirty="0"/>
              <a:t> </a:t>
            </a:r>
            <a:r>
              <a:rPr lang="en-US" dirty="0" err="1"/>
              <a:t>kết</a:t>
            </a:r>
            <a:r>
              <a:rPr lang="en-US" dirty="0"/>
              <a:t> </a:t>
            </a:r>
            <a:r>
              <a:rPr lang="en-US" dirty="0" err="1"/>
              <a:t>nối</a:t>
            </a:r>
            <a:r>
              <a:rPr lang="en-US" dirty="0"/>
              <a:t> </a:t>
            </a:r>
            <a:r>
              <a:rPr lang="en-US" dirty="0" err="1"/>
              <a:t>với</a:t>
            </a:r>
            <a:r>
              <a:rPr lang="en-US" dirty="0"/>
              <a:t> Internet.</a:t>
            </a:r>
          </a:p>
        </p:txBody>
      </p:sp>
      <p:pic>
        <p:nvPicPr>
          <p:cNvPr id="5" name="Picture 4">
            <a:extLst>
              <a:ext uri="{FF2B5EF4-FFF2-40B4-BE49-F238E27FC236}">
                <a16:creationId xmlns:a16="http://schemas.microsoft.com/office/drawing/2014/main" id="{19E4AB11-D80A-4058-8DF8-DB4D4634A47C}"/>
              </a:ext>
            </a:extLst>
          </p:cNvPr>
          <p:cNvPicPr>
            <a:picLocks noChangeAspect="1"/>
          </p:cNvPicPr>
          <p:nvPr/>
        </p:nvPicPr>
        <p:blipFill>
          <a:blip r:embed="rId2"/>
          <a:stretch>
            <a:fillRect/>
          </a:stretch>
        </p:blipFill>
        <p:spPr>
          <a:xfrm>
            <a:off x="1332328" y="3793721"/>
            <a:ext cx="9525825" cy="2217612"/>
          </a:xfrm>
          <a:prstGeom prst="rect">
            <a:avLst/>
          </a:prstGeom>
        </p:spPr>
      </p:pic>
    </p:spTree>
    <p:extLst>
      <p:ext uri="{BB962C8B-B14F-4D97-AF65-F5344CB8AC3E}">
        <p14:creationId xmlns:p14="http://schemas.microsoft.com/office/powerpoint/2010/main" val="117739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2C7A3-0464-4362-932A-AAC326F35EF0}"/>
              </a:ext>
            </a:extLst>
          </p:cNvPr>
          <p:cNvSpPr>
            <a:spLocks noGrp="1"/>
          </p:cNvSpPr>
          <p:nvPr>
            <p:ph type="title"/>
          </p:nvPr>
        </p:nvSpPr>
        <p:spPr/>
        <p:txBody>
          <a:bodyPr>
            <a:normAutofit/>
          </a:bodyPr>
          <a:lstStyle/>
          <a:p>
            <a:r>
              <a:rPr lang="en-US" sz="4000" dirty="0"/>
              <a:t>IP Address (</a:t>
            </a:r>
            <a:r>
              <a:rPr lang="en-US" sz="4000" dirty="0">
                <a:solidFill>
                  <a:srgbClr val="C00000"/>
                </a:solidFill>
              </a:rPr>
              <a:t>Internet Protocol </a:t>
            </a:r>
            <a:r>
              <a:rPr lang="en-US" sz="4000" dirty="0"/>
              <a:t>address)</a:t>
            </a:r>
          </a:p>
        </p:txBody>
      </p:sp>
      <p:sp>
        <p:nvSpPr>
          <p:cNvPr id="3" name="Content Placeholder 2">
            <a:extLst>
              <a:ext uri="{FF2B5EF4-FFF2-40B4-BE49-F238E27FC236}">
                <a16:creationId xmlns:a16="http://schemas.microsoft.com/office/drawing/2014/main" id="{F2F1B31C-60E6-460B-8181-27FFB42D99A7}"/>
              </a:ext>
            </a:extLst>
          </p:cNvPr>
          <p:cNvSpPr>
            <a:spLocks noGrp="1"/>
          </p:cNvSpPr>
          <p:nvPr>
            <p:ph idx="1"/>
          </p:nvPr>
        </p:nvSpPr>
        <p:spPr/>
        <p:txBody>
          <a:bodyPr/>
          <a:lstStyle/>
          <a:p>
            <a:pPr algn="just">
              <a:lnSpc>
                <a:spcPct val="100000"/>
              </a:lnSpc>
            </a:pPr>
            <a:r>
              <a:rPr lang="en-GB" b="1" dirty="0">
                <a:solidFill>
                  <a:srgbClr val="C00000"/>
                </a:solidFill>
              </a:rPr>
              <a:t>Protocol – Giao </a:t>
            </a:r>
            <a:r>
              <a:rPr lang="en-GB" b="1" dirty="0" err="1">
                <a:solidFill>
                  <a:srgbClr val="C00000"/>
                </a:solidFill>
              </a:rPr>
              <a:t>thức</a:t>
            </a:r>
            <a:r>
              <a:rPr lang="en-GB" dirty="0"/>
              <a:t>: </a:t>
            </a:r>
            <a:r>
              <a:rPr lang="en-GB" dirty="0" err="1"/>
              <a:t>được</a:t>
            </a:r>
            <a:r>
              <a:rPr lang="en-GB" dirty="0"/>
              <a:t> </a:t>
            </a:r>
            <a:r>
              <a:rPr lang="en-GB" dirty="0" err="1"/>
              <a:t>thành</a:t>
            </a:r>
            <a:r>
              <a:rPr lang="en-GB" dirty="0"/>
              <a:t> </a:t>
            </a:r>
            <a:r>
              <a:rPr lang="en-GB" dirty="0" err="1"/>
              <a:t>lập</a:t>
            </a:r>
            <a:r>
              <a:rPr lang="en-GB" dirty="0"/>
              <a:t> </a:t>
            </a:r>
            <a:r>
              <a:rPr lang="en-GB" dirty="0" err="1"/>
              <a:t>theo</a:t>
            </a:r>
            <a:r>
              <a:rPr lang="en-GB" dirty="0"/>
              <a:t> </a:t>
            </a:r>
            <a:r>
              <a:rPr lang="en-GB" dirty="0" err="1"/>
              <a:t>thỏa</a:t>
            </a:r>
            <a:r>
              <a:rPr lang="en-GB" dirty="0"/>
              <a:t> </a:t>
            </a:r>
            <a:r>
              <a:rPr lang="en-GB" dirty="0" err="1"/>
              <a:t>thuận</a:t>
            </a:r>
            <a:r>
              <a:rPr lang="en-GB" dirty="0"/>
              <a:t> </a:t>
            </a:r>
            <a:r>
              <a:rPr lang="en-GB" dirty="0" err="1"/>
              <a:t>quốc</a:t>
            </a:r>
            <a:r>
              <a:rPr lang="en-GB" dirty="0"/>
              <a:t> </a:t>
            </a:r>
            <a:r>
              <a:rPr lang="en-GB" dirty="0" err="1"/>
              <a:t>tế</a:t>
            </a:r>
            <a:r>
              <a:rPr lang="en-GB" dirty="0"/>
              <a:t> </a:t>
            </a:r>
            <a:r>
              <a:rPr lang="en-GB" dirty="0" err="1"/>
              <a:t>để</a:t>
            </a:r>
            <a:r>
              <a:rPr lang="en-GB" dirty="0"/>
              <a:t> </a:t>
            </a:r>
            <a:r>
              <a:rPr lang="en-GB" dirty="0" err="1"/>
              <a:t>đảm</a:t>
            </a:r>
            <a:r>
              <a:rPr lang="en-GB" dirty="0"/>
              <a:t> </a:t>
            </a:r>
            <a:r>
              <a:rPr lang="en-GB" dirty="0" err="1"/>
              <a:t>bảo</a:t>
            </a:r>
            <a:r>
              <a:rPr lang="en-GB" dirty="0"/>
              <a:t> </a:t>
            </a:r>
            <a:r>
              <a:rPr lang="en-GB" dirty="0" err="1"/>
              <a:t>các</a:t>
            </a:r>
            <a:r>
              <a:rPr lang="en-GB" dirty="0"/>
              <a:t> </a:t>
            </a:r>
            <a:r>
              <a:rPr lang="en-GB" dirty="0" err="1"/>
              <a:t>máy</a:t>
            </a:r>
            <a:r>
              <a:rPr lang="en-GB" dirty="0"/>
              <a:t> </a:t>
            </a:r>
            <a:r>
              <a:rPr lang="en-GB" dirty="0" err="1"/>
              <a:t>tính</a:t>
            </a:r>
            <a:r>
              <a:rPr lang="en-GB" dirty="0"/>
              <a:t> ở </a:t>
            </a:r>
            <a:r>
              <a:rPr lang="en-GB" dirty="0" err="1"/>
              <a:t>khắp</a:t>
            </a:r>
            <a:r>
              <a:rPr lang="en-GB" dirty="0"/>
              <a:t> </a:t>
            </a:r>
            <a:r>
              <a:rPr lang="en-GB" dirty="0" err="1"/>
              <a:t>mọi</a:t>
            </a:r>
            <a:r>
              <a:rPr lang="en-GB" dirty="0"/>
              <a:t> </a:t>
            </a:r>
            <a:r>
              <a:rPr lang="en-GB" dirty="0" err="1"/>
              <a:t>nơi</a:t>
            </a:r>
            <a:r>
              <a:rPr lang="en-GB" dirty="0"/>
              <a:t> </a:t>
            </a:r>
            <a:r>
              <a:rPr lang="en-GB" dirty="0" err="1"/>
              <a:t>có</a:t>
            </a:r>
            <a:r>
              <a:rPr lang="en-GB" dirty="0"/>
              <a:t> </a:t>
            </a:r>
            <a:r>
              <a:rPr lang="en-GB" dirty="0" err="1"/>
              <a:t>thể</a:t>
            </a:r>
            <a:r>
              <a:rPr lang="en-GB" dirty="0"/>
              <a:t> </a:t>
            </a:r>
            <a:r>
              <a:rPr lang="en-GB" dirty="0" err="1"/>
              <a:t>giao</a:t>
            </a:r>
            <a:r>
              <a:rPr lang="en-GB" dirty="0"/>
              <a:t> </a:t>
            </a:r>
            <a:r>
              <a:rPr lang="en-GB" dirty="0" err="1"/>
              <a:t>tiếp</a:t>
            </a:r>
            <a:r>
              <a:rPr lang="en-GB" dirty="0"/>
              <a:t> </a:t>
            </a:r>
            <a:r>
              <a:rPr lang="en-GB" dirty="0" err="1"/>
              <a:t>được</a:t>
            </a:r>
            <a:r>
              <a:rPr lang="en-GB" dirty="0"/>
              <a:t> </a:t>
            </a:r>
            <a:r>
              <a:rPr lang="en-GB" dirty="0" err="1"/>
              <a:t>với</a:t>
            </a:r>
            <a:r>
              <a:rPr lang="en-GB" dirty="0"/>
              <a:t> </a:t>
            </a:r>
            <a:r>
              <a:rPr lang="en-GB" dirty="0" err="1"/>
              <a:t>nhau</a:t>
            </a:r>
            <a:endParaRPr lang="en-US" dirty="0"/>
          </a:p>
        </p:txBody>
      </p:sp>
      <p:graphicFrame>
        <p:nvGraphicFramePr>
          <p:cNvPr id="4" name="Table 3">
            <a:extLst>
              <a:ext uri="{FF2B5EF4-FFF2-40B4-BE49-F238E27FC236}">
                <a16:creationId xmlns:a16="http://schemas.microsoft.com/office/drawing/2014/main" id="{52362968-4673-4321-A768-2540FB475E55}"/>
              </a:ext>
            </a:extLst>
          </p:cNvPr>
          <p:cNvGraphicFramePr>
            <a:graphicFrameLocks noGrp="1"/>
          </p:cNvGraphicFramePr>
          <p:nvPr/>
        </p:nvGraphicFramePr>
        <p:xfrm>
          <a:off x="1423285" y="3286153"/>
          <a:ext cx="9560697" cy="1929314"/>
        </p:xfrm>
        <a:graphic>
          <a:graphicData uri="http://schemas.openxmlformats.org/drawingml/2006/table">
            <a:tbl>
              <a:tblPr firstCol="1" bandRow="1">
                <a:tableStyleId>{5C22544A-7EE6-4342-B048-85BDC9FD1C3A}</a:tableStyleId>
              </a:tblPr>
              <a:tblGrid>
                <a:gridCol w="1203939">
                  <a:extLst>
                    <a:ext uri="{9D8B030D-6E8A-4147-A177-3AD203B41FA5}">
                      <a16:colId xmlns:a16="http://schemas.microsoft.com/office/drawing/2014/main" val="1387315398"/>
                    </a:ext>
                  </a:extLst>
                </a:gridCol>
                <a:gridCol w="4154643">
                  <a:extLst>
                    <a:ext uri="{9D8B030D-6E8A-4147-A177-3AD203B41FA5}">
                      <a16:colId xmlns:a16="http://schemas.microsoft.com/office/drawing/2014/main" val="2213508093"/>
                    </a:ext>
                  </a:extLst>
                </a:gridCol>
                <a:gridCol w="4202115">
                  <a:extLst>
                    <a:ext uri="{9D8B030D-6E8A-4147-A177-3AD203B41FA5}">
                      <a16:colId xmlns:a16="http://schemas.microsoft.com/office/drawing/2014/main" val="2671474087"/>
                    </a:ext>
                  </a:extLst>
                </a:gridCol>
              </a:tblGrid>
              <a:tr h="964657">
                <a:tc>
                  <a:txBody>
                    <a:bodyPr/>
                    <a:lstStyle/>
                    <a:p>
                      <a:pPr marL="0" marR="0" algn="l">
                        <a:lnSpc>
                          <a:spcPct val="130000"/>
                        </a:lnSpc>
                        <a:spcBef>
                          <a:spcPts val="0"/>
                        </a:spcBef>
                        <a:spcAft>
                          <a:spcPts val="0"/>
                        </a:spcAft>
                      </a:pPr>
                      <a:r>
                        <a:rPr lang="en-GB" sz="2400">
                          <a:effectLst/>
                        </a:rPr>
                        <a:t>HTTP </a:t>
                      </a:r>
                      <a:endParaRPr lang="en-US" sz="2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30000"/>
                        </a:lnSpc>
                        <a:spcBef>
                          <a:spcPts val="0"/>
                        </a:spcBef>
                        <a:spcAft>
                          <a:spcPts val="0"/>
                        </a:spcAft>
                      </a:pPr>
                      <a:r>
                        <a:rPr lang="en-GB" sz="2400">
                          <a:effectLst/>
                        </a:rPr>
                        <a:t>Hypertext Transfer Protocol</a:t>
                      </a:r>
                      <a:endParaRPr lang="en-US" sz="2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30000"/>
                        </a:lnSpc>
                        <a:spcBef>
                          <a:spcPts val="0"/>
                        </a:spcBef>
                        <a:spcAft>
                          <a:spcPts val="0"/>
                        </a:spcAft>
                      </a:pPr>
                      <a:r>
                        <a:rPr lang="en-GB" sz="2400">
                          <a:effectLst/>
                        </a:rPr>
                        <a:t>Trao đổi thông tin qua Web</a:t>
                      </a:r>
                      <a:endParaRPr lang="en-US" sz="2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68501173"/>
                  </a:ext>
                </a:extLst>
              </a:tr>
              <a:tr h="964657">
                <a:tc>
                  <a:txBody>
                    <a:bodyPr/>
                    <a:lstStyle/>
                    <a:p>
                      <a:pPr marL="0" marR="0" algn="l">
                        <a:lnSpc>
                          <a:spcPct val="130000"/>
                        </a:lnSpc>
                        <a:spcBef>
                          <a:spcPts val="0"/>
                        </a:spcBef>
                        <a:spcAft>
                          <a:spcPts val="0"/>
                        </a:spcAft>
                      </a:pPr>
                      <a:r>
                        <a:rPr lang="en-GB" sz="2400">
                          <a:effectLst/>
                        </a:rPr>
                        <a:t>FTP</a:t>
                      </a:r>
                      <a:endParaRPr lang="en-US" sz="2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30000"/>
                        </a:lnSpc>
                        <a:spcBef>
                          <a:spcPts val="0"/>
                        </a:spcBef>
                        <a:spcAft>
                          <a:spcPts val="0"/>
                        </a:spcAft>
                      </a:pPr>
                      <a:r>
                        <a:rPr lang="en-GB" sz="2400" dirty="0">
                          <a:effectLst/>
                        </a:rPr>
                        <a:t>File Transfer Protocol</a:t>
                      </a:r>
                      <a:endParaRPr lang="en-US" sz="24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l">
                        <a:lnSpc>
                          <a:spcPct val="130000"/>
                        </a:lnSpc>
                        <a:spcBef>
                          <a:spcPts val="0"/>
                        </a:spcBef>
                        <a:spcAft>
                          <a:spcPts val="0"/>
                        </a:spcAft>
                      </a:pPr>
                      <a:r>
                        <a:rPr lang="en-GB" sz="2400" dirty="0" err="1">
                          <a:effectLst/>
                        </a:rPr>
                        <a:t>Chuyển</a:t>
                      </a:r>
                      <a:r>
                        <a:rPr lang="en-GB" sz="2400" dirty="0">
                          <a:effectLst/>
                        </a:rPr>
                        <a:t> </a:t>
                      </a:r>
                      <a:r>
                        <a:rPr lang="en-GB" sz="2400" dirty="0" err="1">
                          <a:effectLst/>
                        </a:rPr>
                        <a:t>các</a:t>
                      </a:r>
                      <a:r>
                        <a:rPr lang="en-GB" sz="2400" dirty="0">
                          <a:effectLst/>
                        </a:rPr>
                        <a:t> </a:t>
                      </a:r>
                      <a:r>
                        <a:rPr lang="en-GB" sz="2400" dirty="0" err="1">
                          <a:effectLst/>
                        </a:rPr>
                        <a:t>tập</a:t>
                      </a:r>
                      <a:r>
                        <a:rPr lang="en-GB" sz="2400" dirty="0">
                          <a:effectLst/>
                        </a:rPr>
                        <a:t> tin </a:t>
                      </a:r>
                      <a:r>
                        <a:rPr lang="en-GB" sz="2400" dirty="0" err="1">
                          <a:effectLst/>
                        </a:rPr>
                        <a:t>giữa</a:t>
                      </a:r>
                      <a:r>
                        <a:rPr lang="en-GB" sz="2400" dirty="0">
                          <a:effectLst/>
                        </a:rPr>
                        <a:t> </a:t>
                      </a:r>
                      <a:r>
                        <a:rPr lang="en-GB" sz="2400" dirty="0" err="1">
                          <a:effectLst/>
                        </a:rPr>
                        <a:t>các</a:t>
                      </a:r>
                      <a:r>
                        <a:rPr lang="en-GB" sz="2400" dirty="0">
                          <a:effectLst/>
                        </a:rPr>
                        <a:t> </a:t>
                      </a:r>
                      <a:r>
                        <a:rPr lang="en-GB" sz="2400" dirty="0" err="1">
                          <a:effectLst/>
                        </a:rPr>
                        <a:t>máy</a:t>
                      </a:r>
                      <a:r>
                        <a:rPr lang="en-GB" sz="2400" dirty="0">
                          <a:effectLst/>
                        </a:rPr>
                        <a:t> </a:t>
                      </a:r>
                      <a:r>
                        <a:rPr lang="en-GB" sz="2400" dirty="0" err="1">
                          <a:effectLst/>
                        </a:rPr>
                        <a:t>tính</a:t>
                      </a:r>
                      <a:r>
                        <a:rPr lang="en-GB" sz="2400" dirty="0">
                          <a:effectLst/>
                        </a:rPr>
                        <a:t> host </a:t>
                      </a:r>
                      <a:r>
                        <a:rPr lang="en-GB" sz="2400" dirty="0" err="1">
                          <a:effectLst/>
                        </a:rPr>
                        <a:t>nội</a:t>
                      </a:r>
                      <a:r>
                        <a:rPr lang="en-GB" sz="2400" dirty="0">
                          <a:effectLst/>
                        </a:rPr>
                        <a:t> </a:t>
                      </a:r>
                      <a:r>
                        <a:rPr lang="en-GB" sz="2400" dirty="0" err="1">
                          <a:effectLst/>
                        </a:rPr>
                        <a:t>bộ</a:t>
                      </a:r>
                      <a:r>
                        <a:rPr lang="en-GB" sz="2400" dirty="0">
                          <a:effectLst/>
                        </a:rPr>
                        <a:t> </a:t>
                      </a:r>
                      <a:r>
                        <a:rPr lang="en-GB" sz="2400" dirty="0" err="1">
                          <a:effectLst/>
                        </a:rPr>
                        <a:t>và</a:t>
                      </a:r>
                      <a:r>
                        <a:rPr lang="en-GB" sz="2400" dirty="0">
                          <a:effectLst/>
                        </a:rPr>
                        <a:t> </a:t>
                      </a:r>
                      <a:r>
                        <a:rPr lang="en-GB" sz="2400" dirty="0" err="1">
                          <a:effectLst/>
                        </a:rPr>
                        <a:t>từ</a:t>
                      </a:r>
                      <a:r>
                        <a:rPr lang="en-GB" sz="2400" dirty="0">
                          <a:effectLst/>
                        </a:rPr>
                        <a:t> </a:t>
                      </a:r>
                      <a:r>
                        <a:rPr lang="en-GB" sz="2400" dirty="0" err="1">
                          <a:effectLst/>
                        </a:rPr>
                        <a:t>xa</a:t>
                      </a:r>
                      <a:endParaRPr lang="en-US" sz="24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01582"/>
                  </a:ext>
                </a:extLst>
              </a:tr>
            </a:tbl>
          </a:graphicData>
        </a:graphic>
      </p:graphicFrame>
    </p:spTree>
    <p:extLst>
      <p:ext uri="{BB962C8B-B14F-4D97-AF65-F5344CB8AC3E}">
        <p14:creationId xmlns:p14="http://schemas.microsoft.com/office/powerpoint/2010/main" val="392963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FFC4-5DAD-44B0-9970-A993ABE29B42}"/>
              </a:ext>
            </a:extLst>
          </p:cNvPr>
          <p:cNvSpPr>
            <a:spLocks noGrp="1"/>
          </p:cNvSpPr>
          <p:nvPr>
            <p:ph type="title"/>
          </p:nvPr>
        </p:nvSpPr>
        <p:spPr/>
        <p:txBody>
          <a:bodyPr>
            <a:normAutofit/>
          </a:bodyPr>
          <a:lstStyle/>
          <a:p>
            <a:r>
              <a:rPr lang="en-US" sz="4000" dirty="0"/>
              <a:t>IP Address (</a:t>
            </a:r>
            <a:r>
              <a:rPr lang="en-US" sz="4000" dirty="0">
                <a:solidFill>
                  <a:srgbClr val="C00000"/>
                </a:solidFill>
              </a:rPr>
              <a:t>Internet Protocol </a:t>
            </a:r>
            <a:r>
              <a:rPr lang="en-US" sz="4000" dirty="0"/>
              <a:t>address)</a:t>
            </a:r>
          </a:p>
        </p:txBody>
      </p:sp>
      <p:sp>
        <p:nvSpPr>
          <p:cNvPr id="3" name="Content Placeholder 2">
            <a:extLst>
              <a:ext uri="{FF2B5EF4-FFF2-40B4-BE49-F238E27FC236}">
                <a16:creationId xmlns:a16="http://schemas.microsoft.com/office/drawing/2014/main" id="{2160EFE2-6703-4641-85C4-017A7826D923}"/>
              </a:ext>
            </a:extLst>
          </p:cNvPr>
          <p:cNvSpPr>
            <a:spLocks noGrp="1"/>
          </p:cNvSpPr>
          <p:nvPr>
            <p:ph idx="1"/>
          </p:nvPr>
        </p:nvSpPr>
        <p:spPr/>
        <p:txBody>
          <a:bodyPr/>
          <a:lstStyle/>
          <a:p>
            <a:pPr>
              <a:lnSpc>
                <a:spcPct val="100000"/>
              </a:lnSpc>
            </a:pPr>
            <a:r>
              <a:rPr lang="en-GB" b="1" dirty="0" err="1"/>
              <a:t>Địa</a:t>
            </a:r>
            <a:r>
              <a:rPr lang="en-GB" b="1" dirty="0"/>
              <a:t> </a:t>
            </a:r>
            <a:r>
              <a:rPr lang="en-GB" b="1" dirty="0" err="1"/>
              <a:t>chỉ</a:t>
            </a:r>
            <a:r>
              <a:rPr lang="en-GB" b="1" dirty="0"/>
              <a:t> IP </a:t>
            </a:r>
            <a:r>
              <a:rPr lang="en-GB" b="1" dirty="0" err="1"/>
              <a:t>gồm</a:t>
            </a:r>
            <a:r>
              <a:rPr lang="en-GB" b="1" dirty="0"/>
              <a:t> 2 </a:t>
            </a:r>
            <a:r>
              <a:rPr lang="en-GB" b="1" dirty="0" err="1"/>
              <a:t>phần</a:t>
            </a:r>
            <a:r>
              <a:rPr lang="en-GB" dirty="0"/>
              <a:t>: </a:t>
            </a:r>
          </a:p>
          <a:p>
            <a:pPr lvl="2">
              <a:lnSpc>
                <a:spcPct val="100000"/>
              </a:lnSpc>
            </a:pPr>
            <a:r>
              <a:rPr lang="en-GB" dirty="0" err="1"/>
              <a:t>Địa</a:t>
            </a:r>
            <a:r>
              <a:rPr lang="en-GB" dirty="0"/>
              <a:t> </a:t>
            </a:r>
            <a:r>
              <a:rPr lang="en-GB" dirty="0" err="1"/>
              <a:t>chỉ</a:t>
            </a:r>
            <a:r>
              <a:rPr lang="en-GB" dirty="0"/>
              <a:t> </a:t>
            </a:r>
            <a:r>
              <a:rPr lang="en-GB" dirty="0" err="1"/>
              <a:t>mạng</a:t>
            </a:r>
            <a:r>
              <a:rPr lang="en-GB" dirty="0"/>
              <a:t> (NetID) </a:t>
            </a:r>
          </a:p>
          <a:p>
            <a:pPr lvl="2">
              <a:lnSpc>
                <a:spcPct val="100000"/>
              </a:lnSpc>
            </a:pPr>
            <a:r>
              <a:rPr lang="en-GB" dirty="0" err="1"/>
              <a:t>Địa</a:t>
            </a:r>
            <a:r>
              <a:rPr lang="en-GB" dirty="0"/>
              <a:t> </a:t>
            </a:r>
            <a:r>
              <a:rPr lang="en-GB" dirty="0" err="1"/>
              <a:t>chỉ</a:t>
            </a:r>
            <a:r>
              <a:rPr lang="en-GB" dirty="0"/>
              <a:t> </a:t>
            </a:r>
            <a:r>
              <a:rPr lang="en-GB" dirty="0" err="1"/>
              <a:t>máy</a:t>
            </a:r>
            <a:r>
              <a:rPr lang="en-GB" dirty="0"/>
              <a:t> (</a:t>
            </a:r>
            <a:r>
              <a:rPr lang="en-GB" dirty="0" err="1"/>
              <a:t>HostID</a:t>
            </a:r>
            <a:r>
              <a:rPr lang="en-GB" dirty="0"/>
              <a:t>). </a:t>
            </a:r>
          </a:p>
          <a:p>
            <a:pPr lvl="1">
              <a:lnSpc>
                <a:spcPct val="100000"/>
              </a:lnSpc>
            </a:pPr>
            <a:r>
              <a:rPr lang="en-GB" b="1" dirty="0" err="1"/>
              <a:t>Mỗi</a:t>
            </a:r>
            <a:r>
              <a:rPr lang="en-GB" b="1" dirty="0"/>
              <a:t> </a:t>
            </a:r>
            <a:r>
              <a:rPr lang="en-GB" b="1" dirty="0" err="1"/>
              <a:t>địa</a:t>
            </a:r>
            <a:r>
              <a:rPr lang="en-GB" b="1" dirty="0"/>
              <a:t> </a:t>
            </a:r>
            <a:r>
              <a:rPr lang="en-GB" b="1" dirty="0" err="1"/>
              <a:t>chỉ</a:t>
            </a:r>
            <a:r>
              <a:rPr lang="en-GB" b="1" dirty="0"/>
              <a:t> IP </a:t>
            </a:r>
            <a:r>
              <a:rPr lang="en-GB" b="1" dirty="0" err="1"/>
              <a:t>có</a:t>
            </a:r>
            <a:r>
              <a:rPr lang="en-GB" b="1" dirty="0"/>
              <a:t> </a:t>
            </a:r>
            <a:r>
              <a:rPr lang="en-GB" b="1" dirty="0" err="1"/>
              <a:t>độ</a:t>
            </a:r>
            <a:r>
              <a:rPr lang="en-GB" b="1" dirty="0"/>
              <a:t> </a:t>
            </a:r>
            <a:r>
              <a:rPr lang="en-GB" b="1" dirty="0" err="1"/>
              <a:t>dài</a:t>
            </a:r>
            <a:r>
              <a:rPr lang="en-GB" b="1" dirty="0"/>
              <a:t> 32 bits </a:t>
            </a:r>
            <a:r>
              <a:rPr lang="en-GB" dirty="0" err="1"/>
              <a:t>được</a:t>
            </a:r>
            <a:r>
              <a:rPr lang="en-GB" dirty="0"/>
              <a:t> </a:t>
            </a:r>
            <a:r>
              <a:rPr lang="en-GB" dirty="0" err="1"/>
              <a:t>tách</a:t>
            </a:r>
            <a:r>
              <a:rPr lang="en-GB" dirty="0"/>
              <a:t> </a:t>
            </a:r>
            <a:r>
              <a:rPr lang="en-GB" dirty="0" err="1"/>
              <a:t>thành</a:t>
            </a:r>
            <a:r>
              <a:rPr lang="en-GB" dirty="0"/>
              <a:t> 4 </a:t>
            </a:r>
            <a:r>
              <a:rPr lang="en-GB" dirty="0" err="1"/>
              <a:t>vùng</a:t>
            </a:r>
            <a:r>
              <a:rPr lang="en-GB" dirty="0"/>
              <a:t>, </a:t>
            </a:r>
            <a:r>
              <a:rPr lang="en-GB" dirty="0" err="1"/>
              <a:t>mỗi</a:t>
            </a:r>
            <a:r>
              <a:rPr lang="en-GB" dirty="0"/>
              <a:t> </a:t>
            </a:r>
            <a:r>
              <a:rPr lang="en-GB" dirty="0" err="1"/>
              <a:t>vùng</a:t>
            </a:r>
            <a:r>
              <a:rPr lang="en-GB" dirty="0"/>
              <a:t> 1 byte, </a:t>
            </a:r>
            <a:r>
              <a:rPr lang="en-GB" dirty="0" err="1"/>
              <a:t>cách</a:t>
            </a:r>
            <a:r>
              <a:rPr lang="en-GB" dirty="0"/>
              <a:t> </a:t>
            </a:r>
            <a:r>
              <a:rPr lang="en-GB" dirty="0" err="1"/>
              <a:t>nhau</a:t>
            </a:r>
            <a:r>
              <a:rPr lang="en-GB" dirty="0"/>
              <a:t> b</a:t>
            </a:r>
            <a:r>
              <a:rPr lang="en-US" dirty="0" err="1"/>
              <a:t>ởi</a:t>
            </a:r>
            <a:r>
              <a:rPr lang="en-US" dirty="0"/>
              <a:t> </a:t>
            </a:r>
            <a:r>
              <a:rPr lang="en-US" dirty="0" err="1"/>
              <a:t>dấu</a:t>
            </a:r>
            <a:r>
              <a:rPr lang="en-US" dirty="0"/>
              <a:t> </a:t>
            </a:r>
            <a:r>
              <a:rPr lang="en-US" dirty="0" err="1"/>
              <a:t>chấm</a:t>
            </a:r>
            <a:r>
              <a:rPr lang="en-US" dirty="0"/>
              <a:t> (.)</a:t>
            </a:r>
            <a:r>
              <a:rPr lang="en-GB" dirty="0"/>
              <a:t> </a:t>
            </a:r>
            <a:endParaRPr lang="en-US" dirty="0"/>
          </a:p>
        </p:txBody>
      </p:sp>
      <p:pic>
        <p:nvPicPr>
          <p:cNvPr id="7170" name="Picture 2" descr="Definition of an IP Address - What is an IP Address?">
            <a:extLst>
              <a:ext uri="{FF2B5EF4-FFF2-40B4-BE49-F238E27FC236}">
                <a16:creationId xmlns:a16="http://schemas.microsoft.com/office/drawing/2014/main" id="{FA5E32DC-9DB0-4B6B-A75F-A397F2AB1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2235" y="4166061"/>
            <a:ext cx="5015345" cy="20061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739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FFC4-5DAD-44B0-9970-A993ABE29B42}"/>
              </a:ext>
            </a:extLst>
          </p:cNvPr>
          <p:cNvSpPr>
            <a:spLocks noGrp="1"/>
          </p:cNvSpPr>
          <p:nvPr>
            <p:ph type="title"/>
          </p:nvPr>
        </p:nvSpPr>
        <p:spPr/>
        <p:txBody>
          <a:bodyPr>
            <a:normAutofit/>
          </a:bodyPr>
          <a:lstStyle/>
          <a:p>
            <a:r>
              <a:rPr lang="en-GB" dirty="0" err="1"/>
              <a:t>Tên</a:t>
            </a:r>
            <a:r>
              <a:rPr lang="en-GB" dirty="0"/>
              <a:t> </a:t>
            </a:r>
            <a:r>
              <a:rPr lang="en-GB" dirty="0" err="1"/>
              <a:t>miền</a:t>
            </a:r>
            <a:r>
              <a:rPr lang="en-GB" dirty="0"/>
              <a:t> (Domain name – DN)</a:t>
            </a:r>
            <a:endParaRPr lang="en-US" sz="4000" dirty="0"/>
          </a:p>
        </p:txBody>
      </p:sp>
      <p:sp>
        <p:nvSpPr>
          <p:cNvPr id="3" name="Content Placeholder 2">
            <a:extLst>
              <a:ext uri="{FF2B5EF4-FFF2-40B4-BE49-F238E27FC236}">
                <a16:creationId xmlns:a16="http://schemas.microsoft.com/office/drawing/2014/main" id="{2160EFE2-6703-4641-85C4-017A7826D923}"/>
              </a:ext>
            </a:extLst>
          </p:cNvPr>
          <p:cNvSpPr>
            <a:spLocks noGrp="1"/>
          </p:cNvSpPr>
          <p:nvPr>
            <p:ph idx="1"/>
          </p:nvPr>
        </p:nvSpPr>
        <p:spPr/>
        <p:txBody>
          <a:bodyPr/>
          <a:lstStyle/>
          <a:p>
            <a:pPr algn="just">
              <a:lnSpc>
                <a:spcPct val="100000"/>
              </a:lnSpc>
            </a:pPr>
            <a:r>
              <a:rPr lang="en-GB" b="1" dirty="0">
                <a:solidFill>
                  <a:srgbClr val="C00000"/>
                </a:solidFill>
              </a:rPr>
              <a:t>Domain</a:t>
            </a:r>
            <a:r>
              <a:rPr lang="en-GB" dirty="0"/>
              <a:t> </a:t>
            </a:r>
            <a:r>
              <a:rPr lang="en-GB" dirty="0" err="1"/>
              <a:t>là</a:t>
            </a:r>
            <a:r>
              <a:rPr lang="en-GB" dirty="0"/>
              <a:t> </a:t>
            </a:r>
            <a:r>
              <a:rPr lang="en-GB" dirty="0" err="1"/>
              <a:t>một</a:t>
            </a:r>
            <a:r>
              <a:rPr lang="en-GB" dirty="0"/>
              <a:t> </a:t>
            </a:r>
            <a:r>
              <a:rPr lang="en-GB" dirty="0" err="1"/>
              <a:t>cách</a:t>
            </a:r>
            <a:r>
              <a:rPr lang="en-GB" dirty="0"/>
              <a:t> </a:t>
            </a:r>
            <a:r>
              <a:rPr lang="en-GB" b="1" dirty="0" err="1">
                <a:solidFill>
                  <a:srgbClr val="C00000"/>
                </a:solidFill>
              </a:rPr>
              <a:t>trừu</a:t>
            </a:r>
            <a:r>
              <a:rPr lang="en-GB" b="1" dirty="0">
                <a:solidFill>
                  <a:srgbClr val="C00000"/>
                </a:solidFill>
              </a:rPr>
              <a:t> </a:t>
            </a:r>
            <a:r>
              <a:rPr lang="en-GB" b="1" dirty="0" err="1">
                <a:solidFill>
                  <a:srgbClr val="C00000"/>
                </a:solidFill>
              </a:rPr>
              <a:t>tượng</a:t>
            </a:r>
            <a:r>
              <a:rPr lang="en-GB" b="1" dirty="0">
                <a:solidFill>
                  <a:srgbClr val="C00000"/>
                </a:solidFill>
              </a:rPr>
              <a:t> </a:t>
            </a:r>
            <a:r>
              <a:rPr lang="en-GB" b="1" dirty="0" err="1">
                <a:solidFill>
                  <a:srgbClr val="C00000"/>
                </a:solidFill>
              </a:rPr>
              <a:t>hoá</a:t>
            </a:r>
            <a:r>
              <a:rPr lang="en-GB" b="1" dirty="0">
                <a:solidFill>
                  <a:srgbClr val="C00000"/>
                </a:solidFill>
              </a:rPr>
              <a:t> </a:t>
            </a:r>
            <a:r>
              <a:rPr lang="en-GB" b="1" dirty="0" err="1">
                <a:solidFill>
                  <a:srgbClr val="C00000"/>
                </a:solidFill>
              </a:rPr>
              <a:t>các</a:t>
            </a:r>
            <a:r>
              <a:rPr lang="en-GB" b="1" dirty="0">
                <a:solidFill>
                  <a:srgbClr val="C00000"/>
                </a:solidFill>
              </a:rPr>
              <a:t> </a:t>
            </a:r>
            <a:r>
              <a:rPr lang="en-GB" b="1" dirty="0" err="1">
                <a:solidFill>
                  <a:srgbClr val="C00000"/>
                </a:solidFill>
              </a:rPr>
              <a:t>địa</a:t>
            </a:r>
            <a:r>
              <a:rPr lang="en-GB" b="1" dirty="0">
                <a:solidFill>
                  <a:srgbClr val="C00000"/>
                </a:solidFill>
              </a:rPr>
              <a:t> </a:t>
            </a:r>
            <a:r>
              <a:rPr lang="en-GB" b="1" dirty="0" err="1">
                <a:solidFill>
                  <a:srgbClr val="C00000"/>
                </a:solidFill>
              </a:rPr>
              <a:t>chỉ</a:t>
            </a:r>
            <a:r>
              <a:rPr lang="en-GB" b="1" dirty="0">
                <a:solidFill>
                  <a:srgbClr val="C00000"/>
                </a:solidFill>
              </a:rPr>
              <a:t> IP</a:t>
            </a:r>
            <a:r>
              <a:rPr lang="en-GB" b="1" dirty="0"/>
              <a:t> </a:t>
            </a:r>
            <a:r>
              <a:rPr lang="en-GB" dirty="0" err="1"/>
              <a:t>trong</a:t>
            </a:r>
            <a:r>
              <a:rPr lang="en-GB" dirty="0"/>
              <a:t> </a:t>
            </a:r>
            <a:r>
              <a:rPr lang="en-GB" dirty="0" err="1"/>
              <a:t>hệ</a:t>
            </a:r>
            <a:r>
              <a:rPr lang="en-GB" dirty="0"/>
              <a:t> </a:t>
            </a:r>
            <a:r>
              <a:rPr lang="en-GB" dirty="0" err="1"/>
              <a:t>thống</a:t>
            </a:r>
            <a:r>
              <a:rPr lang="en-GB" dirty="0"/>
              <a:t> </a:t>
            </a:r>
            <a:r>
              <a:rPr lang="en-GB" dirty="0" err="1"/>
              <a:t>mạng</a:t>
            </a:r>
            <a:r>
              <a:rPr lang="en-GB" dirty="0"/>
              <a:t> </a:t>
            </a:r>
            <a:r>
              <a:rPr lang="en-GB" b="1" i="1" dirty="0" err="1"/>
              <a:t>thành</a:t>
            </a:r>
            <a:r>
              <a:rPr lang="en-GB" b="1" i="1" dirty="0"/>
              <a:t> </a:t>
            </a:r>
            <a:r>
              <a:rPr lang="en-GB" b="1" i="1" dirty="0" err="1"/>
              <a:t>những</a:t>
            </a:r>
            <a:r>
              <a:rPr lang="en-GB" b="1" i="1" dirty="0"/>
              <a:t> </a:t>
            </a:r>
            <a:r>
              <a:rPr lang="en-GB" b="1" i="1" dirty="0" err="1"/>
              <a:t>cái</a:t>
            </a:r>
            <a:r>
              <a:rPr lang="en-GB" b="1" i="1" dirty="0"/>
              <a:t> </a:t>
            </a:r>
            <a:r>
              <a:rPr lang="en-GB" b="1" i="1" dirty="0" err="1"/>
              <a:t>tên</a:t>
            </a:r>
            <a:r>
              <a:rPr lang="en-GB" dirty="0"/>
              <a:t>, </a:t>
            </a:r>
            <a:r>
              <a:rPr lang="en-GB" dirty="0" err="1"/>
              <a:t>giúp</a:t>
            </a:r>
            <a:r>
              <a:rPr lang="en-GB" dirty="0"/>
              <a:t> </a:t>
            </a:r>
            <a:r>
              <a:rPr lang="en-GB" dirty="0" err="1"/>
              <a:t>người</a:t>
            </a:r>
            <a:r>
              <a:rPr lang="en-GB" dirty="0"/>
              <a:t> </a:t>
            </a:r>
            <a:r>
              <a:rPr lang="en-GB" dirty="0" err="1"/>
              <a:t>dùng</a:t>
            </a:r>
            <a:r>
              <a:rPr lang="en-GB" dirty="0"/>
              <a:t> </a:t>
            </a:r>
            <a:r>
              <a:rPr lang="en-GB" dirty="0" err="1"/>
              <a:t>dễ</a:t>
            </a:r>
            <a:r>
              <a:rPr lang="en-GB" dirty="0"/>
              <a:t> </a:t>
            </a:r>
            <a:r>
              <a:rPr lang="en-GB" dirty="0" err="1"/>
              <a:t>nhớ</a:t>
            </a:r>
            <a:r>
              <a:rPr lang="en-GB" dirty="0"/>
              <a:t> </a:t>
            </a:r>
            <a:r>
              <a:rPr lang="en-GB" dirty="0" err="1"/>
              <a:t>hơn</a:t>
            </a:r>
            <a:r>
              <a:rPr lang="en-GB" dirty="0"/>
              <a:t>.</a:t>
            </a:r>
          </a:p>
          <a:p>
            <a:pPr algn="just">
              <a:lnSpc>
                <a:spcPct val="100000"/>
              </a:lnSpc>
            </a:pPr>
            <a:endParaRPr lang="en-US" dirty="0"/>
          </a:p>
        </p:txBody>
      </p:sp>
      <p:pic>
        <p:nvPicPr>
          <p:cNvPr id="5" name="Picture 4">
            <a:extLst>
              <a:ext uri="{FF2B5EF4-FFF2-40B4-BE49-F238E27FC236}">
                <a16:creationId xmlns:a16="http://schemas.microsoft.com/office/drawing/2014/main" id="{4573942A-D95D-47AE-AD56-7A6221D547B3}"/>
              </a:ext>
            </a:extLst>
          </p:cNvPr>
          <p:cNvPicPr>
            <a:picLocks noChangeAspect="1"/>
          </p:cNvPicPr>
          <p:nvPr/>
        </p:nvPicPr>
        <p:blipFill>
          <a:blip r:embed="rId2"/>
          <a:stretch>
            <a:fillRect/>
          </a:stretch>
        </p:blipFill>
        <p:spPr>
          <a:xfrm>
            <a:off x="2975841" y="3620655"/>
            <a:ext cx="1411127" cy="830997"/>
          </a:xfrm>
          <a:prstGeom prst="rect">
            <a:avLst/>
          </a:prstGeom>
        </p:spPr>
      </p:pic>
      <p:pic>
        <p:nvPicPr>
          <p:cNvPr id="6" name="Picture 5">
            <a:extLst>
              <a:ext uri="{FF2B5EF4-FFF2-40B4-BE49-F238E27FC236}">
                <a16:creationId xmlns:a16="http://schemas.microsoft.com/office/drawing/2014/main" id="{A91BE397-86AA-4A7E-9B07-F8B1C7DC07D6}"/>
              </a:ext>
            </a:extLst>
          </p:cNvPr>
          <p:cNvPicPr>
            <a:picLocks noChangeAspect="1"/>
          </p:cNvPicPr>
          <p:nvPr/>
        </p:nvPicPr>
        <p:blipFill rotWithShape="1">
          <a:blip r:embed="rId3"/>
          <a:srcRect b="16923"/>
          <a:stretch/>
        </p:blipFill>
        <p:spPr>
          <a:xfrm>
            <a:off x="2975841" y="4725993"/>
            <a:ext cx="1411127" cy="901791"/>
          </a:xfrm>
          <a:prstGeom prst="rect">
            <a:avLst/>
          </a:prstGeom>
        </p:spPr>
      </p:pic>
      <p:sp>
        <p:nvSpPr>
          <p:cNvPr id="7" name="TextBox 6">
            <a:extLst>
              <a:ext uri="{FF2B5EF4-FFF2-40B4-BE49-F238E27FC236}">
                <a16:creationId xmlns:a16="http://schemas.microsoft.com/office/drawing/2014/main" id="{844D9166-200E-4EE4-9C79-3C992A305510}"/>
              </a:ext>
            </a:extLst>
          </p:cNvPr>
          <p:cNvSpPr txBox="1"/>
          <p:nvPr/>
        </p:nvSpPr>
        <p:spPr>
          <a:xfrm>
            <a:off x="4599709" y="3750778"/>
            <a:ext cx="3390672" cy="646331"/>
          </a:xfrm>
          <a:prstGeom prst="rect">
            <a:avLst/>
          </a:prstGeom>
          <a:noFill/>
        </p:spPr>
        <p:txBody>
          <a:bodyPr wrap="none" rtlCol="0">
            <a:spAutoFit/>
          </a:bodyPr>
          <a:lstStyle/>
          <a:p>
            <a:r>
              <a:rPr lang="en-US" sz="3600" b="1" dirty="0"/>
              <a:t>74.220.193.173</a:t>
            </a:r>
          </a:p>
        </p:txBody>
      </p:sp>
      <p:sp>
        <p:nvSpPr>
          <p:cNvPr id="10" name="TextBox 9">
            <a:extLst>
              <a:ext uri="{FF2B5EF4-FFF2-40B4-BE49-F238E27FC236}">
                <a16:creationId xmlns:a16="http://schemas.microsoft.com/office/drawing/2014/main" id="{627FAC5B-5D7F-4168-9A59-8390021E11A5}"/>
              </a:ext>
            </a:extLst>
          </p:cNvPr>
          <p:cNvSpPr txBox="1"/>
          <p:nvPr/>
        </p:nvSpPr>
        <p:spPr>
          <a:xfrm>
            <a:off x="4599709" y="4858327"/>
            <a:ext cx="3461204" cy="707886"/>
          </a:xfrm>
          <a:prstGeom prst="rect">
            <a:avLst/>
          </a:prstGeom>
          <a:noFill/>
        </p:spPr>
        <p:txBody>
          <a:bodyPr wrap="none" rtlCol="0">
            <a:spAutoFit/>
          </a:bodyPr>
          <a:lstStyle/>
          <a:p>
            <a:r>
              <a:rPr lang="en-US" sz="4000" b="1" dirty="0"/>
              <a:t>webnots.com</a:t>
            </a:r>
          </a:p>
        </p:txBody>
      </p:sp>
    </p:spTree>
    <p:extLst>
      <p:ext uri="{BB962C8B-B14F-4D97-AF65-F5344CB8AC3E}">
        <p14:creationId xmlns:p14="http://schemas.microsoft.com/office/powerpoint/2010/main" val="2966543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3337-9D57-4A26-8FFA-C641FA178320}"/>
              </a:ext>
            </a:extLst>
          </p:cNvPr>
          <p:cNvSpPr>
            <a:spLocks noGrp="1"/>
          </p:cNvSpPr>
          <p:nvPr>
            <p:ph type="title"/>
          </p:nvPr>
        </p:nvSpPr>
        <p:spPr/>
        <p:txBody>
          <a:bodyPr/>
          <a:lstStyle/>
          <a:p>
            <a:r>
              <a:rPr lang="en-GB" dirty="0" err="1"/>
              <a:t>Tên</a:t>
            </a:r>
            <a:r>
              <a:rPr lang="en-GB" dirty="0"/>
              <a:t> </a:t>
            </a:r>
            <a:r>
              <a:rPr lang="en-GB" dirty="0" err="1"/>
              <a:t>miền</a:t>
            </a:r>
            <a:r>
              <a:rPr lang="en-GB" dirty="0"/>
              <a:t> (Domain name – DN)</a:t>
            </a:r>
            <a:endParaRPr lang="en-US" dirty="0"/>
          </a:p>
        </p:txBody>
      </p:sp>
      <p:sp>
        <p:nvSpPr>
          <p:cNvPr id="3" name="Content Placeholder 2">
            <a:extLst>
              <a:ext uri="{FF2B5EF4-FFF2-40B4-BE49-F238E27FC236}">
                <a16:creationId xmlns:a16="http://schemas.microsoft.com/office/drawing/2014/main" id="{2A59A2B0-6ABB-452F-9380-249D91E15068}"/>
              </a:ext>
            </a:extLst>
          </p:cNvPr>
          <p:cNvSpPr>
            <a:spLocks noGrp="1"/>
          </p:cNvSpPr>
          <p:nvPr>
            <p:ph idx="1"/>
          </p:nvPr>
        </p:nvSpPr>
        <p:spPr/>
        <p:txBody>
          <a:bodyPr/>
          <a:lstStyle/>
          <a:p>
            <a:pPr algn="just">
              <a:lnSpc>
                <a:spcPct val="100000"/>
              </a:lnSpc>
            </a:pPr>
            <a:r>
              <a:rPr lang="vi-VN" b="1" dirty="0">
                <a:solidFill>
                  <a:srgbClr val="FF0000"/>
                </a:solidFill>
              </a:rPr>
              <a:t>Một tên miền bao gồm ba nhãn </a:t>
            </a:r>
            <a:r>
              <a:rPr lang="vi-VN" dirty="0"/>
              <a:t>được phân tách bằng dấu chấm hoặc dấu chấm:</a:t>
            </a:r>
            <a:endParaRPr lang="en-US" dirty="0"/>
          </a:p>
          <a:p>
            <a:pPr lvl="1" algn="just">
              <a:lnSpc>
                <a:spcPct val="100000"/>
              </a:lnSpc>
            </a:pPr>
            <a:r>
              <a:rPr lang="en-US" b="1" dirty="0">
                <a:solidFill>
                  <a:srgbClr val="FF0000"/>
                </a:solidFill>
              </a:rPr>
              <a:t>Server Name</a:t>
            </a:r>
            <a:r>
              <a:rPr lang="en-US" b="1" dirty="0"/>
              <a:t>: </a:t>
            </a:r>
            <a:r>
              <a:rPr lang="en-US" dirty="0" err="1"/>
              <a:t>Xác</a:t>
            </a:r>
            <a:r>
              <a:rPr lang="en-US" dirty="0"/>
              <a:t> </a:t>
            </a:r>
            <a:r>
              <a:rPr lang="en-US" dirty="0" err="1"/>
              <a:t>định</a:t>
            </a:r>
            <a:r>
              <a:rPr lang="en-US" dirty="0"/>
              <a:t> </a:t>
            </a:r>
            <a:r>
              <a:rPr lang="en-US" dirty="0" err="1"/>
              <a:t>tên</a:t>
            </a:r>
            <a:r>
              <a:rPr lang="en-US" dirty="0"/>
              <a:t> </a:t>
            </a:r>
            <a:r>
              <a:rPr lang="en-US" dirty="0" err="1"/>
              <a:t>của</a:t>
            </a:r>
            <a:r>
              <a:rPr lang="en-US" dirty="0"/>
              <a:t> </a:t>
            </a:r>
            <a:r>
              <a:rPr lang="en-US" b="1" dirty="0" err="1"/>
              <a:t>máy</a:t>
            </a:r>
            <a:r>
              <a:rPr lang="en-US" b="1" dirty="0"/>
              <a:t> </a:t>
            </a:r>
            <a:r>
              <a:rPr lang="en-US" b="1" dirty="0" err="1"/>
              <a:t>chủ</a:t>
            </a:r>
            <a:r>
              <a:rPr lang="en-US" b="1" dirty="0"/>
              <a:t> web</a:t>
            </a:r>
          </a:p>
          <a:p>
            <a:pPr lvl="1" algn="just">
              <a:lnSpc>
                <a:spcPct val="100000"/>
              </a:lnSpc>
            </a:pPr>
            <a:r>
              <a:rPr lang="en-US" sz="2400" b="1" dirty="0">
                <a:solidFill>
                  <a:srgbClr val="FF0000"/>
                </a:solidFill>
              </a:rPr>
              <a:t>Registered Domain Name</a:t>
            </a:r>
            <a:r>
              <a:rPr lang="en-US" sz="2400" b="1" dirty="0"/>
              <a:t>: </a:t>
            </a:r>
            <a:r>
              <a:rPr lang="vi-VN" sz="2400" dirty="0"/>
              <a:t>Xác định tổ chức sở hữu tên miền. </a:t>
            </a:r>
            <a:r>
              <a:rPr lang="vi-VN" sz="2400" b="1" i="1" dirty="0"/>
              <a:t>Mỗi tên miền là duy nhất </a:t>
            </a:r>
            <a:r>
              <a:rPr lang="vi-VN" sz="2400" dirty="0"/>
              <a:t>và được đăng ký với </a:t>
            </a:r>
            <a:r>
              <a:rPr lang="vi-VN" sz="2400" b="1" dirty="0"/>
              <a:t>ICANN</a:t>
            </a:r>
            <a:r>
              <a:rPr lang="en-US" sz="2400" dirty="0"/>
              <a:t> (</a:t>
            </a:r>
            <a:r>
              <a:rPr lang="en-US" sz="2400" b="1" i="1" dirty="0"/>
              <a:t>I</a:t>
            </a:r>
            <a:r>
              <a:rPr lang="en-US" sz="2400" i="1" dirty="0"/>
              <a:t>nternet </a:t>
            </a:r>
            <a:r>
              <a:rPr lang="en-US" sz="2400" b="1" i="1" dirty="0"/>
              <a:t>C</a:t>
            </a:r>
            <a:r>
              <a:rPr lang="en-US" sz="2400" i="1" dirty="0"/>
              <a:t>orporation for </a:t>
            </a:r>
            <a:r>
              <a:rPr lang="en-US" sz="2400" b="1" i="1" dirty="0"/>
              <a:t>A</a:t>
            </a:r>
            <a:r>
              <a:rPr lang="en-US" sz="2400" i="1" dirty="0"/>
              <a:t>ssigned </a:t>
            </a:r>
            <a:r>
              <a:rPr lang="en-US" sz="2400" b="1" i="1" dirty="0"/>
              <a:t>N</a:t>
            </a:r>
            <a:r>
              <a:rPr lang="en-US" sz="2400" i="1" dirty="0"/>
              <a:t>ames and </a:t>
            </a:r>
            <a:r>
              <a:rPr lang="en-US" sz="2400" b="1" i="1" dirty="0"/>
              <a:t>N</a:t>
            </a:r>
            <a:r>
              <a:rPr lang="en-US" sz="2400" i="1" dirty="0"/>
              <a:t>umbers</a:t>
            </a:r>
            <a:r>
              <a:rPr lang="en-US" sz="2400" dirty="0"/>
              <a:t>)</a:t>
            </a:r>
            <a:r>
              <a:rPr lang="vi-VN" sz="2400" dirty="0"/>
              <a:t>.</a:t>
            </a:r>
            <a:endParaRPr lang="en-US" sz="2400" dirty="0"/>
          </a:p>
          <a:p>
            <a:pPr lvl="1" algn="just">
              <a:lnSpc>
                <a:spcPct val="100000"/>
              </a:lnSpc>
            </a:pPr>
            <a:r>
              <a:rPr lang="en-US" sz="2400" b="1" dirty="0">
                <a:solidFill>
                  <a:srgbClr val="FF0000"/>
                </a:solidFill>
              </a:rPr>
              <a:t>Top-level Domain</a:t>
            </a:r>
            <a:r>
              <a:rPr lang="en-US" sz="2400" dirty="0"/>
              <a:t>: </a:t>
            </a:r>
            <a:r>
              <a:rPr lang="en-US" sz="2400" dirty="0" err="1"/>
              <a:t>Xác</a:t>
            </a:r>
            <a:r>
              <a:rPr lang="en-US" sz="2400" dirty="0"/>
              <a:t> </a:t>
            </a:r>
            <a:r>
              <a:rPr lang="en-US" sz="2400" dirty="0" err="1"/>
              <a:t>định</a:t>
            </a:r>
            <a:r>
              <a:rPr lang="en-US" sz="2400" dirty="0"/>
              <a:t> </a:t>
            </a:r>
            <a:r>
              <a:rPr lang="en-US" sz="2400" dirty="0" err="1"/>
              <a:t>danh</a:t>
            </a:r>
            <a:r>
              <a:rPr lang="en-US" sz="2400" dirty="0"/>
              <a:t> </a:t>
            </a:r>
            <a:r>
              <a:rPr lang="en-US" sz="2400" dirty="0" err="1"/>
              <a:t>mục</a:t>
            </a:r>
            <a:r>
              <a:rPr lang="en-US" sz="2400" dirty="0"/>
              <a:t> </a:t>
            </a:r>
            <a:r>
              <a:rPr lang="en-US" sz="2400" dirty="0" err="1"/>
              <a:t>của</a:t>
            </a:r>
            <a:r>
              <a:rPr lang="en-US" sz="2400" dirty="0"/>
              <a:t> </a:t>
            </a:r>
            <a:r>
              <a:rPr lang="en-US" sz="2400" dirty="0" err="1"/>
              <a:t>tên</a:t>
            </a:r>
            <a:r>
              <a:rPr lang="en-US" sz="2400" dirty="0"/>
              <a:t> </a:t>
            </a:r>
            <a:r>
              <a:rPr lang="en-US" sz="2400" dirty="0" err="1"/>
              <a:t>miền</a:t>
            </a:r>
            <a:r>
              <a:rPr lang="en-US" sz="2400" dirty="0"/>
              <a:t> </a:t>
            </a:r>
            <a:r>
              <a:rPr lang="en-US" sz="2400" dirty="0" err="1"/>
              <a:t>đã</a:t>
            </a:r>
            <a:r>
              <a:rPr lang="en-US" sz="2400" dirty="0"/>
              <a:t> </a:t>
            </a:r>
            <a:r>
              <a:rPr lang="en-US" sz="2400" dirty="0" err="1"/>
              <a:t>đăng</a:t>
            </a:r>
            <a:r>
              <a:rPr lang="en-US" sz="2400" dirty="0"/>
              <a:t> </a:t>
            </a:r>
            <a:r>
              <a:rPr lang="en-US" sz="2400" dirty="0" err="1"/>
              <a:t>ký</a:t>
            </a:r>
            <a:endParaRPr lang="en-US" dirty="0"/>
          </a:p>
        </p:txBody>
      </p:sp>
      <p:pic>
        <p:nvPicPr>
          <p:cNvPr id="5" name="Picture 4">
            <a:extLst>
              <a:ext uri="{FF2B5EF4-FFF2-40B4-BE49-F238E27FC236}">
                <a16:creationId xmlns:a16="http://schemas.microsoft.com/office/drawing/2014/main" id="{5DEF237F-0632-4518-9FF5-D945CB30DBB4}"/>
              </a:ext>
            </a:extLst>
          </p:cNvPr>
          <p:cNvPicPr>
            <a:picLocks noChangeAspect="1"/>
          </p:cNvPicPr>
          <p:nvPr/>
        </p:nvPicPr>
        <p:blipFill>
          <a:blip r:embed="rId2"/>
          <a:stretch>
            <a:fillRect/>
          </a:stretch>
        </p:blipFill>
        <p:spPr>
          <a:xfrm>
            <a:off x="4100362" y="4498243"/>
            <a:ext cx="4539330" cy="18000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6279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886C2-A0E1-4ECB-B4CD-2D5A4FDA6E6D}"/>
              </a:ext>
            </a:extLst>
          </p:cNvPr>
          <p:cNvSpPr>
            <a:spLocks noGrp="1"/>
          </p:cNvSpPr>
          <p:nvPr>
            <p:ph type="title"/>
          </p:nvPr>
        </p:nvSpPr>
        <p:spPr/>
        <p:txBody>
          <a:bodyPr/>
          <a:lstStyle/>
          <a:p>
            <a:r>
              <a:rPr lang="en-GB" dirty="0" err="1"/>
              <a:t>Tên</a:t>
            </a:r>
            <a:r>
              <a:rPr lang="en-GB" dirty="0"/>
              <a:t> </a:t>
            </a:r>
            <a:r>
              <a:rPr lang="en-GB" dirty="0" err="1"/>
              <a:t>miền</a:t>
            </a:r>
            <a:r>
              <a:rPr lang="en-GB" dirty="0"/>
              <a:t> (Domain name – DN)</a:t>
            </a:r>
            <a:endParaRPr lang="en-US" dirty="0"/>
          </a:p>
        </p:txBody>
      </p:sp>
      <p:sp>
        <p:nvSpPr>
          <p:cNvPr id="3" name="Content Placeholder 2">
            <a:extLst>
              <a:ext uri="{FF2B5EF4-FFF2-40B4-BE49-F238E27FC236}">
                <a16:creationId xmlns:a16="http://schemas.microsoft.com/office/drawing/2014/main" id="{48C814B7-7256-4C70-B502-042BFE2F9F67}"/>
              </a:ext>
            </a:extLst>
          </p:cNvPr>
          <p:cNvSpPr>
            <a:spLocks noGrp="1"/>
          </p:cNvSpPr>
          <p:nvPr>
            <p:ph idx="1"/>
          </p:nvPr>
        </p:nvSpPr>
        <p:spPr>
          <a:xfrm>
            <a:off x="1104900" y="1388006"/>
            <a:ext cx="9982200" cy="5469994"/>
          </a:xfrm>
        </p:spPr>
        <p:txBody>
          <a:bodyPr>
            <a:normAutofit/>
          </a:bodyPr>
          <a:lstStyle/>
          <a:p>
            <a:pPr algn="just">
              <a:lnSpc>
                <a:spcPct val="100000"/>
              </a:lnSpc>
            </a:pPr>
            <a:r>
              <a:rPr lang="en-US" b="1" dirty="0" err="1">
                <a:solidFill>
                  <a:srgbClr val="FF0000"/>
                </a:solidFill>
              </a:rPr>
              <a:t>Hệ</a:t>
            </a:r>
            <a:r>
              <a:rPr lang="en-US" b="1" dirty="0">
                <a:solidFill>
                  <a:srgbClr val="FF0000"/>
                </a:solidFill>
              </a:rPr>
              <a:t> </a:t>
            </a:r>
            <a:r>
              <a:rPr lang="en-US" b="1" dirty="0" err="1">
                <a:solidFill>
                  <a:srgbClr val="FF0000"/>
                </a:solidFill>
              </a:rPr>
              <a:t>thống</a:t>
            </a:r>
            <a:r>
              <a:rPr lang="en-US" b="1" dirty="0">
                <a:solidFill>
                  <a:srgbClr val="FF0000"/>
                </a:solidFill>
              </a:rPr>
              <a:t> </a:t>
            </a:r>
            <a:r>
              <a:rPr lang="en-US" b="1" dirty="0" err="1">
                <a:solidFill>
                  <a:srgbClr val="FF0000"/>
                </a:solidFill>
              </a:rPr>
              <a:t>tên</a:t>
            </a:r>
            <a:r>
              <a:rPr lang="en-US" b="1" dirty="0">
                <a:solidFill>
                  <a:srgbClr val="FF0000"/>
                </a:solidFill>
              </a:rPr>
              <a:t> </a:t>
            </a:r>
            <a:r>
              <a:rPr lang="en-US" b="1" dirty="0" err="1">
                <a:solidFill>
                  <a:srgbClr val="FF0000"/>
                </a:solidFill>
              </a:rPr>
              <a:t>miền</a:t>
            </a:r>
            <a:r>
              <a:rPr lang="en-US" b="1" dirty="0">
                <a:solidFill>
                  <a:srgbClr val="FF0000"/>
                </a:solidFill>
              </a:rPr>
              <a:t> (</a:t>
            </a:r>
            <a:r>
              <a:rPr lang="vi-VN" b="1" dirty="0">
                <a:solidFill>
                  <a:srgbClr val="FF0000"/>
                </a:solidFill>
              </a:rPr>
              <a:t>D</a:t>
            </a:r>
            <a:r>
              <a:rPr lang="en-US" b="1" dirty="0" err="1">
                <a:solidFill>
                  <a:srgbClr val="FF0000"/>
                </a:solidFill>
              </a:rPr>
              <a:t>omain</a:t>
            </a:r>
            <a:r>
              <a:rPr lang="en-US" b="1" dirty="0">
                <a:solidFill>
                  <a:srgbClr val="FF0000"/>
                </a:solidFill>
              </a:rPr>
              <a:t> </a:t>
            </a:r>
            <a:r>
              <a:rPr lang="vi-VN" b="1" dirty="0">
                <a:solidFill>
                  <a:srgbClr val="FF0000"/>
                </a:solidFill>
              </a:rPr>
              <a:t>N</a:t>
            </a:r>
            <a:r>
              <a:rPr lang="en-US" b="1" dirty="0" err="1">
                <a:solidFill>
                  <a:srgbClr val="FF0000"/>
                </a:solidFill>
              </a:rPr>
              <a:t>ame</a:t>
            </a:r>
            <a:r>
              <a:rPr lang="en-US" b="1" dirty="0">
                <a:solidFill>
                  <a:srgbClr val="FF0000"/>
                </a:solidFill>
              </a:rPr>
              <a:t> </a:t>
            </a:r>
            <a:r>
              <a:rPr lang="vi-VN" b="1" dirty="0">
                <a:solidFill>
                  <a:srgbClr val="FF0000"/>
                </a:solidFill>
              </a:rPr>
              <a:t>S</a:t>
            </a:r>
            <a:r>
              <a:rPr lang="en-US" b="1" dirty="0" err="1">
                <a:solidFill>
                  <a:srgbClr val="FF0000"/>
                </a:solidFill>
              </a:rPr>
              <a:t>ystem</a:t>
            </a:r>
            <a:r>
              <a:rPr lang="en-US" b="1" dirty="0">
                <a:solidFill>
                  <a:srgbClr val="FF0000"/>
                </a:solidFill>
              </a:rPr>
              <a:t>)</a:t>
            </a:r>
            <a:r>
              <a:rPr lang="vi-VN" b="1" dirty="0">
                <a:solidFill>
                  <a:srgbClr val="FF0000"/>
                </a:solidFill>
              </a:rPr>
              <a:t> </a:t>
            </a:r>
            <a:r>
              <a:rPr lang="vi-VN" dirty="0"/>
              <a:t>được </a:t>
            </a:r>
            <a:r>
              <a:rPr lang="en-US" dirty="0" err="1"/>
              <a:t>tổ</a:t>
            </a:r>
            <a:r>
              <a:rPr lang="en-US" dirty="0"/>
              <a:t> </a:t>
            </a:r>
            <a:r>
              <a:rPr lang="en-US" dirty="0" err="1"/>
              <a:t>chức</a:t>
            </a:r>
            <a:r>
              <a:rPr lang="en-US" dirty="0"/>
              <a:t> </a:t>
            </a:r>
            <a:r>
              <a:rPr lang="vi-VN" dirty="0"/>
              <a:t>thành ba cấp độ:</a:t>
            </a:r>
            <a:endParaRPr lang="en-US" dirty="0"/>
          </a:p>
          <a:p>
            <a:pPr lvl="1" algn="just">
              <a:lnSpc>
                <a:spcPct val="100000"/>
              </a:lnSpc>
            </a:pPr>
            <a:r>
              <a:rPr lang="en-US" sz="2800" dirty="0"/>
              <a:t>Top-level domains </a:t>
            </a:r>
          </a:p>
          <a:p>
            <a:pPr lvl="1" algn="just">
              <a:lnSpc>
                <a:spcPct val="100000"/>
              </a:lnSpc>
            </a:pPr>
            <a:r>
              <a:rPr lang="en-US" sz="2800" dirty="0"/>
              <a:t>Second-level domains</a:t>
            </a:r>
          </a:p>
          <a:p>
            <a:pPr lvl="1" algn="just">
              <a:lnSpc>
                <a:spcPct val="100000"/>
              </a:lnSpc>
            </a:pPr>
            <a:r>
              <a:rPr lang="en-US" sz="2800" dirty="0"/>
              <a:t>Root-level domain</a:t>
            </a:r>
          </a:p>
          <a:p>
            <a:pPr>
              <a:lnSpc>
                <a:spcPct val="100000"/>
              </a:lnSpc>
            </a:pPr>
            <a:endParaRPr lang="en-US" dirty="0"/>
          </a:p>
        </p:txBody>
      </p:sp>
    </p:spTree>
    <p:extLst>
      <p:ext uri="{BB962C8B-B14F-4D97-AF65-F5344CB8AC3E}">
        <p14:creationId xmlns:p14="http://schemas.microsoft.com/office/powerpoint/2010/main" val="1211374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1F9B-7CE3-41B9-A575-56E047CBFFEE}"/>
              </a:ext>
            </a:extLst>
          </p:cNvPr>
          <p:cNvSpPr>
            <a:spLocks noGrp="1"/>
          </p:cNvSpPr>
          <p:nvPr>
            <p:ph type="title"/>
          </p:nvPr>
        </p:nvSpPr>
        <p:spPr/>
        <p:txBody>
          <a:bodyPr/>
          <a:lstStyle/>
          <a:p>
            <a:r>
              <a:rPr lang="en-GB" dirty="0" err="1"/>
              <a:t>Tên</a:t>
            </a:r>
            <a:r>
              <a:rPr lang="en-GB" dirty="0"/>
              <a:t> </a:t>
            </a:r>
            <a:r>
              <a:rPr lang="en-GB" dirty="0" err="1"/>
              <a:t>miền</a:t>
            </a:r>
            <a:r>
              <a:rPr lang="en-GB" dirty="0"/>
              <a:t> (Domain name – DN)</a:t>
            </a:r>
            <a:endParaRPr lang="en-US" dirty="0"/>
          </a:p>
        </p:txBody>
      </p:sp>
      <p:sp>
        <p:nvSpPr>
          <p:cNvPr id="3" name="Content Placeholder 2">
            <a:extLst>
              <a:ext uri="{FF2B5EF4-FFF2-40B4-BE49-F238E27FC236}">
                <a16:creationId xmlns:a16="http://schemas.microsoft.com/office/drawing/2014/main" id="{D40242B3-9111-488F-B88B-9290277C879B}"/>
              </a:ext>
            </a:extLst>
          </p:cNvPr>
          <p:cNvSpPr>
            <a:spLocks noGrp="1"/>
          </p:cNvSpPr>
          <p:nvPr>
            <p:ph idx="1"/>
          </p:nvPr>
        </p:nvSpPr>
        <p:spPr/>
        <p:txBody>
          <a:bodyPr/>
          <a:lstStyle/>
          <a:p>
            <a:pPr>
              <a:lnSpc>
                <a:spcPct val="100000"/>
              </a:lnSpc>
            </a:pPr>
            <a:r>
              <a:rPr lang="en-US" sz="3200" b="1" dirty="0">
                <a:solidFill>
                  <a:srgbClr val="FF0000"/>
                </a:solidFill>
              </a:rPr>
              <a:t>Top-level domains</a:t>
            </a:r>
            <a:r>
              <a:rPr lang="en-US" b="1" dirty="0"/>
              <a:t>: </a:t>
            </a:r>
            <a:r>
              <a:rPr lang="vi-VN" dirty="0"/>
              <a:t>Có hai nhóm chính </a:t>
            </a:r>
            <a:endParaRPr lang="en-US" dirty="0"/>
          </a:p>
          <a:p>
            <a:pPr lvl="1">
              <a:lnSpc>
                <a:spcPct val="100000"/>
              </a:lnSpc>
            </a:pPr>
            <a:r>
              <a:rPr lang="en-US" b="1" dirty="0"/>
              <a:t>Generic Top-Level Domains: </a:t>
            </a:r>
            <a:r>
              <a:rPr lang="vi-VN" dirty="0"/>
              <a:t>thương mại, giáo dục, quân sự, v.v.</a:t>
            </a:r>
            <a:endParaRPr lang="en-US" dirty="0"/>
          </a:p>
        </p:txBody>
      </p:sp>
      <p:graphicFrame>
        <p:nvGraphicFramePr>
          <p:cNvPr id="4" name="Table 3">
            <a:extLst>
              <a:ext uri="{FF2B5EF4-FFF2-40B4-BE49-F238E27FC236}">
                <a16:creationId xmlns:a16="http://schemas.microsoft.com/office/drawing/2014/main" id="{CC5B83FF-A816-40CD-82DD-07522183B908}"/>
              </a:ext>
            </a:extLst>
          </p:cNvPr>
          <p:cNvGraphicFramePr>
            <a:graphicFrameLocks noGrp="1"/>
          </p:cNvGraphicFramePr>
          <p:nvPr>
            <p:extLst>
              <p:ext uri="{D42A27DB-BD31-4B8C-83A1-F6EECF244321}">
                <p14:modId xmlns:p14="http://schemas.microsoft.com/office/powerpoint/2010/main" val="3464526866"/>
              </p:ext>
            </p:extLst>
          </p:nvPr>
        </p:nvGraphicFramePr>
        <p:xfrm>
          <a:off x="1860295" y="2672542"/>
          <a:ext cx="8691418" cy="3499658"/>
        </p:xfrm>
        <a:graphic>
          <a:graphicData uri="http://schemas.openxmlformats.org/drawingml/2006/table">
            <a:tbl>
              <a:tblPr firstRow="1" firstCol="1" bandRow="1">
                <a:tableStyleId>{5940675A-B579-460E-94D1-54222C63F5DA}</a:tableStyleId>
              </a:tblPr>
              <a:tblGrid>
                <a:gridCol w="1225595">
                  <a:extLst>
                    <a:ext uri="{9D8B030D-6E8A-4147-A177-3AD203B41FA5}">
                      <a16:colId xmlns:a16="http://schemas.microsoft.com/office/drawing/2014/main" val="1343643467"/>
                    </a:ext>
                  </a:extLst>
                </a:gridCol>
                <a:gridCol w="7465823">
                  <a:extLst>
                    <a:ext uri="{9D8B030D-6E8A-4147-A177-3AD203B41FA5}">
                      <a16:colId xmlns:a16="http://schemas.microsoft.com/office/drawing/2014/main" val="693738415"/>
                    </a:ext>
                  </a:extLst>
                </a:gridCol>
              </a:tblGrid>
              <a:tr h="478914">
                <a:tc>
                  <a:txBody>
                    <a:bodyPr/>
                    <a:lstStyle/>
                    <a:p>
                      <a:pPr marL="0" marR="0" algn="ctr">
                        <a:lnSpc>
                          <a:spcPct val="100000"/>
                        </a:lnSpc>
                        <a:spcBef>
                          <a:spcPts val="0"/>
                        </a:spcBef>
                        <a:spcAft>
                          <a:spcPts val="0"/>
                        </a:spcAft>
                      </a:pPr>
                      <a:r>
                        <a:rPr lang="en-US" sz="2400" b="1" dirty="0">
                          <a:effectLst/>
                        </a:rPr>
                        <a:t>.com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err="1">
                          <a:effectLst/>
                        </a:rPr>
                        <a:t>Đại</a:t>
                      </a:r>
                      <a:r>
                        <a:rPr lang="en-US" sz="2400" dirty="0">
                          <a:effectLst/>
                        </a:rPr>
                        <a:t> </a:t>
                      </a:r>
                      <a:r>
                        <a:rPr lang="en-US" sz="2400" dirty="0" err="1">
                          <a:effectLst/>
                        </a:rPr>
                        <a:t>diện</a:t>
                      </a:r>
                      <a:r>
                        <a:rPr lang="en-US" sz="2400" dirty="0">
                          <a:effectLst/>
                        </a:rPr>
                        <a:t> </a:t>
                      </a:r>
                      <a:r>
                        <a:rPr lang="en-US" sz="2400" dirty="0" err="1">
                          <a:effectLst/>
                        </a:rPr>
                        <a:t>cho</a:t>
                      </a:r>
                      <a:r>
                        <a:rPr lang="en-US" sz="2400" dirty="0">
                          <a:effectLst/>
                        </a:rPr>
                        <a:t> </a:t>
                      </a:r>
                      <a:r>
                        <a:rPr lang="en-US" sz="2400" dirty="0" err="1">
                          <a:effectLst/>
                        </a:rPr>
                        <a:t>các</a:t>
                      </a:r>
                      <a:r>
                        <a:rPr lang="en-US" sz="2400" dirty="0">
                          <a:effectLst/>
                        </a:rPr>
                        <a:t> </a:t>
                      </a:r>
                      <a:r>
                        <a:rPr lang="en-US" sz="2400" dirty="0" err="1">
                          <a:effectLst/>
                        </a:rPr>
                        <a:t>trang</a:t>
                      </a:r>
                      <a:r>
                        <a:rPr lang="en-US" sz="2400" dirty="0">
                          <a:effectLst/>
                        </a:rPr>
                        <a:t> web </a:t>
                      </a:r>
                      <a:r>
                        <a:rPr lang="en-US" sz="2400" dirty="0" err="1">
                          <a:effectLst/>
                        </a:rPr>
                        <a:t>thương</a:t>
                      </a:r>
                      <a:r>
                        <a:rPr lang="en-US" sz="2400" dirty="0">
                          <a:effectLst/>
                        </a:rPr>
                        <a:t> </a:t>
                      </a:r>
                      <a:r>
                        <a:rPr lang="en-US" sz="2400" dirty="0" err="1">
                          <a:effectLst/>
                        </a:rPr>
                        <a:t>mại</a:t>
                      </a:r>
                      <a:r>
                        <a:rPr lang="en-US" sz="2400" dirty="0">
                          <a:effectLst/>
                        </a:rPr>
                        <a:t> </a:t>
                      </a:r>
                      <a:r>
                        <a:rPr lang="en-US" sz="2400" dirty="0" err="1">
                          <a:effectLst/>
                        </a:rPr>
                        <a:t>hoặc</a:t>
                      </a:r>
                      <a:r>
                        <a:rPr lang="en-US" sz="2400" dirty="0">
                          <a:effectLst/>
                        </a:rPr>
                        <a:t> </a:t>
                      </a:r>
                      <a:r>
                        <a:rPr lang="en-US" sz="2400" dirty="0" err="1">
                          <a:effectLst/>
                        </a:rPr>
                        <a:t>công</a:t>
                      </a:r>
                      <a:r>
                        <a:rPr lang="en-US" sz="2400" dirty="0">
                          <a:effectLst/>
                        </a:rPr>
                        <a:t> ty.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32272696"/>
                  </a:ext>
                </a:extLst>
              </a:tr>
              <a:tr h="675952">
                <a:tc>
                  <a:txBody>
                    <a:bodyPr/>
                    <a:lstStyle/>
                    <a:p>
                      <a:pPr marL="0" marR="0" algn="ctr">
                        <a:lnSpc>
                          <a:spcPct val="100000"/>
                        </a:lnSpc>
                        <a:spcBef>
                          <a:spcPts val="0"/>
                        </a:spcBef>
                        <a:spcAft>
                          <a:spcPts val="0"/>
                        </a:spcAft>
                      </a:pPr>
                      <a:r>
                        <a:rPr lang="en-US" sz="2400" b="1" dirty="0" err="1">
                          <a:effectLst/>
                        </a:rPr>
                        <a:t>.net</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err="1">
                          <a:effectLst/>
                        </a:rPr>
                        <a:t>Một</a:t>
                      </a:r>
                      <a:r>
                        <a:rPr lang="en-US" sz="2400" dirty="0">
                          <a:effectLst/>
                        </a:rPr>
                        <a:t> </a:t>
                      </a:r>
                      <a:r>
                        <a:rPr lang="en-US" sz="2400" dirty="0" err="1">
                          <a:effectLst/>
                        </a:rPr>
                        <a:t>loại</a:t>
                      </a:r>
                      <a:r>
                        <a:rPr lang="en-US" sz="2400" dirty="0">
                          <a:effectLst/>
                        </a:rPr>
                        <a:t> </a:t>
                      </a:r>
                      <a:r>
                        <a:rPr lang="en-US" sz="2400" dirty="0" err="1">
                          <a:effectLst/>
                        </a:rPr>
                        <a:t>trang</a:t>
                      </a:r>
                      <a:r>
                        <a:rPr lang="en-US" sz="2400" dirty="0">
                          <a:effectLst/>
                        </a:rPr>
                        <a:t> web </a:t>
                      </a:r>
                      <a:r>
                        <a:rPr lang="en-US" sz="2400" dirty="0" err="1">
                          <a:effectLst/>
                        </a:rPr>
                        <a:t>thương</a:t>
                      </a:r>
                      <a:r>
                        <a:rPr lang="en-US" sz="2400" dirty="0">
                          <a:effectLst/>
                        </a:rPr>
                        <a:t> </a:t>
                      </a:r>
                      <a:r>
                        <a:rPr lang="en-US" sz="2400" dirty="0" err="1">
                          <a:effectLst/>
                        </a:rPr>
                        <a:t>mại</a:t>
                      </a:r>
                      <a:r>
                        <a:rPr lang="en-US" sz="2400" dirty="0">
                          <a:effectLst/>
                        </a:rPr>
                        <a:t>, </a:t>
                      </a:r>
                      <a:r>
                        <a:rPr lang="en-US" sz="2400" dirty="0" err="1">
                          <a:effectLst/>
                        </a:rPr>
                        <a:t>được</a:t>
                      </a:r>
                      <a:r>
                        <a:rPr lang="en-US" sz="2400" dirty="0">
                          <a:effectLst/>
                        </a:rPr>
                        <a:t> </a:t>
                      </a:r>
                      <a:r>
                        <a:rPr lang="en-US" sz="2400" dirty="0" err="1">
                          <a:effectLst/>
                        </a:rPr>
                        <a:t>quản</a:t>
                      </a:r>
                      <a:r>
                        <a:rPr lang="en-US" sz="2400" dirty="0">
                          <a:effectLst/>
                        </a:rPr>
                        <a:t> </a:t>
                      </a:r>
                      <a:r>
                        <a:rPr lang="en-US" sz="2400" dirty="0" err="1">
                          <a:effectLst/>
                        </a:rPr>
                        <a:t>lý</a:t>
                      </a:r>
                      <a:r>
                        <a:rPr lang="en-US" sz="2400" dirty="0">
                          <a:effectLst/>
                        </a:rPr>
                        <a:t> </a:t>
                      </a:r>
                      <a:r>
                        <a:rPr lang="en-US" sz="2400" dirty="0" err="1">
                          <a:effectLst/>
                        </a:rPr>
                        <a:t>bởi</a:t>
                      </a:r>
                      <a:r>
                        <a:rPr lang="en-US" sz="2400" dirty="0">
                          <a:effectLst/>
                        </a:rPr>
                        <a:t> ISP.</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93202209"/>
                  </a:ext>
                </a:extLst>
              </a:tr>
              <a:tr h="496427">
                <a:tc>
                  <a:txBody>
                    <a:bodyPr/>
                    <a:lstStyle/>
                    <a:p>
                      <a:pPr marL="0" marR="0" algn="ctr">
                        <a:lnSpc>
                          <a:spcPct val="100000"/>
                        </a:lnSpc>
                        <a:spcBef>
                          <a:spcPts val="0"/>
                        </a:spcBef>
                        <a:spcAft>
                          <a:spcPts val="0"/>
                        </a:spcAft>
                      </a:pPr>
                      <a:r>
                        <a:rPr lang="en-US" sz="2400" b="1" dirty="0">
                          <a:effectLst/>
                        </a:rPr>
                        <a:t>.</a:t>
                      </a:r>
                      <a:r>
                        <a:rPr lang="en-US" sz="2400" b="1" dirty="0" err="1">
                          <a:effectLst/>
                        </a:rPr>
                        <a:t>edu</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a:effectLst/>
                        </a:rPr>
                        <a:t>web </a:t>
                      </a:r>
                      <a:r>
                        <a:rPr lang="en-US" sz="2400" dirty="0" err="1">
                          <a:effectLst/>
                        </a:rPr>
                        <a:t>thuộc</a:t>
                      </a:r>
                      <a:r>
                        <a:rPr lang="en-US" sz="2400" dirty="0">
                          <a:effectLst/>
                        </a:rPr>
                        <a:t> </a:t>
                      </a:r>
                      <a:r>
                        <a:rPr lang="en-US" sz="2400" dirty="0" err="1">
                          <a:effectLst/>
                        </a:rPr>
                        <a:t>tổ</a:t>
                      </a:r>
                      <a:r>
                        <a:rPr lang="en-US" sz="2400" dirty="0">
                          <a:effectLst/>
                        </a:rPr>
                        <a:t> </a:t>
                      </a:r>
                      <a:r>
                        <a:rPr lang="en-US" sz="2400" dirty="0" err="1">
                          <a:effectLst/>
                        </a:rPr>
                        <a:t>chức</a:t>
                      </a:r>
                      <a:r>
                        <a:rPr lang="en-US" sz="2400" dirty="0">
                          <a:effectLst/>
                        </a:rPr>
                        <a:t> </a:t>
                      </a:r>
                      <a:r>
                        <a:rPr lang="en-US" sz="2400" dirty="0" err="1">
                          <a:effectLst/>
                        </a:rPr>
                        <a:t>giáo</a:t>
                      </a:r>
                      <a:r>
                        <a:rPr lang="en-US" sz="2400" dirty="0">
                          <a:effectLst/>
                        </a:rPr>
                        <a:t> </a:t>
                      </a:r>
                      <a:r>
                        <a:rPr lang="en-US" sz="2400" dirty="0" err="1">
                          <a:effectLst/>
                        </a:rPr>
                        <a:t>dục</a:t>
                      </a:r>
                      <a:r>
                        <a:rPr lang="en-US" sz="2400" dirty="0">
                          <a:effectLst/>
                        </a:rPr>
                        <a:t>,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17394887"/>
                  </a:ext>
                </a:extLst>
              </a:tr>
              <a:tr h="449054">
                <a:tc>
                  <a:txBody>
                    <a:bodyPr/>
                    <a:lstStyle/>
                    <a:p>
                      <a:pPr marL="0" marR="0" algn="ctr">
                        <a:lnSpc>
                          <a:spcPct val="100000"/>
                        </a:lnSpc>
                        <a:spcBef>
                          <a:spcPts val="0"/>
                        </a:spcBef>
                        <a:spcAft>
                          <a:spcPts val="0"/>
                        </a:spcAft>
                      </a:pPr>
                      <a:r>
                        <a:rPr lang="en-US" sz="2400" b="1" dirty="0">
                          <a:effectLst/>
                        </a:rPr>
                        <a:t>.gov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a:effectLst/>
                        </a:rPr>
                        <a:t>Web </a:t>
                      </a:r>
                      <a:r>
                        <a:rPr lang="en-US" sz="2400" dirty="0" err="1">
                          <a:effectLst/>
                        </a:rPr>
                        <a:t>chính</a:t>
                      </a:r>
                      <a:r>
                        <a:rPr lang="en-US" sz="2400" dirty="0">
                          <a:effectLst/>
                        </a:rPr>
                        <a:t> </a:t>
                      </a:r>
                      <a:r>
                        <a:rPr lang="en-US" sz="2400" dirty="0" err="1">
                          <a:effectLst/>
                        </a:rPr>
                        <a:t>phủ</a:t>
                      </a:r>
                      <a:r>
                        <a:rPr lang="en-US" sz="2400" dirty="0">
                          <a:effectLst/>
                        </a:rPr>
                        <a:t>.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0904204"/>
                  </a:ext>
                </a:extLst>
              </a:tr>
              <a:tr h="466437">
                <a:tc>
                  <a:txBody>
                    <a:bodyPr/>
                    <a:lstStyle/>
                    <a:p>
                      <a:pPr marL="0" marR="0" algn="ctr">
                        <a:lnSpc>
                          <a:spcPct val="100000"/>
                        </a:lnSpc>
                        <a:spcBef>
                          <a:spcPts val="0"/>
                        </a:spcBef>
                        <a:spcAft>
                          <a:spcPts val="0"/>
                        </a:spcAft>
                      </a:pPr>
                      <a:r>
                        <a:rPr lang="en-US" sz="2400" b="1" dirty="0">
                          <a:effectLst/>
                        </a:rPr>
                        <a:t>.int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a:effectLst/>
                        </a:rPr>
                        <a:t>Web </a:t>
                      </a:r>
                      <a:r>
                        <a:rPr lang="en-US" sz="2400" dirty="0" err="1">
                          <a:effectLst/>
                        </a:rPr>
                        <a:t>thuộc</a:t>
                      </a:r>
                      <a:r>
                        <a:rPr lang="en-US" sz="2400" dirty="0">
                          <a:effectLst/>
                        </a:rPr>
                        <a:t> </a:t>
                      </a:r>
                      <a:r>
                        <a:rPr lang="en-US" sz="2400" dirty="0" err="1">
                          <a:effectLst/>
                        </a:rPr>
                        <a:t>các</a:t>
                      </a:r>
                      <a:r>
                        <a:rPr lang="en-US" sz="2400" dirty="0">
                          <a:effectLst/>
                        </a:rPr>
                        <a:t> </a:t>
                      </a:r>
                      <a:r>
                        <a:rPr lang="en-US" sz="2400" dirty="0" err="1">
                          <a:effectLst/>
                        </a:rPr>
                        <a:t>tổ</a:t>
                      </a:r>
                      <a:r>
                        <a:rPr lang="en-US" sz="2400" dirty="0">
                          <a:effectLst/>
                        </a:rPr>
                        <a:t> </a:t>
                      </a:r>
                      <a:r>
                        <a:rPr lang="en-US" sz="2400" dirty="0" err="1">
                          <a:effectLst/>
                        </a:rPr>
                        <a:t>chức</a:t>
                      </a:r>
                      <a:r>
                        <a:rPr lang="en-US" sz="2400" dirty="0">
                          <a:effectLst/>
                        </a:rPr>
                        <a:t> </a:t>
                      </a:r>
                      <a:r>
                        <a:rPr lang="en-US" sz="2400" dirty="0" err="1">
                          <a:effectLst/>
                        </a:rPr>
                        <a:t>quốc</a:t>
                      </a:r>
                      <a:r>
                        <a:rPr lang="en-US" sz="2400" dirty="0">
                          <a:effectLst/>
                        </a:rPr>
                        <a:t> </a:t>
                      </a:r>
                      <a:r>
                        <a:rPr lang="en-US" sz="2400" dirty="0" err="1">
                          <a:effectLst/>
                        </a:rPr>
                        <a:t>tế</a:t>
                      </a:r>
                      <a:r>
                        <a:rPr lang="en-US" sz="2400" dirty="0">
                          <a:effectLst/>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26759456"/>
                  </a:ext>
                </a:extLst>
              </a:tr>
              <a:tr h="466437">
                <a:tc>
                  <a:txBody>
                    <a:bodyPr/>
                    <a:lstStyle/>
                    <a:p>
                      <a:pPr marL="0" marR="0" algn="ctr">
                        <a:lnSpc>
                          <a:spcPct val="100000"/>
                        </a:lnSpc>
                        <a:spcBef>
                          <a:spcPts val="0"/>
                        </a:spcBef>
                        <a:spcAft>
                          <a:spcPts val="0"/>
                        </a:spcAft>
                      </a:pPr>
                      <a:r>
                        <a:rPr lang="en-US" sz="2400" b="1" dirty="0">
                          <a:effectLst/>
                        </a:rPr>
                        <a:t>.mil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a:effectLst/>
                        </a:rPr>
                        <a:t>Web </a:t>
                      </a:r>
                      <a:r>
                        <a:rPr lang="en-US" sz="2400" dirty="0" err="1">
                          <a:effectLst/>
                        </a:rPr>
                        <a:t>thuộc</a:t>
                      </a:r>
                      <a:r>
                        <a:rPr lang="en-US" sz="2400" dirty="0">
                          <a:effectLst/>
                        </a:rPr>
                        <a:t> </a:t>
                      </a:r>
                      <a:r>
                        <a:rPr lang="en-US" sz="2400" dirty="0" err="1">
                          <a:effectLst/>
                        </a:rPr>
                        <a:t>các</a:t>
                      </a:r>
                      <a:r>
                        <a:rPr lang="en-US" sz="2400" dirty="0">
                          <a:effectLst/>
                        </a:rPr>
                        <a:t> </a:t>
                      </a:r>
                      <a:r>
                        <a:rPr lang="en-US" sz="2400" dirty="0" err="1">
                          <a:effectLst/>
                        </a:rPr>
                        <a:t>tổ</a:t>
                      </a:r>
                      <a:r>
                        <a:rPr lang="en-US" sz="2400" dirty="0">
                          <a:effectLst/>
                        </a:rPr>
                        <a:t> </a:t>
                      </a:r>
                      <a:r>
                        <a:rPr lang="en-US" sz="2400" dirty="0" err="1">
                          <a:effectLst/>
                        </a:rPr>
                        <a:t>chức</a:t>
                      </a:r>
                      <a:r>
                        <a:rPr lang="en-US" sz="2400" dirty="0">
                          <a:effectLst/>
                        </a:rPr>
                        <a:t> </a:t>
                      </a:r>
                      <a:r>
                        <a:rPr lang="en-US" sz="2400" dirty="0" err="1">
                          <a:effectLst/>
                        </a:rPr>
                        <a:t>quân</a:t>
                      </a:r>
                      <a:r>
                        <a:rPr lang="en-US" sz="2400" dirty="0">
                          <a:effectLst/>
                        </a:rPr>
                        <a:t> </a:t>
                      </a:r>
                      <a:r>
                        <a:rPr lang="en-US" sz="2400" dirty="0" err="1">
                          <a:effectLst/>
                        </a:rPr>
                        <a:t>sự</a:t>
                      </a:r>
                      <a:r>
                        <a:rPr lang="en-US" sz="2400" dirty="0">
                          <a:effectLst/>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21766233"/>
                  </a:ext>
                </a:extLst>
              </a:tr>
              <a:tr h="466437">
                <a:tc>
                  <a:txBody>
                    <a:bodyPr/>
                    <a:lstStyle/>
                    <a:p>
                      <a:pPr marL="0" marR="0" algn="ctr">
                        <a:lnSpc>
                          <a:spcPct val="100000"/>
                        </a:lnSpc>
                        <a:spcBef>
                          <a:spcPts val="0"/>
                        </a:spcBef>
                        <a:spcAft>
                          <a:spcPts val="0"/>
                        </a:spcAft>
                      </a:pPr>
                      <a:r>
                        <a:rPr lang="en-US" sz="2400" b="1" dirty="0">
                          <a:effectLst/>
                        </a:rPr>
                        <a:t>.org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dirty="0">
                          <a:effectLst/>
                        </a:rPr>
                        <a:t>Web </a:t>
                      </a:r>
                      <a:r>
                        <a:rPr lang="en-US" sz="2400" dirty="0" err="1">
                          <a:effectLst/>
                        </a:rPr>
                        <a:t>dành</a:t>
                      </a:r>
                      <a:r>
                        <a:rPr lang="en-US" sz="2400" dirty="0">
                          <a:effectLst/>
                        </a:rPr>
                        <a:t> </a:t>
                      </a:r>
                      <a:r>
                        <a:rPr lang="en-US" sz="2400" dirty="0" err="1">
                          <a:effectLst/>
                        </a:rPr>
                        <a:t>riêng</a:t>
                      </a:r>
                      <a:r>
                        <a:rPr lang="en-US" sz="2400" dirty="0">
                          <a:effectLst/>
                        </a:rPr>
                        <a:t> </a:t>
                      </a:r>
                      <a:r>
                        <a:rPr lang="en-US" sz="2400" dirty="0" err="1">
                          <a:effectLst/>
                        </a:rPr>
                        <a:t>cho</a:t>
                      </a:r>
                      <a:r>
                        <a:rPr lang="en-US" sz="2400" dirty="0">
                          <a:effectLst/>
                        </a:rPr>
                        <a:t> </a:t>
                      </a:r>
                      <a:r>
                        <a:rPr lang="en-US" sz="2400" dirty="0" err="1">
                          <a:effectLst/>
                        </a:rPr>
                        <a:t>một</a:t>
                      </a:r>
                      <a:r>
                        <a:rPr lang="en-US" sz="2400" dirty="0">
                          <a:effectLst/>
                        </a:rPr>
                        <a:t> </a:t>
                      </a:r>
                      <a:r>
                        <a:rPr lang="en-US" sz="2400" dirty="0" err="1">
                          <a:effectLst/>
                        </a:rPr>
                        <a:t>tổ</a:t>
                      </a:r>
                      <a:r>
                        <a:rPr lang="en-US" sz="2400" dirty="0">
                          <a:effectLst/>
                        </a:rPr>
                        <a:t> </a:t>
                      </a:r>
                      <a:r>
                        <a:rPr lang="en-US" sz="2400" dirty="0" err="1">
                          <a:effectLst/>
                        </a:rPr>
                        <a:t>chức</a:t>
                      </a:r>
                      <a:r>
                        <a:rPr lang="en-US" sz="2400" dirty="0">
                          <a:effectLst/>
                        </a:rPr>
                        <a:t> phi </a:t>
                      </a:r>
                      <a:r>
                        <a:rPr lang="en-US" sz="2400" dirty="0" err="1">
                          <a:effectLst/>
                        </a:rPr>
                        <a:t>lợi</a:t>
                      </a:r>
                      <a:r>
                        <a:rPr lang="en-US" sz="2400" dirty="0">
                          <a:effectLst/>
                        </a:rPr>
                        <a:t> </a:t>
                      </a:r>
                      <a:r>
                        <a:rPr lang="en-US" sz="2400" dirty="0" err="1">
                          <a:effectLst/>
                        </a:rPr>
                        <a:t>nhuận</a:t>
                      </a:r>
                      <a:r>
                        <a:rPr lang="en-US" sz="2400" dirty="0">
                          <a:effectLst/>
                        </a:rPr>
                        <a:t>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12037663"/>
                  </a:ext>
                </a:extLst>
              </a:tr>
            </a:tbl>
          </a:graphicData>
        </a:graphic>
      </p:graphicFrame>
    </p:spTree>
    <p:extLst>
      <p:ext uri="{BB962C8B-B14F-4D97-AF65-F5344CB8AC3E}">
        <p14:creationId xmlns:p14="http://schemas.microsoft.com/office/powerpoint/2010/main" val="1940708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1F9B-7CE3-41B9-A575-56E047CBFFEE}"/>
              </a:ext>
            </a:extLst>
          </p:cNvPr>
          <p:cNvSpPr>
            <a:spLocks noGrp="1"/>
          </p:cNvSpPr>
          <p:nvPr>
            <p:ph type="title"/>
          </p:nvPr>
        </p:nvSpPr>
        <p:spPr/>
        <p:txBody>
          <a:bodyPr/>
          <a:lstStyle/>
          <a:p>
            <a:r>
              <a:rPr lang="en-GB" dirty="0" err="1"/>
              <a:t>Tên</a:t>
            </a:r>
            <a:r>
              <a:rPr lang="en-GB" dirty="0"/>
              <a:t> </a:t>
            </a:r>
            <a:r>
              <a:rPr lang="en-GB" dirty="0" err="1"/>
              <a:t>miền</a:t>
            </a:r>
            <a:r>
              <a:rPr lang="en-GB" dirty="0"/>
              <a:t> (Domain name – DN)</a:t>
            </a:r>
            <a:endParaRPr lang="en-US" dirty="0"/>
          </a:p>
        </p:txBody>
      </p:sp>
      <p:sp>
        <p:nvSpPr>
          <p:cNvPr id="3" name="Content Placeholder 2">
            <a:extLst>
              <a:ext uri="{FF2B5EF4-FFF2-40B4-BE49-F238E27FC236}">
                <a16:creationId xmlns:a16="http://schemas.microsoft.com/office/drawing/2014/main" id="{D40242B3-9111-488F-B88B-9290277C879B}"/>
              </a:ext>
            </a:extLst>
          </p:cNvPr>
          <p:cNvSpPr>
            <a:spLocks noGrp="1"/>
          </p:cNvSpPr>
          <p:nvPr>
            <p:ph idx="1"/>
          </p:nvPr>
        </p:nvSpPr>
        <p:spPr/>
        <p:txBody>
          <a:bodyPr/>
          <a:lstStyle/>
          <a:p>
            <a:pPr>
              <a:lnSpc>
                <a:spcPct val="100000"/>
              </a:lnSpc>
            </a:pPr>
            <a:r>
              <a:rPr lang="en-US" sz="3200" b="1" dirty="0">
                <a:solidFill>
                  <a:srgbClr val="FF0000"/>
                </a:solidFill>
              </a:rPr>
              <a:t>Top-level domains</a:t>
            </a:r>
            <a:r>
              <a:rPr lang="en-US" b="1" dirty="0"/>
              <a:t>: </a:t>
            </a:r>
            <a:r>
              <a:rPr lang="vi-VN" dirty="0"/>
              <a:t>Có hai nhóm chính </a:t>
            </a:r>
            <a:endParaRPr lang="en-US" dirty="0"/>
          </a:p>
          <a:p>
            <a:pPr lvl="1">
              <a:lnSpc>
                <a:spcPct val="100000"/>
              </a:lnSpc>
            </a:pPr>
            <a:r>
              <a:rPr lang="en-US" b="1" dirty="0"/>
              <a:t>Country Code Top-Level Domains: </a:t>
            </a:r>
            <a:r>
              <a:rPr lang="vi-VN" dirty="0"/>
              <a:t>cấp mã quốc gia dựa trên mã hai ký tự </a:t>
            </a:r>
            <a:r>
              <a:rPr lang="en-US" dirty="0" err="1"/>
              <a:t>viết</a:t>
            </a:r>
            <a:r>
              <a:rPr lang="en-US" dirty="0"/>
              <a:t> </a:t>
            </a:r>
            <a:r>
              <a:rPr lang="en-US" dirty="0" err="1"/>
              <a:t>tắt</a:t>
            </a:r>
            <a:r>
              <a:rPr lang="en-US" dirty="0"/>
              <a:t> </a:t>
            </a:r>
            <a:r>
              <a:rPr lang="en-US" dirty="0" err="1"/>
              <a:t>từ</a:t>
            </a:r>
            <a:r>
              <a:rPr lang="en-US" dirty="0"/>
              <a:t> </a:t>
            </a:r>
            <a:r>
              <a:rPr lang="en-US" dirty="0" err="1"/>
              <a:t>tên</a:t>
            </a:r>
            <a:r>
              <a:rPr lang="en-US" dirty="0"/>
              <a:t> </a:t>
            </a:r>
            <a:r>
              <a:rPr lang="vi-VN" dirty="0"/>
              <a:t>quốc gia .</a:t>
            </a:r>
            <a:endParaRPr lang="en-US" dirty="0"/>
          </a:p>
        </p:txBody>
      </p:sp>
      <p:graphicFrame>
        <p:nvGraphicFramePr>
          <p:cNvPr id="4" name="Table 3">
            <a:extLst>
              <a:ext uri="{FF2B5EF4-FFF2-40B4-BE49-F238E27FC236}">
                <a16:creationId xmlns:a16="http://schemas.microsoft.com/office/drawing/2014/main" id="{A3AA5FC7-EA22-4304-B0CD-E43A7C53062D}"/>
              </a:ext>
            </a:extLst>
          </p:cNvPr>
          <p:cNvGraphicFramePr>
            <a:graphicFrameLocks noGrp="1"/>
          </p:cNvGraphicFramePr>
          <p:nvPr>
            <p:extLst>
              <p:ext uri="{D42A27DB-BD31-4B8C-83A1-F6EECF244321}">
                <p14:modId xmlns:p14="http://schemas.microsoft.com/office/powerpoint/2010/main" val="1251865209"/>
              </p:ext>
            </p:extLst>
          </p:nvPr>
        </p:nvGraphicFramePr>
        <p:xfrm>
          <a:off x="1673728" y="3062590"/>
          <a:ext cx="9411854" cy="2513493"/>
        </p:xfrm>
        <a:graphic>
          <a:graphicData uri="http://schemas.openxmlformats.org/drawingml/2006/table">
            <a:tbl>
              <a:tblPr firstRow="1" firstCol="1" bandRow="1" bandCol="1">
                <a:tableStyleId>{5940675A-B579-460E-94D1-54222C63F5DA}</a:tableStyleId>
              </a:tblPr>
              <a:tblGrid>
                <a:gridCol w="1052294">
                  <a:extLst>
                    <a:ext uri="{9D8B030D-6E8A-4147-A177-3AD203B41FA5}">
                      <a16:colId xmlns:a16="http://schemas.microsoft.com/office/drawing/2014/main" val="3234849625"/>
                    </a:ext>
                  </a:extLst>
                </a:gridCol>
                <a:gridCol w="2235851">
                  <a:extLst>
                    <a:ext uri="{9D8B030D-6E8A-4147-A177-3AD203B41FA5}">
                      <a16:colId xmlns:a16="http://schemas.microsoft.com/office/drawing/2014/main" val="2069635198"/>
                    </a:ext>
                  </a:extLst>
                </a:gridCol>
                <a:gridCol w="1044483">
                  <a:extLst>
                    <a:ext uri="{9D8B030D-6E8A-4147-A177-3AD203B41FA5}">
                      <a16:colId xmlns:a16="http://schemas.microsoft.com/office/drawing/2014/main" val="954010562"/>
                    </a:ext>
                  </a:extLst>
                </a:gridCol>
                <a:gridCol w="1781845">
                  <a:extLst>
                    <a:ext uri="{9D8B030D-6E8A-4147-A177-3AD203B41FA5}">
                      <a16:colId xmlns:a16="http://schemas.microsoft.com/office/drawing/2014/main" val="573398331"/>
                    </a:ext>
                  </a:extLst>
                </a:gridCol>
                <a:gridCol w="969402">
                  <a:extLst>
                    <a:ext uri="{9D8B030D-6E8A-4147-A177-3AD203B41FA5}">
                      <a16:colId xmlns:a16="http://schemas.microsoft.com/office/drawing/2014/main" val="3597355192"/>
                    </a:ext>
                  </a:extLst>
                </a:gridCol>
                <a:gridCol w="2327979">
                  <a:extLst>
                    <a:ext uri="{9D8B030D-6E8A-4147-A177-3AD203B41FA5}">
                      <a16:colId xmlns:a16="http://schemas.microsoft.com/office/drawing/2014/main" val="888822936"/>
                    </a:ext>
                  </a:extLst>
                </a:gridCol>
              </a:tblGrid>
              <a:tr h="493026">
                <a:tc>
                  <a:txBody>
                    <a:bodyPr/>
                    <a:lstStyle/>
                    <a:p>
                      <a:pPr marL="0" marR="0" algn="ctr">
                        <a:lnSpc>
                          <a:spcPct val="107000"/>
                        </a:lnSpc>
                        <a:spcBef>
                          <a:spcPts val="0"/>
                        </a:spcBef>
                        <a:spcAft>
                          <a:spcPts val="0"/>
                        </a:spcAft>
                      </a:pPr>
                      <a:r>
                        <a:rPr lang="en-US" sz="2400" b="1" dirty="0">
                          <a:effectLst/>
                        </a:rPr>
                        <a:t>au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i="1" dirty="0">
                          <a:effectLst/>
                        </a:rPr>
                        <a:t>Australia </a:t>
                      </a:r>
                      <a:endParaRPr lang="en-US" sz="24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err="1">
                          <a:effectLst/>
                        </a:rPr>
                        <a:t>fr</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France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err="1">
                          <a:effectLst/>
                        </a:rPr>
                        <a:t>jp</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Japan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160826"/>
                  </a:ext>
                </a:extLst>
              </a:tr>
              <a:tr h="493026">
                <a:tc>
                  <a:txBody>
                    <a:bodyPr/>
                    <a:lstStyle/>
                    <a:p>
                      <a:pPr marL="0" marR="0" algn="ctr">
                        <a:lnSpc>
                          <a:spcPct val="107000"/>
                        </a:lnSpc>
                        <a:spcBef>
                          <a:spcPts val="0"/>
                        </a:spcBef>
                        <a:spcAft>
                          <a:spcPts val="0"/>
                        </a:spcAft>
                      </a:pPr>
                      <a:r>
                        <a:rPr lang="en-US" sz="2400" b="1" dirty="0" err="1">
                          <a:effectLst/>
                        </a:rPr>
                        <a:t>br</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i="1" dirty="0">
                          <a:effectLst/>
                        </a:rPr>
                        <a:t>Brazil </a:t>
                      </a:r>
                      <a:endParaRPr lang="en-US" sz="24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err="1">
                          <a:effectLst/>
                        </a:rPr>
                        <a:t>il</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Israel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a:effectLst/>
                        </a:rPr>
                        <a:t>mx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Mexico</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3743256"/>
                  </a:ext>
                </a:extLst>
              </a:tr>
              <a:tr h="493026">
                <a:tc>
                  <a:txBody>
                    <a:bodyPr/>
                    <a:lstStyle/>
                    <a:p>
                      <a:pPr marL="0" marR="0" algn="ctr">
                        <a:lnSpc>
                          <a:spcPct val="107000"/>
                        </a:lnSpc>
                        <a:spcBef>
                          <a:spcPts val="0"/>
                        </a:spcBef>
                        <a:spcAft>
                          <a:spcPts val="0"/>
                        </a:spcAft>
                      </a:pPr>
                      <a:r>
                        <a:rPr lang="en-US" sz="2400" b="1" dirty="0">
                          <a:effectLst/>
                        </a:rPr>
                        <a:t>ca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i="1" dirty="0">
                          <a:effectLst/>
                        </a:rPr>
                        <a:t>Canada </a:t>
                      </a:r>
                      <a:endParaRPr lang="en-US" sz="24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a:effectLst/>
                        </a:rPr>
                        <a:t>in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India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err="1">
                          <a:effectLst/>
                        </a:rPr>
                        <a:t>tw</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Tawain</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7188688"/>
                  </a:ext>
                </a:extLst>
              </a:tr>
              <a:tr h="541389">
                <a:tc>
                  <a:txBody>
                    <a:bodyPr/>
                    <a:lstStyle/>
                    <a:p>
                      <a:pPr marL="0" marR="0" algn="ctr">
                        <a:lnSpc>
                          <a:spcPct val="107000"/>
                        </a:lnSpc>
                        <a:spcBef>
                          <a:spcPts val="0"/>
                        </a:spcBef>
                        <a:spcAft>
                          <a:spcPts val="0"/>
                        </a:spcAft>
                      </a:pPr>
                      <a:r>
                        <a:rPr lang="en-US" sz="2400" b="1" dirty="0" err="1">
                          <a:effectLst/>
                        </a:rPr>
                        <a:t>cn</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i="1" dirty="0">
                          <a:effectLst/>
                        </a:rPr>
                        <a:t>China </a:t>
                      </a:r>
                      <a:endParaRPr lang="en-US" sz="24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a:effectLst/>
                        </a:rPr>
                        <a:t>it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Italy </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err="1">
                          <a:effectLst/>
                        </a:rPr>
                        <a:t>uk</a:t>
                      </a: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a:effectLst/>
                        </a:rPr>
                        <a:t>United Kingdom</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3545131"/>
                  </a:ext>
                </a:extLst>
              </a:tr>
              <a:tr h="493026">
                <a:tc>
                  <a:txBody>
                    <a:bodyPr/>
                    <a:lstStyle/>
                    <a:p>
                      <a:pPr marL="0" marR="0" algn="ctr">
                        <a:lnSpc>
                          <a:spcPct val="107000"/>
                        </a:lnSpc>
                        <a:spcBef>
                          <a:spcPts val="0"/>
                        </a:spcBef>
                        <a:spcAft>
                          <a:spcPts val="0"/>
                        </a:spcAft>
                      </a:pPr>
                      <a:r>
                        <a:rPr lang="en-US" sz="2400" b="1" dirty="0">
                          <a:effectLst/>
                        </a:rPr>
                        <a:t>dk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i="1" dirty="0">
                          <a:effectLst/>
                        </a:rPr>
                        <a:t>Denmark</a:t>
                      </a:r>
                      <a:endParaRPr lang="en-US" sz="24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a:effectLst/>
                        </a:rPr>
                        <a:t> </a:t>
                      </a:r>
                      <a:r>
                        <a:rPr lang="en-US" sz="2400" b="1" dirty="0" err="1">
                          <a:effectLst/>
                        </a:rPr>
                        <a:t>vn</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dirty="0">
                          <a:effectLst/>
                        </a:rPr>
                        <a:t> Viet Nam</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b="1" dirty="0">
                          <a:effectLst/>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07000"/>
                        </a:lnSpc>
                        <a:spcBef>
                          <a:spcPts val="0"/>
                        </a:spcBef>
                        <a:spcAft>
                          <a:spcPts val="0"/>
                        </a:spcAft>
                      </a:pPr>
                      <a:r>
                        <a:rPr lang="en-US" sz="2400" dirty="0">
                          <a:effectLst/>
                        </a:rPr>
                        <a:t>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0008625"/>
                  </a:ext>
                </a:extLst>
              </a:tr>
            </a:tbl>
          </a:graphicData>
        </a:graphic>
      </p:graphicFrame>
    </p:spTree>
    <p:extLst>
      <p:ext uri="{BB962C8B-B14F-4D97-AF65-F5344CB8AC3E}">
        <p14:creationId xmlns:p14="http://schemas.microsoft.com/office/powerpoint/2010/main" val="3219392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C682-6199-4498-B005-61740D090C26}"/>
              </a:ext>
            </a:extLst>
          </p:cNvPr>
          <p:cNvSpPr>
            <a:spLocks noGrp="1"/>
          </p:cNvSpPr>
          <p:nvPr>
            <p:ph type="title"/>
          </p:nvPr>
        </p:nvSpPr>
        <p:spPr/>
        <p:txBody>
          <a:bodyPr/>
          <a:lstStyle/>
          <a:p>
            <a:r>
              <a:rPr lang="en-GB" dirty="0" err="1"/>
              <a:t>Tên</a:t>
            </a:r>
            <a:r>
              <a:rPr lang="en-GB" dirty="0"/>
              <a:t> </a:t>
            </a:r>
            <a:r>
              <a:rPr lang="en-GB" dirty="0" err="1"/>
              <a:t>miền</a:t>
            </a:r>
            <a:r>
              <a:rPr lang="en-GB" dirty="0"/>
              <a:t> (Domain name – DN)</a:t>
            </a:r>
            <a:endParaRPr lang="en-US" dirty="0"/>
          </a:p>
        </p:txBody>
      </p:sp>
      <p:sp>
        <p:nvSpPr>
          <p:cNvPr id="3" name="Content Placeholder 2">
            <a:extLst>
              <a:ext uri="{FF2B5EF4-FFF2-40B4-BE49-F238E27FC236}">
                <a16:creationId xmlns:a16="http://schemas.microsoft.com/office/drawing/2014/main" id="{C4B329DF-5DDE-423A-88C1-10C13DCDC8CF}"/>
              </a:ext>
            </a:extLst>
          </p:cNvPr>
          <p:cNvSpPr>
            <a:spLocks noGrp="1"/>
          </p:cNvSpPr>
          <p:nvPr>
            <p:ph idx="1"/>
          </p:nvPr>
        </p:nvSpPr>
        <p:spPr/>
        <p:txBody>
          <a:bodyPr/>
          <a:lstStyle/>
          <a:p>
            <a:pPr algn="just">
              <a:lnSpc>
                <a:spcPct val="100000"/>
              </a:lnSpc>
            </a:pPr>
            <a:r>
              <a:rPr lang="en-US" sz="3200" b="1" dirty="0">
                <a:solidFill>
                  <a:srgbClr val="FF0000"/>
                </a:solidFill>
              </a:rPr>
              <a:t>Second-Level Domains</a:t>
            </a:r>
            <a:r>
              <a:rPr lang="en-US" b="1" dirty="0">
                <a:solidFill>
                  <a:srgbClr val="FF0000"/>
                </a:solidFill>
              </a:rPr>
              <a:t>: </a:t>
            </a:r>
            <a:r>
              <a:rPr lang="en-US" dirty="0"/>
              <a:t>M</a:t>
            </a:r>
            <a:r>
              <a:rPr lang="vi-VN" dirty="0"/>
              <a:t>ột tên miền </a:t>
            </a:r>
            <a:r>
              <a:rPr lang="vi-VN" b="1" dirty="0"/>
              <a:t>được đăng ký bởi công ty sở hữu nó.</a:t>
            </a:r>
            <a:endParaRPr lang="en-US" b="1" dirty="0"/>
          </a:p>
          <a:p>
            <a:pPr lvl="1" algn="just">
              <a:lnSpc>
                <a:spcPct val="100000"/>
              </a:lnSpc>
            </a:pPr>
            <a:r>
              <a:rPr lang="en-US" b="1" dirty="0">
                <a:solidFill>
                  <a:srgbClr val="FF0000"/>
                </a:solidFill>
              </a:rPr>
              <a:t>Subdomains: </a:t>
            </a:r>
            <a:r>
              <a:rPr lang="en-US" b="1" dirty="0"/>
              <a:t>second-level domains </a:t>
            </a:r>
            <a:r>
              <a:rPr lang="en-US" dirty="0" err="1"/>
              <a:t>có</a:t>
            </a:r>
            <a:r>
              <a:rPr lang="en-US" dirty="0"/>
              <a:t> </a:t>
            </a:r>
            <a:r>
              <a:rPr lang="en-US" dirty="0" err="1"/>
              <a:t>thể</a:t>
            </a:r>
            <a:r>
              <a:rPr lang="en-US" dirty="0"/>
              <a:t> chia </a:t>
            </a:r>
            <a:r>
              <a:rPr lang="en-US" dirty="0" err="1"/>
              <a:t>thành</a:t>
            </a:r>
            <a:r>
              <a:rPr lang="en-US" dirty="0"/>
              <a:t> </a:t>
            </a:r>
            <a:r>
              <a:rPr lang="en-US" dirty="0" err="1"/>
              <a:t>các</a:t>
            </a:r>
            <a:r>
              <a:rPr lang="en-US" dirty="0"/>
              <a:t> </a:t>
            </a:r>
            <a:r>
              <a:rPr lang="en-US" b="1" dirty="0"/>
              <a:t>Subdomains</a:t>
            </a:r>
            <a:r>
              <a:rPr lang="en-US" dirty="0"/>
              <a:t> </a:t>
            </a:r>
          </a:p>
          <a:p>
            <a:pPr marL="457200" lvl="1" indent="0">
              <a:lnSpc>
                <a:spcPct val="100000"/>
              </a:lnSpc>
              <a:buNone/>
            </a:pPr>
            <a:r>
              <a:rPr lang="en-US" dirty="0" err="1"/>
              <a:t>Ví</a:t>
            </a:r>
            <a:r>
              <a:rPr lang="en-US" dirty="0"/>
              <a:t> </a:t>
            </a:r>
            <a:r>
              <a:rPr lang="en-US" dirty="0" err="1"/>
              <a:t>dụ</a:t>
            </a:r>
            <a:r>
              <a:rPr lang="en-US" dirty="0"/>
              <a:t>: </a:t>
            </a:r>
            <a:r>
              <a:rPr lang="en-US" b="1" i="1" dirty="0"/>
              <a:t>support.xbox.com</a:t>
            </a:r>
            <a:r>
              <a:rPr lang="en-US" b="1" dirty="0"/>
              <a:t> </a:t>
            </a:r>
          </a:p>
          <a:p>
            <a:pPr lvl="2">
              <a:lnSpc>
                <a:spcPct val="100000"/>
              </a:lnSpc>
            </a:pPr>
            <a:r>
              <a:rPr lang="en-US" sz="2400" b="1" dirty="0"/>
              <a:t>.com: </a:t>
            </a:r>
            <a:r>
              <a:rPr lang="en-US" sz="2400" dirty="0"/>
              <a:t>top-level domain</a:t>
            </a:r>
          </a:p>
          <a:p>
            <a:pPr lvl="2">
              <a:lnSpc>
                <a:spcPct val="100000"/>
              </a:lnSpc>
            </a:pPr>
            <a:r>
              <a:rPr lang="en-US" sz="2400" b="1" dirty="0"/>
              <a:t>.</a:t>
            </a:r>
            <a:r>
              <a:rPr lang="en-US" sz="2400" b="1" dirty="0" err="1"/>
              <a:t>xbox</a:t>
            </a:r>
            <a:r>
              <a:rPr lang="en-US" sz="2400" b="1" dirty="0"/>
              <a:t>: </a:t>
            </a:r>
            <a:r>
              <a:rPr lang="en-US" sz="2400" dirty="0"/>
              <a:t>second-level domain</a:t>
            </a:r>
          </a:p>
          <a:p>
            <a:pPr lvl="2">
              <a:lnSpc>
                <a:spcPct val="100000"/>
              </a:lnSpc>
            </a:pPr>
            <a:r>
              <a:rPr lang="en-US" sz="2400" b="1" dirty="0"/>
              <a:t>.support: </a:t>
            </a:r>
            <a:r>
              <a:rPr lang="en-US" sz="2400" dirty="0"/>
              <a:t>subdomain</a:t>
            </a:r>
          </a:p>
          <a:p>
            <a:pPr marL="1311275" lvl="2" indent="0">
              <a:lnSpc>
                <a:spcPct val="100000"/>
              </a:lnSpc>
              <a:buNone/>
            </a:pPr>
            <a:br>
              <a:rPr lang="en-US" dirty="0"/>
            </a:br>
            <a:endParaRPr lang="en-US" dirty="0"/>
          </a:p>
        </p:txBody>
      </p:sp>
    </p:spTree>
    <p:extLst>
      <p:ext uri="{BB962C8B-B14F-4D97-AF65-F5344CB8AC3E}">
        <p14:creationId xmlns:p14="http://schemas.microsoft.com/office/powerpoint/2010/main" val="2294619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05E0-C8B6-49D4-8DCD-E26BF9994290}"/>
              </a:ext>
            </a:extLst>
          </p:cNvPr>
          <p:cNvSpPr>
            <a:spLocks noGrp="1"/>
          </p:cNvSpPr>
          <p:nvPr>
            <p:ph type="title"/>
          </p:nvPr>
        </p:nvSpPr>
        <p:spPr/>
        <p:txBody>
          <a:bodyPr/>
          <a:lstStyle/>
          <a:p>
            <a:r>
              <a:rPr lang="en-GB" dirty="0"/>
              <a:t>URL (</a:t>
            </a:r>
            <a:r>
              <a:rPr lang="en-GB" dirty="0">
                <a:solidFill>
                  <a:srgbClr val="C00000"/>
                </a:solidFill>
              </a:rPr>
              <a:t>U</a:t>
            </a:r>
            <a:r>
              <a:rPr lang="en-GB" dirty="0"/>
              <a:t>niform </a:t>
            </a:r>
            <a:r>
              <a:rPr lang="en-GB" dirty="0">
                <a:solidFill>
                  <a:srgbClr val="C00000"/>
                </a:solidFill>
              </a:rPr>
              <a:t>R</a:t>
            </a:r>
            <a:r>
              <a:rPr lang="en-GB" dirty="0"/>
              <a:t>esource </a:t>
            </a:r>
            <a:r>
              <a:rPr lang="en-GB" dirty="0">
                <a:solidFill>
                  <a:srgbClr val="C00000"/>
                </a:solidFill>
              </a:rPr>
              <a:t>L</a:t>
            </a:r>
            <a:r>
              <a:rPr lang="en-GB" dirty="0"/>
              <a:t>ocator)</a:t>
            </a:r>
            <a:endParaRPr lang="en-US" dirty="0"/>
          </a:p>
        </p:txBody>
      </p:sp>
      <p:sp>
        <p:nvSpPr>
          <p:cNvPr id="3" name="Content Placeholder 2">
            <a:extLst>
              <a:ext uri="{FF2B5EF4-FFF2-40B4-BE49-F238E27FC236}">
                <a16:creationId xmlns:a16="http://schemas.microsoft.com/office/drawing/2014/main" id="{1E27AE8E-8441-42EA-8FF5-E51BF3148B5A}"/>
              </a:ext>
            </a:extLst>
          </p:cNvPr>
          <p:cNvSpPr>
            <a:spLocks noGrp="1"/>
          </p:cNvSpPr>
          <p:nvPr>
            <p:ph idx="1"/>
          </p:nvPr>
        </p:nvSpPr>
        <p:spPr/>
        <p:txBody>
          <a:bodyPr/>
          <a:lstStyle/>
          <a:p>
            <a:pPr>
              <a:lnSpc>
                <a:spcPct val="100000"/>
              </a:lnSpc>
            </a:pPr>
            <a:r>
              <a:rPr lang="en-GB" b="1" dirty="0">
                <a:solidFill>
                  <a:srgbClr val="C00000"/>
                </a:solidFill>
              </a:rPr>
              <a:t>URL: </a:t>
            </a:r>
            <a:r>
              <a:rPr lang="vi-VN" dirty="0"/>
              <a:t>là địa chỉ toàn cầu của tài nguyên trên </a:t>
            </a:r>
            <a:r>
              <a:rPr lang="vi-VN" b="1" dirty="0"/>
              <a:t>World Wide Web</a:t>
            </a:r>
            <a:r>
              <a:rPr lang="en-GB" dirty="0"/>
              <a:t>. </a:t>
            </a:r>
          </a:p>
          <a:p>
            <a:pPr>
              <a:lnSpc>
                <a:spcPct val="100000"/>
              </a:lnSpc>
            </a:pPr>
            <a:r>
              <a:rPr lang="en-GB" b="1" dirty="0">
                <a:solidFill>
                  <a:srgbClr val="C00000"/>
                </a:solidFill>
              </a:rPr>
              <a:t>URL </a:t>
            </a:r>
            <a:r>
              <a:rPr lang="en-GB" b="1" dirty="0" err="1">
                <a:solidFill>
                  <a:srgbClr val="C00000"/>
                </a:solidFill>
              </a:rPr>
              <a:t>gồm</a:t>
            </a:r>
            <a:r>
              <a:rPr lang="en-GB" b="1" dirty="0">
                <a:solidFill>
                  <a:srgbClr val="C00000"/>
                </a:solidFill>
              </a:rPr>
              <a:t> 2 </a:t>
            </a:r>
            <a:r>
              <a:rPr lang="en-GB" b="1" dirty="0" err="1">
                <a:solidFill>
                  <a:srgbClr val="C00000"/>
                </a:solidFill>
              </a:rPr>
              <a:t>thành</a:t>
            </a:r>
            <a:r>
              <a:rPr lang="en-GB" b="1" dirty="0">
                <a:solidFill>
                  <a:srgbClr val="C00000"/>
                </a:solidFill>
              </a:rPr>
              <a:t> </a:t>
            </a:r>
            <a:r>
              <a:rPr lang="en-GB" b="1" dirty="0" err="1">
                <a:solidFill>
                  <a:srgbClr val="C00000"/>
                </a:solidFill>
              </a:rPr>
              <a:t>phần</a:t>
            </a:r>
            <a:r>
              <a:rPr lang="en-GB" b="1" dirty="0">
                <a:solidFill>
                  <a:srgbClr val="C00000"/>
                </a:solidFill>
              </a:rPr>
              <a:t>: </a:t>
            </a:r>
          </a:p>
          <a:p>
            <a:pPr lvl="2">
              <a:lnSpc>
                <a:spcPct val="100000"/>
              </a:lnSpc>
            </a:pPr>
            <a:r>
              <a:rPr lang="en-GB" sz="2400" b="1" dirty="0"/>
              <a:t>Giao </a:t>
            </a:r>
            <a:r>
              <a:rPr lang="en-GB" sz="2400" b="1" dirty="0" err="1"/>
              <a:t>thức</a:t>
            </a:r>
            <a:r>
              <a:rPr lang="en-GB" sz="2400" b="1" dirty="0"/>
              <a:t> </a:t>
            </a:r>
            <a:r>
              <a:rPr lang="en-GB" sz="2400" b="1" dirty="0" err="1"/>
              <a:t>mạng</a:t>
            </a:r>
            <a:r>
              <a:rPr lang="en-GB" sz="2400" b="1" dirty="0"/>
              <a:t> - Protocol</a:t>
            </a:r>
          </a:p>
          <a:p>
            <a:pPr lvl="2">
              <a:lnSpc>
                <a:spcPct val="100000"/>
              </a:lnSpc>
            </a:pPr>
            <a:r>
              <a:rPr lang="en-GB" sz="2400" b="1" dirty="0" err="1"/>
              <a:t>Tên</a:t>
            </a:r>
            <a:r>
              <a:rPr lang="en-GB" sz="2400" b="1" dirty="0"/>
              <a:t> </a:t>
            </a:r>
            <a:r>
              <a:rPr lang="en-GB" sz="2400" b="1" dirty="0" err="1"/>
              <a:t>miền</a:t>
            </a:r>
            <a:r>
              <a:rPr lang="en-GB" sz="2400" b="1" dirty="0"/>
              <a:t> – Domain name</a:t>
            </a:r>
          </a:p>
          <a:p>
            <a:pPr>
              <a:lnSpc>
                <a:spcPct val="100000"/>
              </a:lnSpc>
            </a:pPr>
            <a:endParaRPr lang="en-US" dirty="0"/>
          </a:p>
        </p:txBody>
      </p:sp>
      <p:pic>
        <p:nvPicPr>
          <p:cNvPr id="10" name="Picture 9">
            <a:extLst>
              <a:ext uri="{FF2B5EF4-FFF2-40B4-BE49-F238E27FC236}">
                <a16:creationId xmlns:a16="http://schemas.microsoft.com/office/drawing/2014/main" id="{3E4E626C-04BA-4EE3-8330-A7E993ECE52C}"/>
              </a:ext>
            </a:extLst>
          </p:cNvPr>
          <p:cNvPicPr>
            <a:picLocks noChangeAspect="1"/>
          </p:cNvPicPr>
          <p:nvPr/>
        </p:nvPicPr>
        <p:blipFill>
          <a:blip r:embed="rId2"/>
          <a:stretch>
            <a:fillRect/>
          </a:stretch>
        </p:blipFill>
        <p:spPr>
          <a:xfrm>
            <a:off x="3368841" y="4461072"/>
            <a:ext cx="6142393" cy="5536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37744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B1F97-2729-4EAF-87A5-A8A621CC7259}"/>
              </a:ext>
            </a:extLst>
          </p:cNvPr>
          <p:cNvSpPr>
            <a:spLocks noGrp="1"/>
          </p:cNvSpPr>
          <p:nvPr>
            <p:ph type="title"/>
          </p:nvPr>
        </p:nvSpPr>
        <p:spPr/>
        <p:txBody>
          <a:bodyPr/>
          <a:lstStyle/>
          <a:p>
            <a:r>
              <a:rPr lang="en-GB" dirty="0"/>
              <a:t>URL (</a:t>
            </a:r>
            <a:r>
              <a:rPr lang="en-GB" dirty="0">
                <a:solidFill>
                  <a:srgbClr val="C00000"/>
                </a:solidFill>
              </a:rPr>
              <a:t>U</a:t>
            </a:r>
            <a:r>
              <a:rPr lang="en-GB" dirty="0"/>
              <a:t>niform </a:t>
            </a:r>
            <a:r>
              <a:rPr lang="en-GB" dirty="0">
                <a:solidFill>
                  <a:srgbClr val="C00000"/>
                </a:solidFill>
              </a:rPr>
              <a:t>R</a:t>
            </a:r>
            <a:r>
              <a:rPr lang="en-GB" dirty="0"/>
              <a:t>esource </a:t>
            </a:r>
            <a:r>
              <a:rPr lang="en-GB" dirty="0">
                <a:solidFill>
                  <a:srgbClr val="C00000"/>
                </a:solidFill>
              </a:rPr>
              <a:t>L</a:t>
            </a:r>
            <a:r>
              <a:rPr lang="en-GB" dirty="0"/>
              <a:t>ocator)</a:t>
            </a:r>
            <a:endParaRPr lang="en-US" dirty="0"/>
          </a:p>
        </p:txBody>
      </p:sp>
      <p:sp>
        <p:nvSpPr>
          <p:cNvPr id="3" name="Content Placeholder 2">
            <a:extLst>
              <a:ext uri="{FF2B5EF4-FFF2-40B4-BE49-F238E27FC236}">
                <a16:creationId xmlns:a16="http://schemas.microsoft.com/office/drawing/2014/main" id="{9EACE77A-2699-487B-B09B-8E772B15F90C}"/>
              </a:ext>
            </a:extLst>
          </p:cNvPr>
          <p:cNvSpPr>
            <a:spLocks noGrp="1"/>
          </p:cNvSpPr>
          <p:nvPr>
            <p:ph idx="1"/>
          </p:nvPr>
        </p:nvSpPr>
        <p:spPr/>
        <p:txBody>
          <a:bodyPr/>
          <a:lstStyle/>
          <a:p>
            <a:r>
              <a:rPr lang="en-US" dirty="0" err="1"/>
              <a:t>Ví</a:t>
            </a:r>
            <a:r>
              <a:rPr lang="en-US" dirty="0"/>
              <a:t> </a:t>
            </a:r>
            <a:r>
              <a:rPr lang="en-US" dirty="0" err="1"/>
              <a:t>dụ</a:t>
            </a:r>
            <a:r>
              <a:rPr lang="en-US" dirty="0"/>
              <a:t>: </a:t>
            </a:r>
          </a:p>
        </p:txBody>
      </p:sp>
      <p:pic>
        <p:nvPicPr>
          <p:cNvPr id="8194" name="Picture 2" descr="Domain Names — SEO Best Practices [2020] - Moz">
            <a:extLst>
              <a:ext uri="{FF2B5EF4-FFF2-40B4-BE49-F238E27FC236}">
                <a16:creationId xmlns:a16="http://schemas.microsoft.com/office/drawing/2014/main" id="{6D95EC02-03C4-49EE-A795-3FA3ED031F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988" y="2065518"/>
            <a:ext cx="7684510" cy="31526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097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ACD12-E6DC-45F4-962E-7E7A74CC3461}"/>
              </a:ext>
            </a:extLst>
          </p:cNvPr>
          <p:cNvSpPr>
            <a:spLocks noGrp="1"/>
          </p:cNvSpPr>
          <p:nvPr>
            <p:ph type="title"/>
          </p:nvPr>
        </p:nvSpPr>
        <p:spPr/>
        <p:txBody>
          <a:bodyPr/>
          <a:lstStyle/>
          <a:p>
            <a:r>
              <a:rPr lang="en-US" altLang="en-US" dirty="0"/>
              <a:t>Hypertext Transfer Protocol (HTTP)</a:t>
            </a:r>
            <a:endParaRPr lang="en-US" dirty="0"/>
          </a:p>
        </p:txBody>
      </p:sp>
      <p:sp>
        <p:nvSpPr>
          <p:cNvPr id="3" name="Content Placeholder 2">
            <a:extLst>
              <a:ext uri="{FF2B5EF4-FFF2-40B4-BE49-F238E27FC236}">
                <a16:creationId xmlns:a16="http://schemas.microsoft.com/office/drawing/2014/main" id="{6B0AAE1E-FD88-4CF5-ACFA-6F9934E87B84}"/>
              </a:ext>
            </a:extLst>
          </p:cNvPr>
          <p:cNvSpPr>
            <a:spLocks noGrp="1"/>
          </p:cNvSpPr>
          <p:nvPr>
            <p:ph idx="1"/>
          </p:nvPr>
        </p:nvSpPr>
        <p:spPr/>
        <p:txBody>
          <a:bodyPr/>
          <a:lstStyle/>
          <a:p>
            <a:pPr algn="just"/>
            <a:r>
              <a:rPr lang="vi-VN" b="1" dirty="0">
                <a:solidFill>
                  <a:srgbClr val="FF0000"/>
                </a:solidFill>
              </a:rPr>
              <a:t>Giao thức truyền</a:t>
            </a:r>
            <a:r>
              <a:rPr lang="en-US" b="1" dirty="0">
                <a:solidFill>
                  <a:srgbClr val="FF0000"/>
                </a:solidFill>
              </a:rPr>
              <a:t> - transfer protocol: </a:t>
            </a:r>
            <a:r>
              <a:rPr lang="vi-VN" dirty="0"/>
              <a:t>là tập hợp các quy tắc mà máy tính sử dụng để di chuyển tệp từ máy tính này sang máy tính khác trên Internet.</a:t>
            </a:r>
            <a:endParaRPr lang="en-US" dirty="0"/>
          </a:p>
          <a:p>
            <a:r>
              <a:rPr lang="vi-VN" b="1" dirty="0"/>
              <a:t>Giao thức truyền </a:t>
            </a:r>
            <a:r>
              <a:rPr lang="vi-VN" dirty="0"/>
              <a:t>phổ biến nhất được sử dụng trên Internet là </a:t>
            </a:r>
            <a:r>
              <a:rPr lang="en-US" b="1" dirty="0"/>
              <a:t>g</a:t>
            </a:r>
            <a:r>
              <a:rPr lang="vi-VN" b="1" dirty="0"/>
              <a:t>iao thức truyền siêu văn bản (HTTP).</a:t>
            </a:r>
            <a:endParaRPr lang="en-US" b="1" dirty="0"/>
          </a:p>
          <a:p>
            <a:r>
              <a:rPr lang="vi-VN" dirty="0"/>
              <a:t>Hai giao thức khác có thể sử dụng trên Internet</a:t>
            </a:r>
            <a:r>
              <a:rPr lang="en-US" dirty="0"/>
              <a:t>:</a:t>
            </a:r>
          </a:p>
          <a:p>
            <a:pPr lvl="1"/>
            <a:r>
              <a:rPr lang="vi-VN" sz="2800" dirty="0"/>
              <a:t>Giao thức truyền tệp (FTP) </a:t>
            </a:r>
            <a:endParaRPr lang="en-US" sz="2800" dirty="0"/>
          </a:p>
          <a:p>
            <a:pPr lvl="1"/>
            <a:r>
              <a:rPr lang="vi-VN" sz="2800" dirty="0"/>
              <a:t>Giao thức Telnet</a:t>
            </a:r>
            <a:endParaRPr lang="en-US" sz="2800" dirty="0"/>
          </a:p>
        </p:txBody>
      </p:sp>
    </p:spTree>
    <p:extLst>
      <p:ext uri="{BB962C8B-B14F-4D97-AF65-F5344CB8AC3E}">
        <p14:creationId xmlns:p14="http://schemas.microsoft.com/office/powerpoint/2010/main" val="196422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F244-C4B5-4F14-A977-EB32AE92BA72}"/>
              </a:ext>
            </a:extLst>
          </p:cNvPr>
          <p:cNvSpPr>
            <a:spLocks noGrp="1"/>
          </p:cNvSpPr>
          <p:nvPr>
            <p:ph type="title"/>
          </p:nvPr>
        </p:nvSpPr>
        <p:spPr/>
        <p:txBody>
          <a:bodyPr/>
          <a:lstStyle/>
          <a:p>
            <a:r>
              <a:rPr lang="en-US" dirty="0" err="1"/>
              <a:t>Các</a:t>
            </a:r>
            <a:r>
              <a:rPr lang="en-US" dirty="0"/>
              <a:t> </a:t>
            </a:r>
            <a:r>
              <a:rPr lang="en-US" dirty="0" err="1"/>
              <a:t>loại</a:t>
            </a:r>
            <a:r>
              <a:rPr lang="en-US" dirty="0"/>
              <a:t> </a:t>
            </a:r>
            <a:r>
              <a:rPr lang="en-US" dirty="0" err="1"/>
              <a:t>ứng</a:t>
            </a:r>
            <a:r>
              <a:rPr lang="en-US" dirty="0"/>
              <a:t> </a:t>
            </a:r>
            <a:r>
              <a:rPr lang="en-US" dirty="0" err="1"/>
              <a:t>dụng</a:t>
            </a:r>
            <a:r>
              <a:rPr lang="en-US" dirty="0"/>
              <a:t> Web</a:t>
            </a:r>
          </a:p>
        </p:txBody>
      </p:sp>
      <p:sp>
        <p:nvSpPr>
          <p:cNvPr id="3" name="Content Placeholder 2">
            <a:extLst>
              <a:ext uri="{FF2B5EF4-FFF2-40B4-BE49-F238E27FC236}">
                <a16:creationId xmlns:a16="http://schemas.microsoft.com/office/drawing/2014/main" id="{BF2ED2C4-D46C-46F7-8C2E-B8717E0818E1}"/>
              </a:ext>
            </a:extLst>
          </p:cNvPr>
          <p:cNvSpPr>
            <a:spLocks noGrp="1"/>
          </p:cNvSpPr>
          <p:nvPr>
            <p:ph idx="1"/>
          </p:nvPr>
        </p:nvSpPr>
        <p:spPr/>
        <p:txBody>
          <a:bodyPr/>
          <a:lstStyle/>
          <a:p>
            <a:r>
              <a:rPr lang="vi-VN" dirty="0"/>
              <a:t>Ứng dụng web tĩnh</a:t>
            </a:r>
            <a:r>
              <a:rPr lang="en-US" dirty="0"/>
              <a:t> - Static Web Application</a:t>
            </a:r>
          </a:p>
          <a:p>
            <a:r>
              <a:rPr lang="vi-VN" dirty="0"/>
              <a:t>Ứng dụng web động</a:t>
            </a:r>
            <a:r>
              <a:rPr lang="en-US" dirty="0"/>
              <a:t> - Dynamic Web Application</a:t>
            </a:r>
          </a:p>
          <a:p>
            <a:r>
              <a:rPr lang="vi-VN" dirty="0"/>
              <a:t>Mua sắm trực tuyến hoặc thương mại điện tử</a:t>
            </a:r>
            <a:r>
              <a:rPr lang="en-US" dirty="0"/>
              <a:t> - Shop online or e-commerce</a:t>
            </a:r>
          </a:p>
          <a:p>
            <a:r>
              <a:rPr lang="vi-VN" dirty="0"/>
              <a:t>Ứng dụng Web Cổng thông tin</a:t>
            </a:r>
            <a:r>
              <a:rPr lang="en-US" dirty="0"/>
              <a:t> - Portal Web Application</a:t>
            </a:r>
          </a:p>
          <a:p>
            <a:r>
              <a:rPr lang="vi-VN" dirty="0"/>
              <a:t>Ứng dụng web hoạt hình</a:t>
            </a:r>
            <a:r>
              <a:rPr lang="en-US" dirty="0"/>
              <a:t> - Animation Web Application</a:t>
            </a:r>
          </a:p>
          <a:p>
            <a:r>
              <a:rPr lang="vi-VN" dirty="0"/>
              <a:t>Ứng dụng web với CMS</a:t>
            </a:r>
            <a:r>
              <a:rPr lang="en-US" dirty="0"/>
              <a:t> - Web Application with CMS</a:t>
            </a:r>
          </a:p>
          <a:p>
            <a:endParaRPr lang="en-US" dirty="0"/>
          </a:p>
        </p:txBody>
      </p:sp>
    </p:spTree>
    <p:extLst>
      <p:ext uri="{BB962C8B-B14F-4D97-AF65-F5344CB8AC3E}">
        <p14:creationId xmlns:p14="http://schemas.microsoft.com/office/powerpoint/2010/main" val="2395280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1BDDB-5E66-4A6E-B138-5908CA9125B8}"/>
              </a:ext>
            </a:extLst>
          </p:cNvPr>
          <p:cNvSpPr>
            <a:spLocks noGrp="1"/>
          </p:cNvSpPr>
          <p:nvPr>
            <p:ph type="title"/>
          </p:nvPr>
        </p:nvSpPr>
        <p:spPr/>
        <p:txBody>
          <a:bodyPr/>
          <a:lstStyle/>
          <a:p>
            <a:r>
              <a:rPr lang="en-US" altLang="en-US" dirty="0" err="1"/>
              <a:t>Cấu</a:t>
            </a:r>
            <a:r>
              <a:rPr lang="en-US" altLang="en-US" dirty="0"/>
              <a:t> </a:t>
            </a:r>
            <a:r>
              <a:rPr lang="en-US" altLang="en-US" dirty="0" err="1"/>
              <a:t>trúc</a:t>
            </a:r>
            <a:r>
              <a:rPr lang="en-US" altLang="en-US" dirty="0"/>
              <a:t> Client-Server </a:t>
            </a:r>
            <a:r>
              <a:rPr lang="en-US" altLang="en-US" dirty="0" err="1"/>
              <a:t>của</a:t>
            </a:r>
            <a:r>
              <a:rPr lang="en-US" altLang="en-US" dirty="0"/>
              <a:t> Web</a:t>
            </a:r>
            <a:endParaRPr lang="en-US" dirty="0"/>
          </a:p>
        </p:txBody>
      </p:sp>
      <p:sp>
        <p:nvSpPr>
          <p:cNvPr id="3" name="Content Placeholder 2">
            <a:extLst>
              <a:ext uri="{FF2B5EF4-FFF2-40B4-BE49-F238E27FC236}">
                <a16:creationId xmlns:a16="http://schemas.microsoft.com/office/drawing/2014/main" id="{4442CC10-2E96-4E09-8F75-01A986CFEFD2}"/>
              </a:ext>
            </a:extLst>
          </p:cNvPr>
          <p:cNvSpPr>
            <a:spLocks noGrp="1"/>
          </p:cNvSpPr>
          <p:nvPr>
            <p:ph idx="1"/>
          </p:nvPr>
        </p:nvSpPr>
        <p:spPr/>
        <p:txBody>
          <a:bodyPr/>
          <a:lstStyle/>
          <a:p>
            <a:pPr algn="just"/>
            <a:r>
              <a:rPr lang="vi-VN" b="1" dirty="0">
                <a:solidFill>
                  <a:srgbClr val="FF0000"/>
                </a:solidFill>
              </a:rPr>
              <a:t>Web</a:t>
            </a:r>
            <a:r>
              <a:rPr lang="vi-VN" dirty="0"/>
              <a:t> là một tập hợp các tệp nằm trên máy tính, được gọi là </a:t>
            </a:r>
            <a:r>
              <a:rPr lang="en-US" altLang="en-US" b="1" dirty="0"/>
              <a:t>Web servers</a:t>
            </a:r>
            <a:r>
              <a:rPr lang="vi-VN" dirty="0"/>
              <a:t>, được đặt ở khắp nơi trên thế giới và được kết nối với nhau thông qua Internet.</a:t>
            </a:r>
            <a:endParaRPr lang="en-US" dirty="0"/>
          </a:p>
          <a:p>
            <a:pPr algn="just"/>
            <a:r>
              <a:rPr lang="vi-VN" dirty="0"/>
              <a:t>Khi sử dụng kết nối Internet để trở thành một phần của Web, máy tính của bạn sẽ trở thành một </a:t>
            </a:r>
            <a:r>
              <a:rPr lang="en-US" altLang="en-US" b="1" dirty="0"/>
              <a:t>Web client</a:t>
            </a:r>
            <a:r>
              <a:rPr lang="en-US" altLang="en-US" dirty="0"/>
              <a:t> </a:t>
            </a:r>
            <a:r>
              <a:rPr lang="vi-VN" dirty="0"/>
              <a:t>trong mạng </a:t>
            </a:r>
            <a:r>
              <a:rPr lang="en-US" altLang="en-US" b="1" dirty="0"/>
              <a:t>client/server </a:t>
            </a:r>
            <a:r>
              <a:rPr lang="vi-VN" dirty="0"/>
              <a:t>trên toàn thế giới.</a:t>
            </a:r>
            <a:endParaRPr lang="en-US" dirty="0"/>
          </a:p>
          <a:p>
            <a:pPr algn="just"/>
            <a:r>
              <a:rPr lang="vi-VN" b="1" dirty="0"/>
              <a:t>Trình duyệt Web </a:t>
            </a:r>
            <a:r>
              <a:rPr lang="vi-VN" dirty="0"/>
              <a:t>là phần mềm chạy trên máy tính của mình để làm cho nó hoạt động như một ứng dụng </a:t>
            </a:r>
            <a:r>
              <a:rPr lang="en-US" altLang="en-US" b="1" dirty="0"/>
              <a:t>web client</a:t>
            </a:r>
            <a:r>
              <a:rPr lang="vi-VN" dirty="0"/>
              <a:t>.</a:t>
            </a:r>
            <a:endParaRPr lang="en-US" dirty="0"/>
          </a:p>
        </p:txBody>
      </p:sp>
    </p:spTree>
    <p:extLst>
      <p:ext uri="{BB962C8B-B14F-4D97-AF65-F5344CB8AC3E}">
        <p14:creationId xmlns:p14="http://schemas.microsoft.com/office/powerpoint/2010/main" val="3086548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Kiến</a:t>
            </a:r>
            <a:r>
              <a:rPr lang="en-US" dirty="0"/>
              <a:t> </a:t>
            </a:r>
            <a:r>
              <a:rPr lang="en-US" dirty="0" err="1"/>
              <a:t>trúc</a:t>
            </a:r>
            <a:r>
              <a:rPr lang="en-US" dirty="0"/>
              <a:t> </a:t>
            </a:r>
            <a:r>
              <a:rPr lang="en-US" dirty="0" err="1"/>
              <a:t>ứng</a:t>
            </a:r>
            <a:r>
              <a:rPr lang="en-US" dirty="0"/>
              <a:t> </a:t>
            </a:r>
            <a:r>
              <a:rPr lang="en-US" dirty="0" err="1"/>
              <a:t>dụng</a:t>
            </a:r>
            <a:r>
              <a:rPr lang="en-US" dirty="0"/>
              <a:t> web</a:t>
            </a:r>
          </a:p>
        </p:txBody>
      </p:sp>
      <p:sp>
        <p:nvSpPr>
          <p:cNvPr id="3" name="Content Placeholder 2"/>
          <p:cNvSpPr>
            <a:spLocks noGrp="1"/>
          </p:cNvSpPr>
          <p:nvPr>
            <p:ph idx="1"/>
          </p:nvPr>
        </p:nvSpPr>
        <p:spPr/>
        <p:txBody>
          <a:bodyPr/>
          <a:lstStyle/>
          <a:p>
            <a:pPr>
              <a:defRPr/>
            </a:pPr>
            <a:r>
              <a:rPr lang="en-US" b="1" dirty="0" err="1">
                <a:solidFill>
                  <a:srgbClr val="FF0000"/>
                </a:solidFill>
              </a:rPr>
              <a:t>Kiến</a:t>
            </a:r>
            <a:r>
              <a:rPr lang="en-US" b="1" dirty="0">
                <a:solidFill>
                  <a:srgbClr val="FF0000"/>
                </a:solidFill>
              </a:rPr>
              <a:t> </a:t>
            </a:r>
            <a:r>
              <a:rPr lang="en-US" b="1" dirty="0" err="1">
                <a:solidFill>
                  <a:srgbClr val="FF0000"/>
                </a:solidFill>
              </a:rPr>
              <a:t>trúc</a:t>
            </a:r>
            <a:r>
              <a:rPr lang="en-US" b="1" dirty="0">
                <a:solidFill>
                  <a:srgbClr val="FF0000"/>
                </a:solidFill>
              </a:rPr>
              <a:t> client -server</a:t>
            </a:r>
          </a:p>
          <a:p>
            <a:pPr lvl="1">
              <a:defRPr/>
            </a:pPr>
            <a:r>
              <a:rPr lang="en-US" dirty="0"/>
              <a:t>WWW </a:t>
            </a:r>
            <a:r>
              <a:rPr lang="en-US" dirty="0" err="1"/>
              <a:t>sử</a:t>
            </a:r>
            <a:r>
              <a:rPr lang="en-US" dirty="0"/>
              <a:t> </a:t>
            </a:r>
            <a:r>
              <a:rPr lang="en-US" dirty="0" err="1"/>
              <a:t>dụng</a:t>
            </a:r>
            <a:r>
              <a:rPr lang="en-US" dirty="0"/>
              <a:t> </a:t>
            </a:r>
            <a:r>
              <a:rPr lang="en-US" dirty="0" err="1"/>
              <a:t>kiến</a:t>
            </a:r>
            <a:r>
              <a:rPr lang="en-US" dirty="0"/>
              <a:t> </a:t>
            </a:r>
            <a:r>
              <a:rPr lang="en-US" dirty="0" err="1"/>
              <a:t>trúc</a:t>
            </a:r>
            <a:r>
              <a:rPr lang="en-US" dirty="0"/>
              <a:t>  client - server </a:t>
            </a:r>
            <a:r>
              <a:rPr lang="en-US" dirty="0" err="1"/>
              <a:t>cổ</a:t>
            </a:r>
            <a:r>
              <a:rPr lang="en-US" dirty="0"/>
              <a:t> </a:t>
            </a:r>
            <a:r>
              <a:rPr lang="en-US" dirty="0" err="1"/>
              <a:t>điển</a:t>
            </a:r>
            <a:r>
              <a:rPr lang="en-US" dirty="0"/>
              <a:t> </a:t>
            </a:r>
          </a:p>
          <a:p>
            <a:pPr lvl="1">
              <a:defRPr/>
            </a:pPr>
            <a:r>
              <a:rPr lang="en-US" dirty="0"/>
              <a:t>HTTP </a:t>
            </a:r>
            <a:r>
              <a:rPr lang="en-US" dirty="0" err="1"/>
              <a:t>là</a:t>
            </a:r>
            <a:r>
              <a:rPr lang="en-US" dirty="0"/>
              <a:t> </a:t>
            </a:r>
            <a:r>
              <a:rPr lang="en-US" dirty="0" err="1"/>
              <a:t>giao</a:t>
            </a:r>
            <a:r>
              <a:rPr lang="en-US" dirty="0"/>
              <a:t> </a:t>
            </a:r>
            <a:r>
              <a:rPr lang="en-US" dirty="0" err="1"/>
              <a:t>thức</a:t>
            </a:r>
            <a:r>
              <a:rPr lang="en-US" dirty="0"/>
              <a:t> request-response </a:t>
            </a:r>
            <a:r>
              <a:rPr lang="en-US" dirty="0" err="1"/>
              <a:t>dựa</a:t>
            </a:r>
            <a:r>
              <a:rPr lang="en-US" dirty="0"/>
              <a:t> </a:t>
            </a:r>
            <a:r>
              <a:rPr lang="en-US" dirty="0" err="1"/>
              <a:t>trên</a:t>
            </a:r>
            <a:r>
              <a:rPr lang="en-US" dirty="0"/>
              <a:t> </a:t>
            </a:r>
            <a:r>
              <a:rPr lang="en-US" dirty="0" err="1"/>
              <a:t>văn</a:t>
            </a:r>
            <a:r>
              <a:rPr lang="en-US" dirty="0"/>
              <a:t> </a:t>
            </a:r>
            <a:r>
              <a:rPr lang="en-US" dirty="0" err="1"/>
              <a:t>bản</a:t>
            </a:r>
            <a:r>
              <a:rPr lang="en-US" dirty="0"/>
              <a:t> (text-based)</a:t>
            </a:r>
          </a:p>
          <a:p>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27</a:t>
            </a:fld>
            <a:endParaRPr lang="en-US"/>
          </a:p>
        </p:txBody>
      </p:sp>
      <p:grpSp>
        <p:nvGrpSpPr>
          <p:cNvPr id="5" name="Group 4"/>
          <p:cNvGrpSpPr/>
          <p:nvPr/>
        </p:nvGrpSpPr>
        <p:grpSpPr>
          <a:xfrm>
            <a:off x="1584454" y="3270740"/>
            <a:ext cx="9525000" cy="3116304"/>
            <a:chOff x="304800" y="2638165"/>
            <a:chExt cx="9525000" cy="3116304"/>
          </a:xfrm>
        </p:grpSpPr>
        <p:grpSp>
          <p:nvGrpSpPr>
            <p:cNvPr id="6" name="Group 28"/>
            <p:cNvGrpSpPr>
              <a:grpSpLocks/>
            </p:cNvGrpSpPr>
            <p:nvPr/>
          </p:nvGrpSpPr>
          <p:grpSpPr bwMode="auto">
            <a:xfrm>
              <a:off x="2971800" y="3174562"/>
              <a:ext cx="3352800" cy="676629"/>
              <a:chOff x="1776" y="1680"/>
              <a:chExt cx="1728" cy="352"/>
            </a:xfrm>
            <a:solidFill>
              <a:schemeClr val="accent5">
                <a:lumMod val="60000"/>
                <a:lumOff val="40000"/>
                <a:alpha val="30000"/>
              </a:schemeClr>
            </a:solidFill>
          </p:grpSpPr>
          <p:sp>
            <p:nvSpPr>
              <p:cNvPr id="18" name="AutoShape 29"/>
              <p:cNvSpPr>
                <a:spLocks noChangeArrowheads="1"/>
              </p:cNvSpPr>
              <p:nvPr/>
            </p:nvSpPr>
            <p:spPr bwMode="auto">
              <a:xfrm>
                <a:off x="1776" y="1680"/>
                <a:ext cx="1728" cy="35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pFill/>
              <a:ln w="12700" cap="sq">
                <a:solidFill>
                  <a:schemeClr val="accent1"/>
                </a:solidFill>
                <a:miter lim="800000"/>
                <a:headEnd type="none" w="sm" len="sm"/>
                <a:tailEnd type="none" w="sm" len="sm"/>
              </a:ln>
              <a:effectLst/>
            </p:spPr>
            <p:txBody>
              <a:bodyPr wrap="none" anchor="ctr"/>
              <a:lstStyle/>
              <a:p>
                <a:pPr>
                  <a:defRPr/>
                </a:pPr>
                <a:endParaRPr lang="en-US" dirty="0">
                  <a:solidFill>
                    <a:srgbClr val="002060"/>
                  </a:solidFill>
                  <a:effectLst>
                    <a:outerShdw blurRad="38100" dist="38100" dir="2700000" algn="tl">
                      <a:srgbClr val="000000">
                        <a:alpha val="43137"/>
                      </a:srgbClr>
                    </a:outerShdw>
                  </a:effectLst>
                </a:endParaRPr>
              </a:p>
            </p:txBody>
          </p:sp>
          <p:sp>
            <p:nvSpPr>
              <p:cNvPr id="19" name="Text Box 30"/>
              <p:cNvSpPr txBox="1">
                <a:spLocks noChangeArrowheads="1"/>
              </p:cNvSpPr>
              <p:nvPr/>
            </p:nvSpPr>
            <p:spPr bwMode="auto">
              <a:xfrm>
                <a:off x="2044" y="1751"/>
                <a:ext cx="1008" cy="208"/>
              </a:xfrm>
              <a:prstGeom prst="rect">
                <a:avLst/>
              </a:prstGeom>
              <a:noFill/>
              <a:ln w="12700" cap="sq">
                <a:solidFill>
                  <a:schemeClr val="accent1"/>
                </a:solidFill>
                <a:miter lim="800000"/>
                <a:headEnd type="none" w="sm" len="sm"/>
                <a:tailEnd type="none" w="sm" len="sm"/>
              </a:ln>
              <a:effectLst/>
            </p:spPr>
            <p:txBody>
              <a:bodyPr>
                <a:spAutoFit/>
              </a:bodyPr>
              <a:lstStyle/>
              <a:p>
                <a:pPr algn="ctr">
                  <a:lnSpc>
                    <a:spcPct val="100000"/>
                  </a:lnSpc>
                  <a:spcBef>
                    <a:spcPct val="50000"/>
                  </a:spcBef>
                  <a:defRPr/>
                </a:pPr>
                <a:r>
                  <a:rPr lang="en-US" sz="2000" b="1" dirty="0">
                    <a:solidFill>
                      <a:srgbClr val="002060"/>
                    </a:solidFill>
                    <a:effectLst>
                      <a:outerShdw blurRad="38100" dist="38100" dir="2700000" algn="tl">
                        <a:srgbClr val="000000">
                          <a:alpha val="43137"/>
                        </a:srgbClr>
                      </a:outerShdw>
                    </a:effectLst>
                  </a:rPr>
                  <a:t>Page request</a:t>
                </a:r>
              </a:p>
            </p:txBody>
          </p:sp>
        </p:grpSp>
        <p:sp>
          <p:nvSpPr>
            <p:cNvPr id="7" name="Text Box 31"/>
            <p:cNvSpPr txBox="1">
              <a:spLocks noChangeArrowheads="1"/>
            </p:cNvSpPr>
            <p:nvPr/>
          </p:nvSpPr>
          <p:spPr bwMode="auto">
            <a:xfrm>
              <a:off x="304800" y="5279648"/>
              <a:ext cx="3792482" cy="369332"/>
            </a:xfrm>
            <a:prstGeom prst="rect">
              <a:avLst/>
            </a:prstGeom>
            <a:noFill/>
            <a:ln w="12700" cap="sq">
              <a:solidFill>
                <a:schemeClr val="accent1"/>
              </a:solidFill>
              <a:miter lim="800000"/>
              <a:headEnd type="none" w="sm" len="sm"/>
              <a:tailEnd type="none" w="sm" len="sm"/>
            </a:ln>
            <a:effectLst/>
          </p:spPr>
          <p:txBody>
            <a:bodyPr wrap="square">
              <a:spAutoFit/>
            </a:bodyPr>
            <a:lstStyle/>
            <a:p>
              <a:pPr algn="ctr">
                <a:lnSpc>
                  <a:spcPct val="100000"/>
                </a:lnSpc>
                <a:spcBef>
                  <a:spcPct val="50000"/>
                </a:spcBef>
                <a:defRPr/>
              </a:pPr>
              <a:r>
                <a:rPr lang="en-US" dirty="0">
                  <a:solidFill>
                    <a:srgbClr val="002060"/>
                  </a:solidFill>
                  <a:effectLst>
                    <a:outerShdw blurRad="38100" dist="38100" dir="2700000" algn="tl">
                      <a:srgbClr val="000000">
                        <a:alpha val="43137"/>
                      </a:srgbClr>
                    </a:outerShdw>
                  </a:effectLst>
                </a:rPr>
                <a:t>Client running a Web Browser</a:t>
              </a:r>
            </a:p>
          </p:txBody>
        </p:sp>
        <p:sp>
          <p:nvSpPr>
            <p:cNvPr id="8" name="Text Box 32"/>
            <p:cNvSpPr txBox="1">
              <a:spLocks noChangeArrowheads="1"/>
            </p:cNvSpPr>
            <p:nvPr/>
          </p:nvSpPr>
          <p:spPr bwMode="auto">
            <a:xfrm>
              <a:off x="5838824" y="5108138"/>
              <a:ext cx="3990976" cy="646331"/>
            </a:xfrm>
            <a:prstGeom prst="rect">
              <a:avLst/>
            </a:prstGeom>
            <a:noFill/>
            <a:ln w="12700" cap="sq">
              <a:solidFill>
                <a:schemeClr val="accent1"/>
              </a:solidFill>
              <a:miter lim="800000"/>
              <a:headEnd type="none" w="sm" len="sm"/>
              <a:tailEnd type="none" w="sm" len="sm"/>
            </a:ln>
            <a:effectLst/>
          </p:spPr>
          <p:txBody>
            <a:bodyPr wrap="square">
              <a:spAutoFit/>
            </a:bodyPr>
            <a:lstStyle/>
            <a:p>
              <a:pPr algn="ctr">
                <a:lnSpc>
                  <a:spcPct val="100000"/>
                </a:lnSpc>
                <a:spcBef>
                  <a:spcPct val="50000"/>
                </a:spcBef>
                <a:defRPr/>
              </a:pPr>
              <a:r>
                <a:rPr lang="en-US" dirty="0">
                  <a:solidFill>
                    <a:srgbClr val="002060"/>
                  </a:solidFill>
                  <a:effectLst>
                    <a:outerShdw blurRad="38100" dist="38100" dir="2700000" algn="tl">
                      <a:srgbClr val="000000">
                        <a:alpha val="43137"/>
                      </a:srgbClr>
                    </a:outerShdw>
                  </a:effectLst>
                </a:rPr>
                <a:t>Server running Web Server Software   (IIS, Apache, etc.)</a:t>
              </a:r>
            </a:p>
          </p:txBody>
        </p:sp>
        <p:grpSp>
          <p:nvGrpSpPr>
            <p:cNvPr id="9" name="Group 8"/>
            <p:cNvGrpSpPr/>
            <p:nvPr/>
          </p:nvGrpSpPr>
          <p:grpSpPr>
            <a:xfrm>
              <a:off x="2971800" y="4211200"/>
              <a:ext cx="3352800" cy="698748"/>
              <a:chOff x="3200400" y="3962400"/>
              <a:chExt cx="2895600" cy="485775"/>
            </a:xfrm>
          </p:grpSpPr>
          <p:sp>
            <p:nvSpPr>
              <p:cNvPr id="16" name="AutoShape 34"/>
              <p:cNvSpPr>
                <a:spLocks noChangeArrowheads="1"/>
              </p:cNvSpPr>
              <p:nvPr/>
            </p:nvSpPr>
            <p:spPr bwMode="auto">
              <a:xfrm flipH="1">
                <a:off x="3200400" y="3962400"/>
                <a:ext cx="2895600" cy="48577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5">
                  <a:lumMod val="60000"/>
                  <a:lumOff val="40000"/>
                  <a:alpha val="30000"/>
                </a:schemeClr>
              </a:solidFill>
              <a:ln w="12700" cap="sq">
                <a:solidFill>
                  <a:schemeClr val="accent1"/>
                </a:solidFill>
                <a:miter lim="800000"/>
                <a:headEnd type="none" w="sm" len="sm"/>
                <a:tailEnd type="none" w="sm" len="sm"/>
              </a:ln>
              <a:effectLst/>
            </p:spPr>
            <p:txBody>
              <a:bodyPr wrap="none" anchor="ctr"/>
              <a:lstStyle/>
              <a:p>
                <a:pPr>
                  <a:defRPr/>
                </a:pPr>
                <a:endParaRPr lang="en-US" dirty="0">
                  <a:solidFill>
                    <a:srgbClr val="002060"/>
                  </a:solidFill>
                  <a:effectLst>
                    <a:outerShdw blurRad="38100" dist="38100" dir="2700000" algn="tl">
                      <a:srgbClr val="000000">
                        <a:alpha val="43137"/>
                      </a:srgbClr>
                    </a:outerShdw>
                  </a:effectLst>
                </a:endParaRPr>
              </a:p>
            </p:txBody>
          </p:sp>
          <p:sp>
            <p:nvSpPr>
              <p:cNvPr id="17" name="Text Box 35"/>
              <p:cNvSpPr txBox="1">
                <a:spLocks noChangeArrowheads="1"/>
              </p:cNvSpPr>
              <p:nvPr/>
            </p:nvSpPr>
            <p:spPr bwMode="auto">
              <a:xfrm>
                <a:off x="3810001" y="4071918"/>
                <a:ext cx="1950068" cy="278160"/>
              </a:xfrm>
              <a:prstGeom prst="rect">
                <a:avLst/>
              </a:prstGeom>
              <a:noFill/>
              <a:ln w="12700" cap="sq">
                <a:solidFill>
                  <a:schemeClr val="accent1"/>
                </a:solidFill>
                <a:miter lim="800000"/>
                <a:headEnd type="none" w="sm" len="sm"/>
                <a:tailEnd type="none" w="sm" len="sm"/>
              </a:ln>
              <a:effectLst/>
            </p:spPr>
            <p:txBody>
              <a:bodyPr wrap="square">
                <a:spAutoFit/>
              </a:bodyPr>
              <a:lstStyle/>
              <a:p>
                <a:pPr algn="ctr">
                  <a:lnSpc>
                    <a:spcPct val="100000"/>
                  </a:lnSpc>
                  <a:spcBef>
                    <a:spcPct val="50000"/>
                  </a:spcBef>
                  <a:defRPr/>
                </a:pPr>
                <a:r>
                  <a:rPr lang="en-US" sz="2000" b="1" dirty="0">
                    <a:solidFill>
                      <a:srgbClr val="002060"/>
                    </a:solidFill>
                    <a:effectLst>
                      <a:outerShdw blurRad="38100" dist="38100" dir="2700000" algn="tl">
                        <a:srgbClr val="000000">
                          <a:alpha val="43137"/>
                        </a:srgbClr>
                      </a:outerShdw>
                    </a:effectLst>
                  </a:rPr>
                  <a:t>Server response</a:t>
                </a:r>
              </a:p>
            </p:txBody>
          </p:sp>
        </p:grpSp>
        <p:sp>
          <p:nvSpPr>
            <p:cNvPr id="10" name="Text Box 37"/>
            <p:cNvSpPr txBox="1">
              <a:spLocks noChangeArrowheads="1"/>
            </p:cNvSpPr>
            <p:nvPr/>
          </p:nvSpPr>
          <p:spPr bwMode="auto">
            <a:xfrm>
              <a:off x="3875088" y="2819400"/>
              <a:ext cx="1293812" cy="461665"/>
            </a:xfrm>
            <a:prstGeom prst="rect">
              <a:avLst/>
            </a:prstGeom>
            <a:noFill/>
            <a:ln w="12700" cap="sq">
              <a:solidFill>
                <a:schemeClr val="accent1"/>
              </a:solidFill>
              <a:miter lim="800000"/>
              <a:headEnd type="none" w="sm" len="sm"/>
              <a:tailEnd type="none" w="sm" len="sm"/>
            </a:ln>
            <a:effectLst/>
          </p:spPr>
          <p:txBody>
            <a:bodyPr wrap="square">
              <a:spAutoFit/>
            </a:bodyPr>
            <a:lstStyle/>
            <a:p>
              <a:pPr algn="ctr">
                <a:lnSpc>
                  <a:spcPct val="100000"/>
                </a:lnSpc>
                <a:spcBef>
                  <a:spcPct val="50000"/>
                </a:spcBef>
                <a:defRPr/>
              </a:pPr>
              <a:r>
                <a:rPr lang="en-US" sz="2400" b="1" dirty="0">
                  <a:solidFill>
                    <a:srgbClr val="002060"/>
                  </a:solidFill>
                  <a:effectLst>
                    <a:outerShdw blurRad="38100" dist="38100" dir="2700000" algn="tl">
                      <a:srgbClr val="000000">
                        <a:alpha val="43137"/>
                      </a:srgbClr>
                    </a:outerShdw>
                  </a:effectLst>
                </a:rPr>
                <a:t>HTTP</a:t>
              </a:r>
            </a:p>
          </p:txBody>
        </p:sp>
        <p:sp>
          <p:nvSpPr>
            <p:cNvPr id="11" name="Text Box 38"/>
            <p:cNvSpPr txBox="1">
              <a:spLocks noChangeArrowheads="1"/>
            </p:cNvSpPr>
            <p:nvPr/>
          </p:nvSpPr>
          <p:spPr bwMode="auto">
            <a:xfrm>
              <a:off x="4310062" y="3971488"/>
              <a:ext cx="947738" cy="400110"/>
            </a:xfrm>
            <a:prstGeom prst="rect">
              <a:avLst/>
            </a:prstGeom>
            <a:noFill/>
            <a:ln w="12700" cap="sq">
              <a:solidFill>
                <a:schemeClr val="accent1"/>
              </a:solidFill>
              <a:miter lim="800000"/>
              <a:headEnd type="none" w="sm" len="sm"/>
              <a:tailEnd type="none" w="sm" len="sm"/>
            </a:ln>
            <a:effectLst/>
          </p:spPr>
          <p:txBody>
            <a:bodyPr wrap="square">
              <a:spAutoFit/>
            </a:bodyPr>
            <a:lstStyle/>
            <a:p>
              <a:pPr algn="ctr">
                <a:lnSpc>
                  <a:spcPct val="100000"/>
                </a:lnSpc>
                <a:spcBef>
                  <a:spcPct val="50000"/>
                </a:spcBef>
                <a:defRPr/>
              </a:pPr>
              <a:r>
                <a:rPr lang="en-US" sz="2000" b="1" dirty="0">
                  <a:solidFill>
                    <a:srgbClr val="002060"/>
                  </a:solidFill>
                  <a:effectLst>
                    <a:outerShdw blurRad="38100" dist="38100" dir="2700000" algn="tl">
                      <a:srgbClr val="000000">
                        <a:alpha val="43137"/>
                      </a:srgbClr>
                    </a:outerShdw>
                  </a:effectLst>
                </a:rPr>
                <a:t>HTTP</a:t>
              </a:r>
            </a:p>
          </p:txBody>
        </p:sp>
        <p:grpSp>
          <p:nvGrpSpPr>
            <p:cNvPr id="12" name="Group 11"/>
            <p:cNvGrpSpPr/>
            <p:nvPr/>
          </p:nvGrpSpPr>
          <p:grpSpPr>
            <a:xfrm>
              <a:off x="580803" y="2638165"/>
              <a:ext cx="2438400" cy="2438400"/>
              <a:chOff x="228600" y="224864"/>
              <a:chExt cx="2438400" cy="2438400"/>
            </a:xfrm>
          </p:grpSpPr>
          <p:pic>
            <p:nvPicPr>
              <p:cNvPr id="14" name="Picture 2" descr="http://askyourpc.com/media/blogs/a/images_2/Computer-256x256.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28600" y="224864"/>
                <a:ext cx="2438400" cy="2438400"/>
              </a:xfrm>
              <a:prstGeom prst="rect">
                <a:avLst/>
              </a:prstGeom>
              <a:ln>
                <a:solidFill>
                  <a:schemeClr val="accent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5" name="Picture 36" descr="website-windo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975723">
                <a:off x="602640" y="904992"/>
                <a:ext cx="1280241" cy="1065798"/>
              </a:xfrm>
              <a:prstGeom prst="rect">
                <a:avLst/>
              </a:prstGeom>
              <a:ln>
                <a:solidFill>
                  <a:schemeClr val="accent1"/>
                </a:solidFill>
              </a:ln>
              <a:effectLst>
                <a:outerShdw blurRad="292100" dist="139700" dir="2700000" algn="tl" rotWithShape="0">
                  <a:srgbClr val="333333">
                    <a:alpha val="65000"/>
                  </a:srgbClr>
                </a:outerShdw>
              </a:effectLst>
            </p:spPr>
          </p:pic>
        </p:grpSp>
        <p:pic>
          <p:nvPicPr>
            <p:cNvPr id="13" name="Picture 4" descr="http://www.iconarchive.com/icons/visualpharm/hardware/256/server-ico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3020134"/>
              <a:ext cx="2011804" cy="2011804"/>
            </a:xfrm>
            <a:prstGeom prst="rect">
              <a:avLst/>
            </a:prstGeom>
            <a:ln>
              <a:solidFill>
                <a:schemeClr val="accent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7719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D4E20-CD7E-4DCF-910C-54854F8FFB55}"/>
              </a:ext>
            </a:extLst>
          </p:cNvPr>
          <p:cNvSpPr>
            <a:spLocks noGrp="1"/>
          </p:cNvSpPr>
          <p:nvPr>
            <p:ph type="title"/>
          </p:nvPr>
        </p:nvSpPr>
        <p:spPr/>
        <p:txBody>
          <a:bodyPr/>
          <a:lstStyle/>
          <a:p>
            <a:r>
              <a:rPr lang="en-US" dirty="0"/>
              <a:t>Code </a:t>
            </a:r>
            <a:r>
              <a:rPr lang="en-US" dirty="0" err="1"/>
              <a:t>phía</a:t>
            </a:r>
            <a:r>
              <a:rPr lang="en-US" dirty="0"/>
              <a:t> Server</a:t>
            </a:r>
          </a:p>
        </p:txBody>
      </p:sp>
      <p:sp>
        <p:nvSpPr>
          <p:cNvPr id="3" name="Content Placeholder 2">
            <a:extLst>
              <a:ext uri="{FF2B5EF4-FFF2-40B4-BE49-F238E27FC236}">
                <a16:creationId xmlns:a16="http://schemas.microsoft.com/office/drawing/2014/main" id="{E535945F-577A-419B-86EE-D4A62D91BC02}"/>
              </a:ext>
            </a:extLst>
          </p:cNvPr>
          <p:cNvSpPr>
            <a:spLocks noGrp="1"/>
          </p:cNvSpPr>
          <p:nvPr>
            <p:ph idx="1"/>
          </p:nvPr>
        </p:nvSpPr>
        <p:spPr/>
        <p:txBody>
          <a:bodyPr/>
          <a:lstStyle/>
          <a:p>
            <a:r>
              <a:rPr lang="en-US" b="1" dirty="0" err="1">
                <a:solidFill>
                  <a:srgbClr val="FF0000"/>
                </a:solidFill>
              </a:rPr>
              <a:t>Ngôn</a:t>
            </a:r>
            <a:r>
              <a:rPr lang="en-US" b="1" dirty="0">
                <a:solidFill>
                  <a:srgbClr val="FF0000"/>
                </a:solidFill>
              </a:rPr>
              <a:t> </a:t>
            </a:r>
            <a:r>
              <a:rPr lang="en-US" b="1" dirty="0" err="1">
                <a:solidFill>
                  <a:srgbClr val="FF0000"/>
                </a:solidFill>
              </a:rPr>
              <a:t>ngữ</a:t>
            </a:r>
            <a:r>
              <a:rPr lang="en-US" b="1" dirty="0">
                <a:solidFill>
                  <a:srgbClr val="FF0000"/>
                </a:solidFill>
              </a:rPr>
              <a:t> - Frameworks</a:t>
            </a:r>
            <a:r>
              <a:rPr lang="en-US" dirty="0"/>
              <a:t>: </a:t>
            </a:r>
            <a:r>
              <a:rPr lang="en-US" dirty="0" err="1"/>
              <a:t>không</a:t>
            </a:r>
            <a:r>
              <a:rPr lang="en-US" dirty="0"/>
              <a:t> </a:t>
            </a:r>
            <a:r>
              <a:rPr lang="en-US" dirty="0" err="1"/>
              <a:t>giới</a:t>
            </a:r>
            <a:r>
              <a:rPr lang="en-US" dirty="0"/>
              <a:t> </a:t>
            </a:r>
            <a:r>
              <a:rPr lang="en-US" dirty="0" err="1"/>
              <a:t>hạn</a:t>
            </a:r>
            <a:r>
              <a:rPr lang="en-US" dirty="0"/>
              <a:t>, </a:t>
            </a:r>
          </a:p>
          <a:p>
            <a:pPr lvl="1"/>
            <a:r>
              <a:rPr lang="vi-VN" dirty="0"/>
              <a:t>Ruby (Rails)</a:t>
            </a:r>
            <a:endParaRPr lang="en-US" dirty="0"/>
          </a:p>
          <a:p>
            <a:pPr lvl="1"/>
            <a:r>
              <a:rPr lang="vi-VN" dirty="0"/>
              <a:t>Javascript (Node.js)</a:t>
            </a:r>
            <a:endParaRPr lang="en-US" dirty="0"/>
          </a:p>
          <a:p>
            <a:pPr lvl="1"/>
            <a:r>
              <a:rPr lang="vi-VN" dirty="0"/>
              <a:t>Python (Django)</a:t>
            </a:r>
            <a:endParaRPr lang="en-US" dirty="0"/>
          </a:p>
          <a:p>
            <a:pPr lvl="1"/>
            <a:r>
              <a:rPr lang="vi-VN" dirty="0"/>
              <a:t>PHP, C # và Java; </a:t>
            </a:r>
            <a:endParaRPr lang="en-US" dirty="0"/>
          </a:p>
          <a:p>
            <a:pPr lvl="1" algn="just"/>
            <a:r>
              <a:rPr lang="en-US" dirty="0"/>
              <a:t>N</a:t>
            </a:r>
            <a:r>
              <a:rPr lang="vi-VN" dirty="0"/>
              <a:t>hưng danh sách các </a:t>
            </a:r>
            <a:r>
              <a:rPr lang="en-US" dirty="0" err="1"/>
              <a:t>ngôn</a:t>
            </a:r>
            <a:r>
              <a:rPr lang="en-US" dirty="0"/>
              <a:t> </a:t>
            </a:r>
            <a:r>
              <a:rPr lang="en-US" dirty="0" err="1"/>
              <a:t>ngữ</a:t>
            </a:r>
            <a:r>
              <a:rPr lang="en-US" dirty="0"/>
              <a:t> </a:t>
            </a:r>
            <a:r>
              <a:rPr lang="vi-VN" dirty="0"/>
              <a:t>là vô hạn. Bất kỳ mã nào có thể chạy trên máy tính và phản hồi các yêu cầu HTTP đều có thể chạy một máy chủ.</a:t>
            </a:r>
            <a:endParaRPr lang="en-US" dirty="0"/>
          </a:p>
        </p:txBody>
      </p:sp>
    </p:spTree>
    <p:extLst>
      <p:ext uri="{BB962C8B-B14F-4D97-AF65-F5344CB8AC3E}">
        <p14:creationId xmlns:p14="http://schemas.microsoft.com/office/powerpoint/2010/main" val="1286182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AC14-9D88-49D5-B88E-055BB9DCFA08}"/>
              </a:ext>
            </a:extLst>
          </p:cNvPr>
          <p:cNvSpPr>
            <a:spLocks noGrp="1"/>
          </p:cNvSpPr>
          <p:nvPr>
            <p:ph type="title"/>
          </p:nvPr>
        </p:nvSpPr>
        <p:spPr/>
        <p:txBody>
          <a:bodyPr/>
          <a:lstStyle/>
          <a:p>
            <a:r>
              <a:rPr lang="en-US" dirty="0"/>
              <a:t>Code </a:t>
            </a:r>
            <a:r>
              <a:rPr lang="en-US" dirty="0" err="1"/>
              <a:t>phía</a:t>
            </a:r>
            <a:r>
              <a:rPr lang="en-US" dirty="0"/>
              <a:t> Server</a:t>
            </a:r>
          </a:p>
        </p:txBody>
      </p:sp>
      <p:sp>
        <p:nvSpPr>
          <p:cNvPr id="3" name="Content Placeholder 2">
            <a:extLst>
              <a:ext uri="{FF2B5EF4-FFF2-40B4-BE49-F238E27FC236}">
                <a16:creationId xmlns:a16="http://schemas.microsoft.com/office/drawing/2014/main" id="{2BEEEA64-963E-4843-BC2D-004A4C88D94C}"/>
              </a:ext>
            </a:extLst>
          </p:cNvPr>
          <p:cNvSpPr>
            <a:spLocks noGrp="1"/>
          </p:cNvSpPr>
          <p:nvPr>
            <p:ph idx="1"/>
          </p:nvPr>
        </p:nvSpPr>
        <p:spPr/>
        <p:txBody>
          <a:bodyPr/>
          <a:lstStyle/>
          <a:p>
            <a:r>
              <a:rPr lang="en-US" b="1" dirty="0" err="1">
                <a:solidFill>
                  <a:srgbClr val="FF0000"/>
                </a:solidFill>
              </a:rPr>
              <a:t>Đặc</a:t>
            </a:r>
            <a:r>
              <a:rPr lang="en-US" b="1" dirty="0">
                <a:solidFill>
                  <a:srgbClr val="FF0000"/>
                </a:solidFill>
              </a:rPr>
              <a:t> </a:t>
            </a:r>
            <a:r>
              <a:rPr lang="en-US" b="1" dirty="0" err="1">
                <a:solidFill>
                  <a:srgbClr val="FF0000"/>
                </a:solidFill>
              </a:rPr>
              <a:t>điểm</a:t>
            </a:r>
            <a:r>
              <a:rPr lang="en-US" b="1" dirty="0">
                <a:solidFill>
                  <a:srgbClr val="FF0000"/>
                </a:solidFill>
              </a:rPr>
              <a:t>:</a:t>
            </a:r>
          </a:p>
          <a:p>
            <a:pPr lvl="1" algn="just"/>
            <a:r>
              <a:rPr lang="vi-VN" dirty="0"/>
              <a:t>Lưu trữ dữ liệu </a:t>
            </a:r>
            <a:r>
              <a:rPr lang="en-US" dirty="0" err="1"/>
              <a:t>lâu</a:t>
            </a:r>
            <a:r>
              <a:rPr lang="en-US" dirty="0"/>
              <a:t> </a:t>
            </a:r>
            <a:r>
              <a:rPr lang="en-US" dirty="0" err="1"/>
              <a:t>dài</a:t>
            </a:r>
            <a:r>
              <a:rPr lang="en-US" dirty="0"/>
              <a:t> - </a:t>
            </a:r>
            <a:r>
              <a:rPr lang="fr-FR" dirty="0"/>
              <a:t>persistent data:</a:t>
            </a:r>
            <a:r>
              <a:rPr lang="en-US" dirty="0"/>
              <a:t> </a:t>
            </a:r>
            <a:r>
              <a:rPr lang="vi-VN" dirty="0"/>
              <a:t>(hồ sơ người dùng, trang web, trang mybook, v.v.).</a:t>
            </a:r>
            <a:endParaRPr lang="en-US" dirty="0"/>
          </a:p>
          <a:p>
            <a:pPr lvl="1" algn="just"/>
            <a:r>
              <a:rPr lang="vi-VN" dirty="0"/>
              <a:t>Chỉ có thể phản hồi các yêu cầu HTTP cho một URL cụ thể, không phải bất kỳ loại đầu vào nào của người dùng.</a:t>
            </a:r>
            <a:endParaRPr lang="en-US" dirty="0"/>
          </a:p>
          <a:p>
            <a:pPr lvl="1" algn="just"/>
            <a:r>
              <a:rPr lang="vi-VN" dirty="0"/>
              <a:t>Tạo trang mà người dùng cuối cùng cũng nhìn thấy (điều này thường chỉ đúng trong các ứng dụng web chọn hiển thị hầu hết các bố cục của chúng trên máy chủ)</a:t>
            </a:r>
            <a:endParaRPr lang="en-US" dirty="0"/>
          </a:p>
        </p:txBody>
      </p:sp>
    </p:spTree>
    <p:extLst>
      <p:ext uri="{BB962C8B-B14F-4D97-AF65-F5344CB8AC3E}">
        <p14:creationId xmlns:p14="http://schemas.microsoft.com/office/powerpoint/2010/main" val="2063530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18C8F-3904-4FBB-ADA3-5165C8E1BA68}"/>
              </a:ext>
            </a:extLst>
          </p:cNvPr>
          <p:cNvSpPr>
            <a:spLocks noGrp="1"/>
          </p:cNvSpPr>
          <p:nvPr>
            <p:ph type="title"/>
          </p:nvPr>
        </p:nvSpPr>
        <p:spPr/>
        <p:txBody>
          <a:bodyPr/>
          <a:lstStyle/>
          <a:p>
            <a:r>
              <a:rPr lang="en-US" dirty="0"/>
              <a:t>Code </a:t>
            </a:r>
            <a:r>
              <a:rPr lang="en-US" dirty="0" err="1"/>
              <a:t>phía</a:t>
            </a:r>
            <a:r>
              <a:rPr lang="en-US" dirty="0"/>
              <a:t> Client</a:t>
            </a:r>
          </a:p>
        </p:txBody>
      </p:sp>
      <p:sp>
        <p:nvSpPr>
          <p:cNvPr id="3" name="Content Placeholder 2">
            <a:extLst>
              <a:ext uri="{FF2B5EF4-FFF2-40B4-BE49-F238E27FC236}">
                <a16:creationId xmlns:a16="http://schemas.microsoft.com/office/drawing/2014/main" id="{420605B4-0CAC-4A74-B4E9-83F7F8B35EA5}"/>
              </a:ext>
            </a:extLst>
          </p:cNvPr>
          <p:cNvSpPr>
            <a:spLocks noGrp="1"/>
          </p:cNvSpPr>
          <p:nvPr>
            <p:ph idx="1"/>
          </p:nvPr>
        </p:nvSpPr>
        <p:spPr/>
        <p:txBody>
          <a:bodyPr/>
          <a:lstStyle/>
          <a:p>
            <a:r>
              <a:rPr lang="en-US" b="1" dirty="0" err="1">
                <a:solidFill>
                  <a:srgbClr val="FF0000"/>
                </a:solidFill>
              </a:rPr>
              <a:t>Ngôn</a:t>
            </a:r>
            <a:r>
              <a:rPr lang="en-US" b="1" dirty="0">
                <a:solidFill>
                  <a:srgbClr val="FF0000"/>
                </a:solidFill>
              </a:rPr>
              <a:t> </a:t>
            </a:r>
            <a:r>
              <a:rPr lang="en-US" b="1" dirty="0" err="1">
                <a:solidFill>
                  <a:srgbClr val="FF0000"/>
                </a:solidFill>
              </a:rPr>
              <a:t>ngữ</a:t>
            </a:r>
            <a:r>
              <a:rPr lang="en-US" b="1" dirty="0">
                <a:solidFill>
                  <a:srgbClr val="FF0000"/>
                </a:solidFill>
              </a:rPr>
              <a:t> </a:t>
            </a:r>
            <a:r>
              <a:rPr lang="en-US" b="1" dirty="0" err="1">
                <a:solidFill>
                  <a:srgbClr val="FF0000"/>
                </a:solidFill>
              </a:rPr>
              <a:t>sử</a:t>
            </a:r>
            <a:r>
              <a:rPr lang="en-US" b="1" dirty="0">
                <a:solidFill>
                  <a:srgbClr val="FF0000"/>
                </a:solidFill>
              </a:rPr>
              <a:t> </a:t>
            </a:r>
            <a:r>
              <a:rPr lang="en-US" b="1" dirty="0" err="1">
                <a:solidFill>
                  <a:srgbClr val="FF0000"/>
                </a:solidFill>
              </a:rPr>
              <a:t>dụng</a:t>
            </a:r>
            <a:r>
              <a:rPr lang="en-US" dirty="0"/>
              <a:t>: HTML, CSS, and JavaScript</a:t>
            </a:r>
          </a:p>
          <a:p>
            <a:pPr lvl="1" algn="just"/>
            <a:r>
              <a:rPr lang="vi-VN" dirty="0"/>
              <a:t>Được trình duyệt phân tích cú pháp.</a:t>
            </a:r>
            <a:endParaRPr lang="en-US" dirty="0"/>
          </a:p>
          <a:p>
            <a:pPr lvl="1" algn="just"/>
            <a:r>
              <a:rPr lang="vi-VN" dirty="0"/>
              <a:t>Phản ứng với đầu vào của người dùng.</a:t>
            </a:r>
            <a:endParaRPr lang="en-US" dirty="0"/>
          </a:p>
          <a:p>
            <a:pPr lvl="1" algn="just"/>
            <a:r>
              <a:rPr lang="vi-VN" dirty="0"/>
              <a:t>Người dùng có thể nhìn thấy và chỉnh sửa toàn bộ.</a:t>
            </a:r>
            <a:endParaRPr lang="en-US" dirty="0"/>
          </a:p>
          <a:p>
            <a:pPr lvl="1" algn="just"/>
            <a:r>
              <a:rPr lang="vi-VN" dirty="0"/>
              <a:t>Không thể lưu trữ </a:t>
            </a:r>
            <a:r>
              <a:rPr lang="en-US" dirty="0" err="1"/>
              <a:t>dữ</a:t>
            </a:r>
            <a:r>
              <a:rPr lang="en-US" dirty="0"/>
              <a:t> </a:t>
            </a:r>
            <a:r>
              <a:rPr lang="en-US" dirty="0" err="1"/>
              <a:t>liệu</a:t>
            </a:r>
            <a:r>
              <a:rPr lang="en-US" dirty="0"/>
              <a:t> </a:t>
            </a:r>
            <a:r>
              <a:rPr lang="en-US" dirty="0" err="1"/>
              <a:t>lâu</a:t>
            </a:r>
            <a:r>
              <a:rPr lang="en-US" dirty="0"/>
              <a:t> </a:t>
            </a:r>
            <a:r>
              <a:rPr lang="en-US" dirty="0" err="1"/>
              <a:t>dài</a:t>
            </a:r>
            <a:r>
              <a:rPr lang="vi-VN" dirty="0"/>
              <a:t>.</a:t>
            </a:r>
            <a:endParaRPr lang="en-US" dirty="0"/>
          </a:p>
          <a:p>
            <a:pPr lvl="1" algn="just"/>
            <a:r>
              <a:rPr lang="vi-VN" dirty="0"/>
              <a:t>Không thể đọc trực tiếp các tệp từ máy chủ, phải giao tiếp qua các yêu cầu HTTP.</a:t>
            </a:r>
            <a:endParaRPr lang="en-US" dirty="0"/>
          </a:p>
          <a:p>
            <a:pPr lvl="1" algn="just"/>
            <a:r>
              <a:rPr lang="vi-VN" dirty="0"/>
              <a:t>Tạo trang mà người dùng cuối cùng nhìn thấy (điều này thường chỉ đúng trong các ứng dụng trang đơn).</a:t>
            </a:r>
            <a:endParaRPr lang="en-US" dirty="0"/>
          </a:p>
        </p:txBody>
      </p:sp>
    </p:spTree>
    <p:extLst>
      <p:ext uri="{BB962C8B-B14F-4D97-AF65-F5344CB8AC3E}">
        <p14:creationId xmlns:p14="http://schemas.microsoft.com/office/powerpoint/2010/main" val="3497747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C646-BAD9-4311-B110-F9BD8F73EC44}"/>
              </a:ext>
            </a:extLst>
          </p:cNvPr>
          <p:cNvSpPr>
            <a:spLocks noGrp="1"/>
          </p:cNvSpPr>
          <p:nvPr>
            <p:ph type="title"/>
          </p:nvPr>
        </p:nvSpPr>
        <p:spPr/>
        <p:txBody>
          <a:bodyPr/>
          <a:lstStyle/>
          <a:p>
            <a:r>
              <a:rPr lang="en-US" dirty="0" err="1">
                <a:ln w="500">
                  <a:noFill/>
                </a:ln>
                <a:effectLst>
                  <a:reflection blurRad="12700" stA="20000" endPos="50000" dist="12700" dir="5400000" sy="-100000" algn="bl" rotWithShape="0"/>
                </a:effectLst>
              </a:rPr>
              <a:t>Giới</a:t>
            </a:r>
            <a:r>
              <a:rPr lang="en-US" dirty="0">
                <a:ln w="500">
                  <a:noFill/>
                </a:ln>
                <a:effectLst>
                  <a:reflection blurRad="12700" stA="20000" endPos="50000" dist="12700" dir="5400000" sy="-100000" algn="bl" rotWithShape="0"/>
                </a:effectLst>
              </a:rPr>
              <a:t> </a:t>
            </a:r>
            <a:r>
              <a:rPr lang="en-US" dirty="0" err="1">
                <a:ln w="500">
                  <a:noFill/>
                </a:ln>
                <a:effectLst>
                  <a:reflection blurRad="12700" stA="20000" endPos="50000" dist="12700" dir="5400000" sy="-100000" algn="bl" rotWithShape="0"/>
                </a:effectLst>
              </a:rPr>
              <a:t>thiệu</a:t>
            </a:r>
            <a:r>
              <a:rPr lang="en-US" dirty="0">
                <a:ln w="500">
                  <a:noFill/>
                </a:ln>
                <a:effectLst>
                  <a:reflection blurRad="12700" stA="20000" endPos="50000" dist="12700" dir="5400000" sy="-100000" algn="bl" rotWithShape="0"/>
                </a:effectLst>
              </a:rPr>
              <a:t> </a:t>
            </a:r>
            <a:r>
              <a:rPr lang="vi-VN" dirty="0"/>
              <a:t>Dịch vụ Web </a:t>
            </a:r>
            <a:r>
              <a:rPr lang="en-US" dirty="0"/>
              <a:t>- </a:t>
            </a:r>
            <a:r>
              <a:rPr lang="en-US" dirty="0">
                <a:ln w="500">
                  <a:noFill/>
                </a:ln>
                <a:effectLst>
                  <a:reflection blurRad="12700" stA="20000" endPos="50000" dist="12700" dir="5400000" sy="-100000" algn="bl" rotWithShape="0"/>
                </a:effectLst>
              </a:rPr>
              <a:t>Web Services</a:t>
            </a:r>
            <a:endParaRPr lang="en-US" dirty="0"/>
          </a:p>
        </p:txBody>
      </p:sp>
      <p:sp>
        <p:nvSpPr>
          <p:cNvPr id="3" name="Content Placeholder 2">
            <a:extLst>
              <a:ext uri="{FF2B5EF4-FFF2-40B4-BE49-F238E27FC236}">
                <a16:creationId xmlns:a16="http://schemas.microsoft.com/office/drawing/2014/main" id="{F1A9069A-3138-4DB5-A8E2-C2A4D1289B49}"/>
              </a:ext>
            </a:extLst>
          </p:cNvPr>
          <p:cNvSpPr>
            <a:spLocks noGrp="1"/>
          </p:cNvSpPr>
          <p:nvPr>
            <p:ph idx="1"/>
          </p:nvPr>
        </p:nvSpPr>
        <p:spPr/>
        <p:txBody>
          <a:bodyPr/>
          <a:lstStyle/>
          <a:p>
            <a:pPr algn="just">
              <a:lnSpc>
                <a:spcPct val="100000"/>
              </a:lnSpc>
            </a:pPr>
            <a:r>
              <a:rPr lang="vi-VN" b="1" dirty="0">
                <a:solidFill>
                  <a:srgbClr val="FF0000"/>
                </a:solidFill>
              </a:rPr>
              <a:t>Dịch vụ Web </a:t>
            </a:r>
            <a:r>
              <a:rPr lang="en-US" b="1" dirty="0">
                <a:solidFill>
                  <a:srgbClr val="FF0000"/>
                </a:solidFill>
              </a:rPr>
              <a:t>- </a:t>
            </a:r>
            <a:r>
              <a:rPr lang="en-US" b="1" dirty="0">
                <a:ln w="500">
                  <a:noFill/>
                </a:ln>
                <a:solidFill>
                  <a:srgbClr val="FF0000"/>
                </a:solidFill>
                <a:effectLst>
                  <a:reflection blurRad="12700" stA="20000" endPos="50000" dist="12700" dir="5400000" sy="-100000" algn="bl" rotWithShape="0"/>
                </a:effectLst>
              </a:rPr>
              <a:t>Web Services </a:t>
            </a:r>
            <a:r>
              <a:rPr lang="vi-VN" dirty="0"/>
              <a:t>là một mô-đun phần mềm có URL hoặc địa chỉ Internet để chúng có thể được gọi để thực hiện một hoạt động qua Internet.</a:t>
            </a:r>
            <a:endParaRPr lang="en-US" dirty="0"/>
          </a:p>
          <a:p>
            <a:pPr lvl="1" algn="just">
              <a:lnSpc>
                <a:spcPct val="100000"/>
              </a:lnSpc>
            </a:pPr>
            <a:r>
              <a:rPr lang="vi-VN" dirty="0"/>
              <a:t>Một </a:t>
            </a:r>
            <a:r>
              <a:rPr lang="vi-VN" b="1" dirty="0"/>
              <a:t>dịch vụ Web </a:t>
            </a:r>
            <a:r>
              <a:rPr lang="vi-VN" dirty="0"/>
              <a:t>đưa ra một yêu cầu của một dịch vụ Web khác để thực hiện nhiệm vụ hoặc các nhiệm vụ của nó và chuyển lại một câu trả lời tạo ra một hệ thống phân tán cao.</a:t>
            </a:r>
            <a:endParaRPr lang="en-US" dirty="0"/>
          </a:p>
          <a:p>
            <a:pPr lvl="1" algn="just">
              <a:lnSpc>
                <a:spcPct val="100000"/>
              </a:lnSpc>
            </a:pPr>
            <a:r>
              <a:rPr lang="vi-VN" dirty="0"/>
              <a:t>Sử dụng các thông báo dựa </a:t>
            </a:r>
            <a:r>
              <a:rPr lang="vi-VN" b="1" dirty="0"/>
              <a:t>trên XML </a:t>
            </a:r>
            <a:r>
              <a:rPr lang="vi-VN" dirty="0"/>
              <a:t>thông qua các giao thức dựa trên internet.</a:t>
            </a:r>
            <a:endParaRPr lang="en-US" dirty="0"/>
          </a:p>
          <a:p>
            <a:pPr lvl="1" algn="just">
              <a:lnSpc>
                <a:spcPct val="100000"/>
              </a:lnSpc>
            </a:pPr>
            <a:r>
              <a:rPr lang="vi-VN" dirty="0"/>
              <a:t>Dịch vụ Web là công nghệ phân tán mới nhất</a:t>
            </a:r>
            <a:endParaRPr lang="en-US" dirty="0"/>
          </a:p>
        </p:txBody>
      </p:sp>
    </p:spTree>
    <p:extLst>
      <p:ext uri="{BB962C8B-B14F-4D97-AF65-F5344CB8AC3E}">
        <p14:creationId xmlns:p14="http://schemas.microsoft.com/office/powerpoint/2010/main" val="356505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n w="500">
                  <a:noFill/>
                </a:ln>
                <a:effectLst>
                  <a:reflection blurRad="12700" stA="20000" endPos="50000" dist="12700" dir="5400000" sy="-100000" algn="bl" rotWithShape="0"/>
                </a:effectLst>
              </a:rPr>
              <a:t>Giới</a:t>
            </a:r>
            <a:r>
              <a:rPr lang="en-US" dirty="0">
                <a:ln w="500">
                  <a:noFill/>
                </a:ln>
                <a:effectLst>
                  <a:reflection blurRad="12700" stA="20000" endPos="50000" dist="12700" dir="5400000" sy="-100000" algn="bl" rotWithShape="0"/>
                </a:effectLst>
              </a:rPr>
              <a:t> </a:t>
            </a:r>
            <a:r>
              <a:rPr lang="en-US" dirty="0" err="1">
                <a:ln w="500">
                  <a:noFill/>
                </a:ln>
                <a:effectLst>
                  <a:reflection blurRad="12700" stA="20000" endPos="50000" dist="12700" dir="5400000" sy="-100000" algn="bl" rotWithShape="0"/>
                </a:effectLst>
              </a:rPr>
              <a:t>thiệu</a:t>
            </a:r>
            <a:r>
              <a:rPr lang="en-US" dirty="0">
                <a:ln w="500">
                  <a:noFill/>
                </a:ln>
                <a:effectLst>
                  <a:reflection blurRad="12700" stA="20000" endPos="50000" dist="12700" dir="5400000" sy="-100000" algn="bl" rotWithShape="0"/>
                </a:effectLst>
              </a:rPr>
              <a:t> Web Services</a:t>
            </a:r>
            <a:endParaRPr lang="en-US" dirty="0">
              <a:effectLst>
                <a:reflection blurRad="12700" stA="20000" endPos="50000" dist="12700" dir="5400000" sy="-100000" algn="bl" rotWithShape="0"/>
              </a:effectLst>
            </a:endParaRPr>
          </a:p>
        </p:txBody>
      </p:sp>
      <p:sp>
        <p:nvSpPr>
          <p:cNvPr id="3" name="Content Placeholder 2"/>
          <p:cNvSpPr>
            <a:spLocks noGrp="1"/>
          </p:cNvSpPr>
          <p:nvPr>
            <p:ph idx="1"/>
          </p:nvPr>
        </p:nvSpPr>
        <p:spPr/>
        <p:txBody>
          <a:bodyPr/>
          <a:lstStyle/>
          <a:p>
            <a:pPr algn="just">
              <a:lnSpc>
                <a:spcPct val="100000"/>
              </a:lnSpc>
            </a:pPr>
            <a:r>
              <a:rPr lang="vi-VN" b="1" dirty="0">
                <a:solidFill>
                  <a:srgbClr val="FF0000"/>
                </a:solidFill>
              </a:rPr>
              <a:t>Lợi ích của Dịch vụ Web</a:t>
            </a:r>
            <a:r>
              <a:rPr lang="vi-VN" dirty="0"/>
              <a:t>:</a:t>
            </a:r>
            <a:endParaRPr lang="en-US" dirty="0"/>
          </a:p>
          <a:p>
            <a:pPr lvl="1" algn="just">
              <a:lnSpc>
                <a:spcPct val="100000"/>
              </a:lnSpc>
            </a:pPr>
            <a:r>
              <a:rPr lang="vi-VN" b="1" dirty="0"/>
              <a:t>Kết hợp </a:t>
            </a:r>
            <a:r>
              <a:rPr lang="en-US" b="1" dirty="0" err="1"/>
              <a:t>mềm</a:t>
            </a:r>
            <a:r>
              <a:rPr lang="en-US" b="1" dirty="0"/>
              <a:t> </a:t>
            </a:r>
            <a:r>
              <a:rPr lang="en-US" b="1" dirty="0" err="1"/>
              <a:t>dẽo</a:t>
            </a:r>
            <a:r>
              <a:rPr lang="vi-VN" dirty="0"/>
              <a:t>: Mỗi dịch vụ tồn tại độc lập với các dịch vụ khác tạo nên ứng dụng. Các phần riêng lẻ của ứng dụng sẽ được sửa đổi mà không ảnh hưởng đến các khu vực không liên quan.</a:t>
            </a:r>
            <a:endParaRPr lang="en-US" dirty="0"/>
          </a:p>
          <a:p>
            <a:pPr lvl="1" algn="just">
              <a:lnSpc>
                <a:spcPct val="100000"/>
              </a:lnSpc>
            </a:pPr>
            <a:r>
              <a:rPr lang="vi-VN" b="1" dirty="0"/>
              <a:t>Dễ tích hợp</a:t>
            </a:r>
            <a:r>
              <a:rPr lang="vi-VN" dirty="0"/>
              <a:t>: Dữ liệu được tách biệt giữa các ứng dụng tạo 'hầm chứa'. Dịch vụ Web đóng vai trò như chất kết dính giữa các dịch vụ này và cho phép giao tiếp dễ dàng hơn trong và giữa các tổ chức.</a:t>
            </a:r>
            <a:endParaRPr lang="en-US" dirty="0"/>
          </a:p>
          <a:p>
            <a:pPr lvl="1" algn="just">
              <a:lnSpc>
                <a:spcPct val="100000"/>
              </a:lnSpc>
            </a:pPr>
            <a:r>
              <a:rPr lang="vi-VN" b="1" dirty="0"/>
              <a:t>Tái sử dụng dịch vụ: </a:t>
            </a:r>
            <a:r>
              <a:rPr lang="vi-VN" dirty="0"/>
              <a:t>Đưa mã tái sử dụng thêm một bước. Một chức năng cụ thể trong miền chỉ được mã hóa một lần và được sử dụng nhiều lần bằng cách sử dụng các ứng dụng.</a:t>
            </a:r>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32</a:t>
            </a:fld>
            <a:endParaRPr lang="en-US"/>
          </a:p>
        </p:txBody>
      </p:sp>
    </p:spTree>
    <p:extLst>
      <p:ext uri="{BB962C8B-B14F-4D97-AF65-F5344CB8AC3E}">
        <p14:creationId xmlns:p14="http://schemas.microsoft.com/office/powerpoint/2010/main" val="1261685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t>Kiến</a:t>
            </a:r>
            <a:r>
              <a:rPr lang="en-US" sz="3200" dirty="0"/>
              <a:t> </a:t>
            </a:r>
            <a:r>
              <a:rPr lang="en-US" sz="3200" dirty="0" err="1"/>
              <a:t>trúc</a:t>
            </a:r>
            <a:r>
              <a:rPr lang="en-US" sz="3200" dirty="0"/>
              <a:t> </a:t>
            </a:r>
            <a:r>
              <a:rPr lang="en-US" sz="3200" dirty="0" err="1"/>
              <a:t>dịch</a:t>
            </a:r>
            <a:r>
              <a:rPr lang="en-US" sz="3200" dirty="0"/>
              <a:t> </a:t>
            </a:r>
            <a:r>
              <a:rPr lang="en-US" sz="3200" dirty="0" err="1"/>
              <a:t>vụ</a:t>
            </a:r>
            <a:r>
              <a:rPr lang="en-US" sz="3200" dirty="0"/>
              <a:t> Web - Web Services Architectures</a:t>
            </a:r>
          </a:p>
        </p:txBody>
      </p:sp>
      <p:sp>
        <p:nvSpPr>
          <p:cNvPr id="3" name="Content Placeholder 2"/>
          <p:cNvSpPr>
            <a:spLocks noGrp="1"/>
          </p:cNvSpPr>
          <p:nvPr>
            <p:ph idx="1"/>
          </p:nvPr>
        </p:nvSpPr>
        <p:spPr/>
        <p:txBody>
          <a:bodyPr/>
          <a:lstStyle/>
          <a:p>
            <a:r>
              <a:rPr lang="vi-VN" b="1" dirty="0">
                <a:solidFill>
                  <a:srgbClr val="FF0000"/>
                </a:solidFill>
              </a:rPr>
              <a:t>Hệ thống dịch vụ Web đơn giản nhất có hai thành </a:t>
            </a:r>
            <a:r>
              <a:rPr lang="en-US" b="1" dirty="0" err="1">
                <a:solidFill>
                  <a:srgbClr val="FF0000"/>
                </a:solidFill>
              </a:rPr>
              <a:t>phần</a:t>
            </a:r>
            <a:r>
              <a:rPr lang="en-US" dirty="0"/>
              <a:t>:</a:t>
            </a:r>
          </a:p>
          <a:p>
            <a:pPr lvl="1"/>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 A service producer (provider)</a:t>
            </a:r>
          </a:p>
          <a:p>
            <a:pPr lvl="1"/>
            <a:r>
              <a:rPr lang="en-US" dirty="0"/>
              <a:t>N</a:t>
            </a:r>
            <a:r>
              <a:rPr lang="vi-VN" dirty="0"/>
              <a:t>gười </a:t>
            </a:r>
            <a:r>
              <a:rPr lang="en-US" dirty="0" err="1"/>
              <a:t>sử</a:t>
            </a:r>
            <a:r>
              <a:rPr lang="en-US" dirty="0"/>
              <a:t> </a:t>
            </a:r>
            <a:r>
              <a:rPr lang="en-US" dirty="0" err="1"/>
              <a:t>dụng</a:t>
            </a:r>
            <a:r>
              <a:rPr lang="en-US" dirty="0"/>
              <a:t> </a:t>
            </a:r>
            <a:r>
              <a:rPr lang="vi-VN" dirty="0"/>
              <a:t>dịch vụ </a:t>
            </a:r>
            <a:r>
              <a:rPr lang="en-US" dirty="0"/>
              <a:t>- A service consumer(requester).</a:t>
            </a:r>
          </a:p>
          <a:p>
            <a:r>
              <a:rPr lang="vi-VN" dirty="0"/>
              <a:t>Nhà cung cấp </a:t>
            </a:r>
            <a:r>
              <a:rPr lang="en-US" dirty="0" err="1"/>
              <a:t>hiển</a:t>
            </a:r>
            <a:r>
              <a:rPr lang="en-US" dirty="0"/>
              <a:t> </a:t>
            </a:r>
            <a:r>
              <a:rPr lang="en-US" dirty="0" err="1"/>
              <a:t>thị</a:t>
            </a:r>
            <a:r>
              <a:rPr lang="en-US" dirty="0"/>
              <a:t> </a:t>
            </a:r>
            <a:r>
              <a:rPr lang="vi-VN" dirty="0"/>
              <a:t>giao diện và cách triển khai dịch vụ và người yêu cầu sử dụng dịch vụ Web.</a:t>
            </a:r>
            <a:endParaRPr lang="en-US" dirty="0"/>
          </a:p>
          <a:p>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33</a:t>
            </a:fld>
            <a:endParaRPr lang="en-US"/>
          </a:p>
        </p:txBody>
      </p:sp>
      <p:pic>
        <p:nvPicPr>
          <p:cNvPr id="5" name="Picture 4"/>
          <p:cNvPicPr>
            <a:picLocks noChangeAspect="1"/>
          </p:cNvPicPr>
          <p:nvPr/>
        </p:nvPicPr>
        <p:blipFill>
          <a:blip r:embed="rId2"/>
          <a:stretch>
            <a:fillRect/>
          </a:stretch>
        </p:blipFill>
        <p:spPr>
          <a:xfrm>
            <a:off x="3002279" y="3812148"/>
            <a:ext cx="6046304" cy="27267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5727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EA9A3-B5B2-4900-866B-D964E745B947}"/>
              </a:ext>
            </a:extLst>
          </p:cNvPr>
          <p:cNvSpPr>
            <a:spLocks noGrp="1"/>
          </p:cNvSpPr>
          <p:nvPr>
            <p:ph type="title"/>
          </p:nvPr>
        </p:nvSpPr>
        <p:spPr/>
        <p:txBody>
          <a:bodyPr>
            <a:normAutofit/>
          </a:bodyPr>
          <a:lstStyle/>
          <a:p>
            <a:r>
              <a:rPr lang="en-US" sz="3200" dirty="0" err="1"/>
              <a:t>Kiến</a:t>
            </a:r>
            <a:r>
              <a:rPr lang="en-US" sz="3200" dirty="0"/>
              <a:t> </a:t>
            </a:r>
            <a:r>
              <a:rPr lang="en-US" sz="3200" dirty="0" err="1"/>
              <a:t>trúc</a:t>
            </a:r>
            <a:r>
              <a:rPr lang="en-US" sz="3200" dirty="0"/>
              <a:t> </a:t>
            </a:r>
            <a:r>
              <a:rPr lang="en-US" sz="3200" dirty="0" err="1"/>
              <a:t>dịch</a:t>
            </a:r>
            <a:r>
              <a:rPr lang="en-US" sz="3200" dirty="0"/>
              <a:t> </a:t>
            </a:r>
            <a:r>
              <a:rPr lang="en-US" sz="3200" dirty="0" err="1"/>
              <a:t>vụ</a:t>
            </a:r>
            <a:r>
              <a:rPr lang="en-US" sz="3200" dirty="0"/>
              <a:t> Web - Web Services Architectures</a:t>
            </a:r>
          </a:p>
        </p:txBody>
      </p:sp>
      <p:sp>
        <p:nvSpPr>
          <p:cNvPr id="3" name="Content Placeholder 2">
            <a:extLst>
              <a:ext uri="{FF2B5EF4-FFF2-40B4-BE49-F238E27FC236}">
                <a16:creationId xmlns:a16="http://schemas.microsoft.com/office/drawing/2014/main" id="{59FBA23A-EEDB-4500-BEC1-090AE4FCE2F0}"/>
              </a:ext>
            </a:extLst>
          </p:cNvPr>
          <p:cNvSpPr>
            <a:spLocks noGrp="1"/>
          </p:cNvSpPr>
          <p:nvPr>
            <p:ph idx="1"/>
          </p:nvPr>
        </p:nvSpPr>
        <p:spPr/>
        <p:txBody>
          <a:bodyPr/>
          <a:lstStyle/>
          <a:p>
            <a:pPr algn="just">
              <a:lnSpc>
                <a:spcPct val="100000"/>
              </a:lnSpc>
            </a:pPr>
            <a:r>
              <a:rPr lang="vi-VN" b="1" dirty="0">
                <a:solidFill>
                  <a:srgbClr val="FF0000"/>
                </a:solidFill>
              </a:rPr>
              <a:t>Kiến trúc hướng dịch vụ</a:t>
            </a:r>
            <a:endParaRPr lang="en-US" b="1" dirty="0">
              <a:solidFill>
                <a:srgbClr val="FF0000"/>
              </a:solidFill>
            </a:endParaRPr>
          </a:p>
          <a:p>
            <a:pPr lvl="1" algn="just">
              <a:lnSpc>
                <a:spcPct val="100000"/>
              </a:lnSpc>
            </a:pPr>
            <a:r>
              <a:rPr lang="vi-VN" b="1" dirty="0"/>
              <a:t>Một nhà môi giới</a:t>
            </a:r>
            <a:r>
              <a:rPr lang="en-US" b="1" dirty="0"/>
              <a:t> - A broker</a:t>
            </a:r>
            <a:r>
              <a:rPr lang="en-US" dirty="0"/>
              <a:t>:</a:t>
            </a:r>
            <a:r>
              <a:rPr lang="vi-VN" dirty="0"/>
              <a:t> hoạt động như một nhà môi giới cho các dịch vụ Web.</a:t>
            </a:r>
            <a:endParaRPr lang="en-US" dirty="0"/>
          </a:p>
          <a:p>
            <a:pPr lvl="1" algn="just">
              <a:lnSpc>
                <a:spcPct val="100000"/>
              </a:lnSpc>
            </a:pPr>
            <a:r>
              <a:rPr lang="vi-VN" b="1" dirty="0"/>
              <a:t>Một nhà cung cấp</a:t>
            </a:r>
            <a:r>
              <a:rPr lang="en-US" b="1" dirty="0"/>
              <a:t> - A provider</a:t>
            </a:r>
            <a:r>
              <a:rPr lang="en-US" dirty="0"/>
              <a:t>: </a:t>
            </a:r>
            <a:r>
              <a:rPr lang="vi-VN" dirty="0"/>
              <a:t>có thể </a:t>
            </a:r>
            <a:r>
              <a:rPr lang="en-US" dirty="0" err="1"/>
              <a:t>cung</a:t>
            </a:r>
            <a:r>
              <a:rPr lang="en-US" dirty="0"/>
              <a:t> </a:t>
            </a:r>
            <a:r>
              <a:rPr lang="en-US" dirty="0" err="1"/>
              <a:t>cấp</a:t>
            </a:r>
            <a:r>
              <a:rPr lang="en-US" dirty="0"/>
              <a:t> </a:t>
            </a:r>
            <a:r>
              <a:rPr lang="vi-VN" dirty="0"/>
              <a:t>các dịch vụ lên </a:t>
            </a:r>
            <a:r>
              <a:rPr lang="en-US" dirty="0"/>
              <a:t>registry </a:t>
            </a:r>
          </a:p>
          <a:p>
            <a:pPr lvl="1" algn="just">
              <a:lnSpc>
                <a:spcPct val="100000"/>
              </a:lnSpc>
            </a:pPr>
            <a:r>
              <a:rPr lang="vi-VN" b="1" dirty="0"/>
              <a:t>Người </a:t>
            </a:r>
            <a:r>
              <a:rPr lang="en-US" b="1" dirty="0" err="1"/>
              <a:t>sử</a:t>
            </a:r>
            <a:r>
              <a:rPr lang="en-US" b="1" dirty="0"/>
              <a:t> </a:t>
            </a:r>
            <a:r>
              <a:rPr lang="en-US" b="1" dirty="0" err="1"/>
              <a:t>dụng</a:t>
            </a:r>
            <a:r>
              <a:rPr lang="en-US" b="1" dirty="0"/>
              <a:t> </a:t>
            </a:r>
            <a:r>
              <a:rPr lang="en-US" b="1" dirty="0" err="1"/>
              <a:t>dịch</a:t>
            </a:r>
            <a:r>
              <a:rPr lang="en-US" b="1" dirty="0"/>
              <a:t> </a:t>
            </a:r>
            <a:r>
              <a:rPr lang="en-US" b="1" dirty="0" err="1"/>
              <a:t>vụ</a:t>
            </a:r>
            <a:r>
              <a:rPr lang="en-US" b="1" dirty="0"/>
              <a:t> - A consumer </a:t>
            </a:r>
            <a:r>
              <a:rPr lang="en-US" dirty="0"/>
              <a:t>: </a:t>
            </a:r>
            <a:r>
              <a:rPr lang="vi-VN" dirty="0"/>
              <a:t>khám phá các dịch vụ trong </a:t>
            </a:r>
            <a:r>
              <a:rPr lang="en-US" dirty="0"/>
              <a:t>registry</a:t>
            </a:r>
          </a:p>
        </p:txBody>
      </p:sp>
    </p:spTree>
    <p:extLst>
      <p:ext uri="{BB962C8B-B14F-4D97-AF65-F5344CB8AC3E}">
        <p14:creationId xmlns:p14="http://schemas.microsoft.com/office/powerpoint/2010/main" val="3668031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t>Kiến</a:t>
            </a:r>
            <a:r>
              <a:rPr lang="en-US" sz="3200" dirty="0"/>
              <a:t> </a:t>
            </a:r>
            <a:r>
              <a:rPr lang="en-US" sz="3200" dirty="0" err="1"/>
              <a:t>trúc</a:t>
            </a:r>
            <a:r>
              <a:rPr lang="en-US" sz="3200" dirty="0"/>
              <a:t> </a:t>
            </a:r>
            <a:r>
              <a:rPr lang="en-US" sz="3200" dirty="0" err="1"/>
              <a:t>dịch</a:t>
            </a:r>
            <a:r>
              <a:rPr lang="en-US" sz="3200" dirty="0"/>
              <a:t> </a:t>
            </a:r>
            <a:r>
              <a:rPr lang="en-US" sz="3200" dirty="0" err="1"/>
              <a:t>vụ</a:t>
            </a:r>
            <a:r>
              <a:rPr lang="en-US" sz="3200" dirty="0"/>
              <a:t> Web - Web Services Architectures</a:t>
            </a:r>
          </a:p>
        </p:txBody>
      </p:sp>
      <p:sp>
        <p:nvSpPr>
          <p:cNvPr id="3" name="Content Placeholder 2"/>
          <p:cNvSpPr>
            <a:spLocks noGrp="1"/>
          </p:cNvSpPr>
          <p:nvPr>
            <p:ph idx="1"/>
          </p:nvPr>
        </p:nvSpPr>
        <p:spPr/>
        <p:txBody>
          <a:bodyPr/>
          <a:lstStyle/>
          <a:p>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35</a:t>
            </a:fld>
            <a:endParaRPr lang="en-US"/>
          </a:p>
        </p:txBody>
      </p:sp>
      <p:grpSp>
        <p:nvGrpSpPr>
          <p:cNvPr id="6" name="Group 5"/>
          <p:cNvGrpSpPr/>
          <p:nvPr/>
        </p:nvGrpSpPr>
        <p:grpSpPr>
          <a:xfrm>
            <a:off x="1640802" y="1692276"/>
            <a:ext cx="8669817" cy="4572000"/>
            <a:chOff x="-32230" y="1854200"/>
            <a:chExt cx="8669817" cy="4572000"/>
          </a:xfrm>
        </p:grpSpPr>
        <p:sp>
          <p:nvSpPr>
            <p:cNvPr id="7" name="AutoShape 4"/>
            <p:cNvSpPr>
              <a:spLocks noChangeArrowheads="1"/>
            </p:cNvSpPr>
            <p:nvPr/>
          </p:nvSpPr>
          <p:spPr bwMode="auto">
            <a:xfrm rot="2589408">
              <a:off x="5341937" y="3511550"/>
              <a:ext cx="1800225" cy="288925"/>
            </a:xfrm>
            <a:prstGeom prst="leftRightArrow">
              <a:avLst>
                <a:gd name="adj1" fmla="val 50000"/>
                <a:gd name="adj2" fmla="val 124615"/>
              </a:avLst>
            </a:prstGeom>
            <a:solidFill>
              <a:srgbClr val="CC99FF">
                <a:alpha val="39999"/>
              </a:srgbClr>
            </a:solidFill>
            <a:ln w="9525" algn="ctr">
              <a:noFill/>
              <a:miter lim="800000"/>
              <a:headEnd/>
              <a:tailEnd/>
            </a:ln>
            <a:effectLst>
              <a:prstShdw prst="shdw17" dist="17961" dir="2700000">
                <a:srgbClr val="7A5C99"/>
              </a:prstShdw>
            </a:effectLst>
          </p:spPr>
          <p:txBody>
            <a:bodyPr wrap="none" anchor="ctr"/>
            <a:lstStyle/>
            <a:p>
              <a:endParaRPr lang="en-US">
                <a:cs typeface="Times New Roman" pitchFamily="18" charset="0"/>
              </a:endParaRPr>
            </a:p>
          </p:txBody>
        </p:sp>
        <p:grpSp>
          <p:nvGrpSpPr>
            <p:cNvPr id="8" name="Group 5"/>
            <p:cNvGrpSpPr>
              <a:grpSpLocks/>
            </p:cNvGrpSpPr>
            <p:nvPr/>
          </p:nvGrpSpPr>
          <p:grpSpPr bwMode="auto">
            <a:xfrm>
              <a:off x="3468687" y="1854200"/>
              <a:ext cx="2160588" cy="1727200"/>
              <a:chOff x="2381" y="709"/>
              <a:chExt cx="1134" cy="914"/>
            </a:xfrm>
          </p:grpSpPr>
          <p:sp>
            <p:nvSpPr>
              <p:cNvPr id="23" name="AutoShape 6"/>
              <p:cNvSpPr>
                <a:spLocks noChangeArrowheads="1"/>
              </p:cNvSpPr>
              <p:nvPr/>
            </p:nvSpPr>
            <p:spPr bwMode="auto">
              <a:xfrm>
                <a:off x="2381" y="709"/>
                <a:ext cx="881" cy="812"/>
              </a:xfrm>
              <a:prstGeom prst="octagon">
                <a:avLst>
                  <a:gd name="adj" fmla="val 29287"/>
                </a:avLst>
              </a:prstGeom>
              <a:gradFill rotWithShape="1">
                <a:gsLst>
                  <a:gs pos="0">
                    <a:srgbClr val="FFCCFF">
                      <a:alpha val="89000"/>
                    </a:srgbClr>
                  </a:gs>
                  <a:gs pos="100000">
                    <a:srgbClr val="8F728F"/>
                  </a:gs>
                </a:gsLst>
                <a:path path="shape">
                  <a:fillToRect l="50000" t="50000" r="50000" b="50000"/>
                </a:path>
              </a:gradFill>
              <a:ln w="9525" algn="ctr">
                <a:noFill/>
                <a:miter lim="800000"/>
                <a:headEnd/>
                <a:tailEnd/>
              </a:ln>
            </p:spPr>
            <p:txBody>
              <a:bodyPr wrap="none" anchor="ctr"/>
              <a:lstStyle/>
              <a:p>
                <a:endParaRPr lang="en-US">
                  <a:cs typeface="Times New Roman" pitchFamily="18" charset="0"/>
                </a:endParaRPr>
              </a:p>
            </p:txBody>
          </p:sp>
          <p:sp>
            <p:nvSpPr>
              <p:cNvPr id="24" name="AutoShape 7"/>
              <p:cNvSpPr>
                <a:spLocks noChangeArrowheads="1"/>
              </p:cNvSpPr>
              <p:nvPr/>
            </p:nvSpPr>
            <p:spPr bwMode="auto">
              <a:xfrm>
                <a:off x="2480" y="756"/>
                <a:ext cx="899" cy="811"/>
              </a:xfrm>
              <a:prstGeom prst="octagon">
                <a:avLst>
                  <a:gd name="adj" fmla="val 29287"/>
                </a:avLst>
              </a:prstGeom>
              <a:gradFill rotWithShape="1">
                <a:gsLst>
                  <a:gs pos="0">
                    <a:srgbClr val="FFCCFF">
                      <a:alpha val="89000"/>
                    </a:srgbClr>
                  </a:gs>
                  <a:gs pos="100000">
                    <a:srgbClr val="8F728F"/>
                  </a:gs>
                </a:gsLst>
                <a:path path="shape">
                  <a:fillToRect l="50000" t="50000" r="50000" b="50000"/>
                </a:path>
              </a:gradFill>
              <a:ln w="9525" algn="ctr">
                <a:noFill/>
                <a:miter lim="800000"/>
                <a:headEnd/>
                <a:tailEnd/>
              </a:ln>
            </p:spPr>
            <p:txBody>
              <a:bodyPr wrap="none" anchor="ctr"/>
              <a:lstStyle/>
              <a:p>
                <a:endParaRPr lang="en-US">
                  <a:cs typeface="Times New Roman" pitchFamily="18" charset="0"/>
                </a:endParaRPr>
              </a:p>
            </p:txBody>
          </p:sp>
          <p:sp>
            <p:nvSpPr>
              <p:cNvPr id="25" name="AutoShape 8"/>
              <p:cNvSpPr>
                <a:spLocks noChangeArrowheads="1"/>
              </p:cNvSpPr>
              <p:nvPr/>
            </p:nvSpPr>
            <p:spPr bwMode="auto">
              <a:xfrm>
                <a:off x="2585" y="811"/>
                <a:ext cx="930" cy="812"/>
              </a:xfrm>
              <a:prstGeom prst="octagon">
                <a:avLst>
                  <a:gd name="adj" fmla="val 29287"/>
                </a:avLst>
              </a:prstGeom>
              <a:gradFill rotWithShape="1">
                <a:gsLst>
                  <a:gs pos="0">
                    <a:srgbClr val="FFCCFF">
                      <a:alpha val="89000"/>
                    </a:srgbClr>
                  </a:gs>
                  <a:gs pos="100000">
                    <a:srgbClr val="8F728F"/>
                  </a:gs>
                </a:gsLst>
                <a:path path="shape">
                  <a:fillToRect l="50000" t="50000" r="50000" b="50000"/>
                </a:path>
              </a:gradFill>
              <a:ln w="9525" algn="ctr">
                <a:noFill/>
                <a:miter lim="800000"/>
                <a:headEnd/>
                <a:tailEnd/>
              </a:ln>
            </p:spPr>
            <p:txBody>
              <a:bodyPr wrap="none" anchor="ctr"/>
              <a:lstStyle/>
              <a:p>
                <a:pPr algn="ctr"/>
                <a:r>
                  <a:rPr lang="en-US" dirty="0">
                    <a:solidFill>
                      <a:srgbClr val="008000"/>
                    </a:solidFill>
                    <a:ea typeface="宋体" pitchFamily="2" charset="-122"/>
                    <a:cs typeface="Times New Roman" pitchFamily="18" charset="0"/>
                  </a:rPr>
                  <a:t>   </a:t>
                </a:r>
                <a:r>
                  <a:rPr lang="en-US" dirty="0">
                    <a:solidFill>
                      <a:schemeClr val="hlink"/>
                    </a:solidFill>
                    <a:ea typeface="宋体" pitchFamily="2" charset="-122"/>
                    <a:cs typeface="Times New Roman" pitchFamily="18" charset="0"/>
                  </a:rPr>
                  <a:t>Service </a:t>
                </a:r>
              </a:p>
              <a:p>
                <a:pPr algn="ctr"/>
                <a:r>
                  <a:rPr lang="en-US" dirty="0">
                    <a:solidFill>
                      <a:schemeClr val="hlink"/>
                    </a:solidFill>
                    <a:ea typeface="宋体" pitchFamily="2" charset="-122"/>
                    <a:cs typeface="Times New Roman" pitchFamily="18" charset="0"/>
                  </a:rPr>
                  <a:t>   Provider</a:t>
                </a:r>
              </a:p>
            </p:txBody>
          </p:sp>
        </p:grpSp>
        <p:grpSp>
          <p:nvGrpSpPr>
            <p:cNvPr id="9" name="Group 9"/>
            <p:cNvGrpSpPr>
              <a:grpSpLocks/>
            </p:cNvGrpSpPr>
            <p:nvPr/>
          </p:nvGrpSpPr>
          <p:grpSpPr bwMode="auto">
            <a:xfrm>
              <a:off x="6061075" y="4157662"/>
              <a:ext cx="2160587" cy="1727200"/>
              <a:chOff x="2381" y="709"/>
              <a:chExt cx="1134" cy="914"/>
            </a:xfrm>
          </p:grpSpPr>
          <p:sp>
            <p:nvSpPr>
              <p:cNvPr id="20" name="AutoShape 10"/>
              <p:cNvSpPr>
                <a:spLocks noChangeArrowheads="1"/>
              </p:cNvSpPr>
              <p:nvPr/>
            </p:nvSpPr>
            <p:spPr bwMode="auto">
              <a:xfrm>
                <a:off x="2381" y="709"/>
                <a:ext cx="881" cy="812"/>
              </a:xfrm>
              <a:prstGeom prst="octagon">
                <a:avLst>
                  <a:gd name="adj" fmla="val 29287"/>
                </a:avLst>
              </a:prstGeom>
              <a:gradFill rotWithShape="1">
                <a:gsLst>
                  <a:gs pos="0">
                    <a:srgbClr val="FF6600">
                      <a:alpha val="84000"/>
                    </a:srgbClr>
                  </a:gs>
                  <a:gs pos="100000">
                    <a:srgbClr val="8F3900"/>
                  </a:gs>
                </a:gsLst>
                <a:path path="shape">
                  <a:fillToRect l="50000" t="50000" r="50000" b="50000"/>
                </a:path>
              </a:gradFill>
              <a:ln w="9525" algn="ctr">
                <a:noFill/>
                <a:miter lim="800000"/>
                <a:headEnd/>
                <a:tailEnd/>
              </a:ln>
            </p:spPr>
            <p:txBody>
              <a:bodyPr wrap="none" anchor="ctr"/>
              <a:lstStyle/>
              <a:p>
                <a:endParaRPr lang="en-US">
                  <a:cs typeface="Times New Roman" pitchFamily="18" charset="0"/>
                </a:endParaRPr>
              </a:p>
            </p:txBody>
          </p:sp>
          <p:sp>
            <p:nvSpPr>
              <p:cNvPr id="21" name="AutoShape 11"/>
              <p:cNvSpPr>
                <a:spLocks noChangeArrowheads="1"/>
              </p:cNvSpPr>
              <p:nvPr/>
            </p:nvSpPr>
            <p:spPr bwMode="auto">
              <a:xfrm>
                <a:off x="2480" y="756"/>
                <a:ext cx="899" cy="811"/>
              </a:xfrm>
              <a:prstGeom prst="octagon">
                <a:avLst>
                  <a:gd name="adj" fmla="val 29287"/>
                </a:avLst>
              </a:prstGeom>
              <a:gradFill rotWithShape="1">
                <a:gsLst>
                  <a:gs pos="0">
                    <a:srgbClr val="FF6600">
                      <a:alpha val="84000"/>
                    </a:srgbClr>
                  </a:gs>
                  <a:gs pos="100000">
                    <a:srgbClr val="8F3900"/>
                  </a:gs>
                </a:gsLst>
                <a:path path="shape">
                  <a:fillToRect l="50000" t="50000" r="50000" b="50000"/>
                </a:path>
              </a:gradFill>
              <a:ln w="9525" algn="ctr">
                <a:noFill/>
                <a:miter lim="800000"/>
                <a:headEnd/>
                <a:tailEnd/>
              </a:ln>
            </p:spPr>
            <p:txBody>
              <a:bodyPr wrap="none" anchor="ctr"/>
              <a:lstStyle/>
              <a:p>
                <a:endParaRPr lang="en-US">
                  <a:cs typeface="Times New Roman" pitchFamily="18" charset="0"/>
                </a:endParaRPr>
              </a:p>
            </p:txBody>
          </p:sp>
          <p:sp>
            <p:nvSpPr>
              <p:cNvPr id="22" name="AutoShape 12"/>
              <p:cNvSpPr>
                <a:spLocks noChangeArrowheads="1"/>
              </p:cNvSpPr>
              <p:nvPr/>
            </p:nvSpPr>
            <p:spPr bwMode="auto">
              <a:xfrm>
                <a:off x="2585" y="811"/>
                <a:ext cx="930" cy="812"/>
              </a:xfrm>
              <a:prstGeom prst="octagon">
                <a:avLst>
                  <a:gd name="adj" fmla="val 29287"/>
                </a:avLst>
              </a:prstGeom>
              <a:gradFill rotWithShape="1">
                <a:gsLst>
                  <a:gs pos="0">
                    <a:srgbClr val="FF6600">
                      <a:alpha val="84000"/>
                    </a:srgbClr>
                  </a:gs>
                  <a:gs pos="100000">
                    <a:srgbClr val="8F3900"/>
                  </a:gs>
                </a:gsLst>
                <a:path path="shape">
                  <a:fillToRect l="50000" t="50000" r="50000" b="50000"/>
                </a:path>
              </a:gradFill>
              <a:ln w="9525" algn="ctr">
                <a:noFill/>
                <a:miter lim="800000"/>
                <a:headEnd/>
                <a:tailEnd/>
              </a:ln>
            </p:spPr>
            <p:txBody>
              <a:bodyPr wrap="none" anchor="ctr"/>
              <a:lstStyle/>
              <a:p>
                <a:pPr algn="ctr"/>
                <a:r>
                  <a:rPr lang="en-US" dirty="0">
                    <a:solidFill>
                      <a:schemeClr val="folHlink"/>
                    </a:solidFill>
                    <a:ea typeface="宋体" pitchFamily="2" charset="-122"/>
                    <a:cs typeface="Times New Roman" pitchFamily="18" charset="0"/>
                  </a:rPr>
                  <a:t>   Service </a:t>
                </a:r>
              </a:p>
              <a:p>
                <a:pPr algn="ctr"/>
                <a:r>
                  <a:rPr lang="en-US" dirty="0">
                    <a:solidFill>
                      <a:schemeClr val="folHlink"/>
                    </a:solidFill>
                    <a:ea typeface="宋体" pitchFamily="2" charset="-122"/>
                    <a:cs typeface="Times New Roman" pitchFamily="18" charset="0"/>
                  </a:rPr>
                  <a:t>   Requestor</a:t>
                </a:r>
              </a:p>
            </p:txBody>
          </p:sp>
        </p:grpSp>
        <p:grpSp>
          <p:nvGrpSpPr>
            <p:cNvPr id="10" name="Group 13"/>
            <p:cNvGrpSpPr>
              <a:grpSpLocks/>
            </p:cNvGrpSpPr>
            <p:nvPr/>
          </p:nvGrpSpPr>
          <p:grpSpPr bwMode="auto">
            <a:xfrm>
              <a:off x="1452562" y="4187825"/>
              <a:ext cx="2160588" cy="1727200"/>
              <a:chOff x="2381" y="709"/>
              <a:chExt cx="1134" cy="914"/>
            </a:xfrm>
          </p:grpSpPr>
          <p:sp>
            <p:nvSpPr>
              <p:cNvPr id="17" name="AutoShape 14"/>
              <p:cNvSpPr>
                <a:spLocks noChangeArrowheads="1"/>
              </p:cNvSpPr>
              <p:nvPr/>
            </p:nvSpPr>
            <p:spPr bwMode="auto">
              <a:xfrm>
                <a:off x="2381" y="709"/>
                <a:ext cx="881" cy="812"/>
              </a:xfrm>
              <a:prstGeom prst="octagon">
                <a:avLst>
                  <a:gd name="adj" fmla="val 29287"/>
                </a:avLst>
              </a:prstGeom>
              <a:gradFill rotWithShape="1">
                <a:gsLst>
                  <a:gs pos="0">
                    <a:schemeClr val="folHlink">
                      <a:alpha val="86000"/>
                    </a:schemeClr>
                  </a:gs>
                  <a:gs pos="100000">
                    <a:schemeClr val="folHlink">
                      <a:gamma/>
                      <a:shade val="45882"/>
                      <a:invGamma/>
                    </a:schemeClr>
                  </a:gs>
                </a:gsLst>
                <a:path path="shape">
                  <a:fillToRect l="50000" t="50000" r="50000" b="50000"/>
                </a:path>
              </a:gradFill>
              <a:ln w="9525" algn="ctr">
                <a:noFill/>
                <a:miter lim="800000"/>
                <a:headEnd/>
                <a:tailEnd/>
              </a:ln>
              <a:effectLst/>
            </p:spPr>
            <p:txBody>
              <a:bodyPr wrap="none" anchor="ctr"/>
              <a:lstStyle/>
              <a:p>
                <a:pPr>
                  <a:defRPr/>
                </a:pPr>
                <a:endParaRPr lang="en-US">
                  <a:cs typeface="Times New Roman" pitchFamily="18" charset="0"/>
                </a:endParaRPr>
              </a:p>
            </p:txBody>
          </p:sp>
          <p:sp>
            <p:nvSpPr>
              <p:cNvPr id="18" name="AutoShape 15"/>
              <p:cNvSpPr>
                <a:spLocks noChangeArrowheads="1"/>
              </p:cNvSpPr>
              <p:nvPr/>
            </p:nvSpPr>
            <p:spPr bwMode="auto">
              <a:xfrm>
                <a:off x="2480" y="756"/>
                <a:ext cx="899" cy="811"/>
              </a:xfrm>
              <a:prstGeom prst="octagon">
                <a:avLst>
                  <a:gd name="adj" fmla="val 29287"/>
                </a:avLst>
              </a:prstGeom>
              <a:gradFill rotWithShape="1">
                <a:gsLst>
                  <a:gs pos="0">
                    <a:schemeClr val="folHlink">
                      <a:alpha val="86000"/>
                    </a:schemeClr>
                  </a:gs>
                  <a:gs pos="100000">
                    <a:schemeClr val="folHlink">
                      <a:gamma/>
                      <a:shade val="45882"/>
                      <a:invGamma/>
                    </a:schemeClr>
                  </a:gs>
                </a:gsLst>
                <a:path path="shape">
                  <a:fillToRect l="50000" t="50000" r="50000" b="50000"/>
                </a:path>
              </a:gradFill>
              <a:ln w="9525" algn="ctr">
                <a:noFill/>
                <a:miter lim="800000"/>
                <a:headEnd/>
                <a:tailEnd/>
              </a:ln>
              <a:effectLst/>
            </p:spPr>
            <p:txBody>
              <a:bodyPr wrap="none" anchor="ctr"/>
              <a:lstStyle/>
              <a:p>
                <a:pPr>
                  <a:defRPr/>
                </a:pPr>
                <a:endParaRPr lang="en-US">
                  <a:cs typeface="Times New Roman" pitchFamily="18" charset="0"/>
                </a:endParaRPr>
              </a:p>
            </p:txBody>
          </p:sp>
          <p:sp>
            <p:nvSpPr>
              <p:cNvPr id="19" name="AutoShape 16"/>
              <p:cNvSpPr>
                <a:spLocks noChangeArrowheads="1"/>
              </p:cNvSpPr>
              <p:nvPr/>
            </p:nvSpPr>
            <p:spPr bwMode="auto">
              <a:xfrm>
                <a:off x="2585" y="811"/>
                <a:ext cx="930" cy="812"/>
              </a:xfrm>
              <a:prstGeom prst="octagon">
                <a:avLst>
                  <a:gd name="adj" fmla="val 29287"/>
                </a:avLst>
              </a:prstGeom>
              <a:gradFill rotWithShape="1">
                <a:gsLst>
                  <a:gs pos="0">
                    <a:schemeClr val="folHlink">
                      <a:alpha val="49001"/>
                    </a:schemeClr>
                  </a:gs>
                  <a:gs pos="100000">
                    <a:schemeClr val="folHlink">
                      <a:gamma/>
                      <a:shade val="45882"/>
                      <a:invGamma/>
                    </a:schemeClr>
                  </a:gs>
                </a:gsLst>
                <a:path path="shape">
                  <a:fillToRect l="50000" t="50000" r="50000" b="50000"/>
                </a:path>
              </a:gradFill>
              <a:ln w="9525" algn="ctr">
                <a:noFill/>
                <a:miter lim="800000"/>
                <a:headEnd/>
                <a:tailEnd/>
              </a:ln>
              <a:effectLst/>
            </p:spPr>
            <p:txBody>
              <a:bodyPr wrap="none" anchor="ctr"/>
              <a:lstStyle/>
              <a:p>
                <a:pPr algn="ctr">
                  <a:defRPr/>
                </a:pPr>
                <a:r>
                  <a:rPr lang="en-US">
                    <a:solidFill>
                      <a:srgbClr val="7C1B9F"/>
                    </a:solidFill>
                    <a:ea typeface="宋体" pitchFamily="2" charset="-122"/>
                    <a:cs typeface="Times New Roman" pitchFamily="18" charset="0"/>
                  </a:rPr>
                  <a:t>   Service </a:t>
                </a:r>
              </a:p>
              <a:p>
                <a:pPr algn="ctr">
                  <a:defRPr/>
                </a:pPr>
                <a:r>
                  <a:rPr lang="en-US">
                    <a:solidFill>
                      <a:srgbClr val="7C1B9F"/>
                    </a:solidFill>
                    <a:ea typeface="宋体" pitchFamily="2" charset="-122"/>
                    <a:cs typeface="Times New Roman" pitchFamily="18" charset="0"/>
                  </a:rPr>
                  <a:t>   Broker</a:t>
                </a:r>
              </a:p>
            </p:txBody>
          </p:sp>
        </p:grpSp>
        <p:sp>
          <p:nvSpPr>
            <p:cNvPr id="11" name="AutoShape 17"/>
            <p:cNvSpPr>
              <a:spLocks noChangeArrowheads="1"/>
            </p:cNvSpPr>
            <p:nvPr/>
          </p:nvSpPr>
          <p:spPr bwMode="auto">
            <a:xfrm rot="-2662224">
              <a:off x="2459037" y="3548062"/>
              <a:ext cx="1512888" cy="287338"/>
            </a:xfrm>
            <a:prstGeom prst="leftArrow">
              <a:avLst>
                <a:gd name="adj1" fmla="val 50000"/>
                <a:gd name="adj2" fmla="val 131630"/>
              </a:avLst>
            </a:prstGeom>
            <a:solidFill>
              <a:srgbClr val="CC99FF">
                <a:alpha val="39999"/>
              </a:srgbClr>
            </a:solidFill>
            <a:ln w="9525" algn="ctr">
              <a:noFill/>
              <a:miter lim="800000"/>
              <a:headEnd/>
              <a:tailEnd/>
            </a:ln>
            <a:effectLst>
              <a:prstShdw prst="shdw17" dist="17961" dir="2700000">
                <a:srgbClr val="7A5C99"/>
              </a:prstShdw>
            </a:effectLst>
          </p:spPr>
          <p:txBody>
            <a:bodyPr wrap="none" anchor="ctr"/>
            <a:lstStyle/>
            <a:p>
              <a:endParaRPr lang="en-US">
                <a:cs typeface="Times New Roman" pitchFamily="18" charset="0"/>
              </a:endParaRPr>
            </a:p>
          </p:txBody>
        </p:sp>
        <p:sp>
          <p:nvSpPr>
            <p:cNvPr id="12" name="AutoShape 18"/>
            <p:cNvSpPr>
              <a:spLocks noChangeArrowheads="1"/>
            </p:cNvSpPr>
            <p:nvPr/>
          </p:nvSpPr>
          <p:spPr bwMode="auto">
            <a:xfrm>
              <a:off x="3397250" y="5526087"/>
              <a:ext cx="3168650" cy="287338"/>
            </a:xfrm>
            <a:prstGeom prst="leftRightArrow">
              <a:avLst>
                <a:gd name="adj1" fmla="val 50000"/>
                <a:gd name="adj2" fmla="val 220552"/>
              </a:avLst>
            </a:prstGeom>
            <a:solidFill>
              <a:srgbClr val="CC99FF">
                <a:alpha val="39999"/>
              </a:srgbClr>
            </a:solidFill>
            <a:ln w="9525" algn="ctr">
              <a:noFill/>
              <a:miter lim="800000"/>
              <a:headEnd/>
              <a:tailEnd/>
            </a:ln>
            <a:effectLst>
              <a:prstShdw prst="shdw17" dist="17961" dir="2700000">
                <a:srgbClr val="7A5C99"/>
              </a:prstShdw>
            </a:effectLst>
          </p:spPr>
          <p:txBody>
            <a:bodyPr wrap="none" anchor="ctr"/>
            <a:lstStyle/>
            <a:p>
              <a:endParaRPr lang="en-US">
                <a:cs typeface="Times New Roman" pitchFamily="18" charset="0"/>
              </a:endParaRPr>
            </a:p>
          </p:txBody>
        </p:sp>
        <p:sp>
          <p:nvSpPr>
            <p:cNvPr id="13" name="AutoShape 19"/>
            <p:cNvSpPr>
              <a:spLocks noChangeArrowheads="1"/>
            </p:cNvSpPr>
            <p:nvPr/>
          </p:nvSpPr>
          <p:spPr bwMode="auto">
            <a:xfrm>
              <a:off x="-32230" y="4913312"/>
              <a:ext cx="1295400" cy="1512888"/>
            </a:xfrm>
            <a:prstGeom prst="can">
              <a:avLst>
                <a:gd name="adj" fmla="val 29197"/>
              </a:avLst>
            </a:prstGeom>
            <a:solidFill>
              <a:srgbClr val="CFE11F">
                <a:alpha val="39999"/>
              </a:srgbClr>
            </a:solidFill>
            <a:ln w="9525">
              <a:solidFill>
                <a:srgbClr val="996633"/>
              </a:solidFill>
              <a:round/>
              <a:headEnd/>
              <a:tailEnd/>
            </a:ln>
          </p:spPr>
          <p:txBody>
            <a:bodyPr wrap="none" anchor="ctr"/>
            <a:lstStyle/>
            <a:p>
              <a:pPr algn="ctr"/>
              <a:r>
                <a:rPr lang="en-US">
                  <a:solidFill>
                    <a:srgbClr val="996633"/>
                  </a:solidFill>
                  <a:ea typeface="宋体" pitchFamily="2" charset="-122"/>
                  <a:cs typeface="Times New Roman" pitchFamily="18" charset="0"/>
                </a:rPr>
                <a:t>Service</a:t>
              </a:r>
            </a:p>
            <a:p>
              <a:pPr algn="ctr"/>
              <a:r>
                <a:rPr lang="en-US">
                  <a:solidFill>
                    <a:srgbClr val="996633"/>
                  </a:solidFill>
                  <a:ea typeface="宋体" pitchFamily="2" charset="-122"/>
                  <a:cs typeface="Times New Roman" pitchFamily="18" charset="0"/>
                </a:rPr>
                <a:t>Registry</a:t>
              </a:r>
            </a:p>
            <a:p>
              <a:pPr algn="ctr"/>
              <a:r>
                <a:rPr lang="en-US">
                  <a:solidFill>
                    <a:srgbClr val="996633"/>
                  </a:solidFill>
                  <a:ea typeface="宋体" pitchFamily="2" charset="-122"/>
                  <a:cs typeface="Times New Roman" pitchFamily="18" charset="0"/>
                </a:rPr>
                <a:t>(UDDI)</a:t>
              </a:r>
            </a:p>
          </p:txBody>
        </p:sp>
        <p:sp>
          <p:nvSpPr>
            <p:cNvPr id="14" name="Text Box 20"/>
            <p:cNvSpPr txBox="1">
              <a:spLocks noChangeArrowheads="1"/>
            </p:cNvSpPr>
            <p:nvPr/>
          </p:nvSpPr>
          <p:spPr bwMode="auto">
            <a:xfrm>
              <a:off x="2100262" y="3294062"/>
              <a:ext cx="1225550" cy="369332"/>
            </a:xfrm>
            <a:prstGeom prst="rect">
              <a:avLst/>
            </a:prstGeom>
            <a:noFill/>
            <a:ln w="9525" algn="ctr">
              <a:noFill/>
              <a:miter lim="800000"/>
              <a:headEnd/>
              <a:tailEnd/>
            </a:ln>
          </p:spPr>
          <p:txBody>
            <a:bodyPr>
              <a:spAutoFit/>
            </a:bodyPr>
            <a:lstStyle/>
            <a:p>
              <a:pPr algn="ctr">
                <a:spcBef>
                  <a:spcPct val="50000"/>
                </a:spcBef>
              </a:pPr>
              <a:r>
                <a:rPr lang="en-US">
                  <a:solidFill>
                    <a:srgbClr val="996633"/>
                  </a:solidFill>
                  <a:ea typeface="宋体" pitchFamily="2" charset="-122"/>
                  <a:cs typeface="Times New Roman" pitchFamily="18" charset="0"/>
                </a:rPr>
                <a:t>Publish</a:t>
              </a:r>
            </a:p>
          </p:txBody>
        </p:sp>
        <p:sp>
          <p:nvSpPr>
            <p:cNvPr id="15" name="Text Box 21"/>
            <p:cNvSpPr txBox="1">
              <a:spLocks noChangeArrowheads="1"/>
            </p:cNvSpPr>
            <p:nvPr/>
          </p:nvSpPr>
          <p:spPr bwMode="auto">
            <a:xfrm>
              <a:off x="6288087" y="3367087"/>
              <a:ext cx="2349500" cy="646331"/>
            </a:xfrm>
            <a:prstGeom prst="rect">
              <a:avLst/>
            </a:prstGeom>
            <a:noFill/>
            <a:ln w="9525" algn="ctr">
              <a:noFill/>
              <a:miter lim="800000"/>
              <a:headEnd/>
              <a:tailEnd/>
            </a:ln>
          </p:spPr>
          <p:txBody>
            <a:bodyPr>
              <a:spAutoFit/>
            </a:bodyPr>
            <a:lstStyle/>
            <a:p>
              <a:pPr algn="ctr">
                <a:spcBef>
                  <a:spcPct val="50000"/>
                </a:spcBef>
              </a:pPr>
              <a:r>
                <a:rPr lang="en-US">
                  <a:solidFill>
                    <a:srgbClr val="996633"/>
                  </a:solidFill>
                  <a:ea typeface="宋体" pitchFamily="2" charset="-122"/>
                  <a:cs typeface="Times New Roman" pitchFamily="18" charset="0"/>
                </a:rPr>
                <a:t>Bind/ Communication</a:t>
              </a:r>
            </a:p>
          </p:txBody>
        </p:sp>
        <p:sp>
          <p:nvSpPr>
            <p:cNvPr id="16" name="Text Box 22"/>
            <p:cNvSpPr txBox="1">
              <a:spLocks noChangeArrowheads="1"/>
            </p:cNvSpPr>
            <p:nvPr/>
          </p:nvSpPr>
          <p:spPr bwMode="auto">
            <a:xfrm>
              <a:off x="4260850" y="5702300"/>
              <a:ext cx="1616075" cy="369332"/>
            </a:xfrm>
            <a:prstGeom prst="rect">
              <a:avLst/>
            </a:prstGeom>
            <a:noFill/>
            <a:ln w="9525" algn="ctr">
              <a:noFill/>
              <a:miter lim="800000"/>
              <a:headEnd/>
              <a:tailEnd/>
            </a:ln>
          </p:spPr>
          <p:txBody>
            <a:bodyPr>
              <a:spAutoFit/>
            </a:bodyPr>
            <a:lstStyle/>
            <a:p>
              <a:pPr algn="ctr">
                <a:spcBef>
                  <a:spcPct val="50000"/>
                </a:spcBef>
              </a:pPr>
              <a:r>
                <a:rPr lang="en-US">
                  <a:solidFill>
                    <a:srgbClr val="996633"/>
                  </a:solidFill>
                  <a:ea typeface="宋体" pitchFamily="2" charset="-122"/>
                  <a:cs typeface="Times New Roman" pitchFamily="18" charset="0"/>
                </a:rPr>
                <a:t>Find/Look up</a:t>
              </a:r>
            </a:p>
          </p:txBody>
        </p:sp>
      </p:grpSp>
    </p:spTree>
    <p:extLst>
      <p:ext uri="{BB962C8B-B14F-4D97-AF65-F5344CB8AC3E}">
        <p14:creationId xmlns:p14="http://schemas.microsoft.com/office/powerpoint/2010/main" val="1193025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World Wide Web Consortium (W3C)</a:t>
            </a:r>
            <a:endParaRPr lang="en-US" dirty="0"/>
          </a:p>
        </p:txBody>
      </p:sp>
      <p:sp>
        <p:nvSpPr>
          <p:cNvPr id="3" name="Content Placeholder 2"/>
          <p:cNvSpPr>
            <a:spLocks noGrp="1"/>
          </p:cNvSpPr>
          <p:nvPr>
            <p:ph idx="1"/>
          </p:nvPr>
        </p:nvSpPr>
        <p:spPr/>
        <p:txBody>
          <a:bodyPr>
            <a:normAutofit/>
          </a:bodyPr>
          <a:lstStyle/>
          <a:p>
            <a:pPr algn="just">
              <a:lnSpc>
                <a:spcPct val="100000"/>
              </a:lnSpc>
            </a:pPr>
            <a:r>
              <a:rPr lang="vi-VN" altLang="en-US" b="1" dirty="0">
                <a:solidFill>
                  <a:srgbClr val="FF0000"/>
                </a:solidFill>
              </a:rPr>
              <a:t>Được thành lập vào năm 1994 bởi Tim Berners-Lee</a:t>
            </a:r>
            <a:endParaRPr lang="en-US" altLang="en-US" b="1" dirty="0">
              <a:solidFill>
                <a:srgbClr val="FF0000"/>
              </a:solidFill>
            </a:endParaRPr>
          </a:p>
          <a:p>
            <a:pPr lvl="1" algn="just">
              <a:lnSpc>
                <a:spcPct val="100000"/>
              </a:lnSpc>
            </a:pPr>
            <a:r>
              <a:rPr lang="vi-VN" altLang="en-US" dirty="0"/>
              <a:t>Dành cho việc phát triển các công nghệ không độc quyền và có thể tương tác cho </a:t>
            </a:r>
            <a:r>
              <a:rPr lang="vi-VN" altLang="en-US" b="1" dirty="0"/>
              <a:t>World Wide Web </a:t>
            </a:r>
            <a:r>
              <a:rPr lang="vi-VN" altLang="en-US" dirty="0"/>
              <a:t>và làm cho Web có thể truy cập được trên toàn cầu</a:t>
            </a:r>
            <a:endParaRPr lang="en-US" altLang="en-US" dirty="0"/>
          </a:p>
          <a:p>
            <a:pPr algn="just">
              <a:lnSpc>
                <a:spcPct val="100000"/>
              </a:lnSpc>
            </a:pPr>
            <a:r>
              <a:rPr lang="en-US" altLang="en-US" b="1" dirty="0" err="1">
                <a:solidFill>
                  <a:srgbClr val="FF0000"/>
                </a:solidFill>
              </a:rPr>
              <a:t>Tiêu</a:t>
            </a:r>
            <a:r>
              <a:rPr lang="en-US" altLang="en-US" b="1" dirty="0">
                <a:solidFill>
                  <a:srgbClr val="FF0000"/>
                </a:solidFill>
              </a:rPr>
              <a:t> </a:t>
            </a:r>
            <a:r>
              <a:rPr lang="en-US" altLang="en-US" b="1" dirty="0" err="1">
                <a:solidFill>
                  <a:srgbClr val="FF0000"/>
                </a:solidFill>
              </a:rPr>
              <a:t>chuẩn</a:t>
            </a:r>
            <a:r>
              <a:rPr lang="en-US" altLang="en-US" b="1" dirty="0">
                <a:solidFill>
                  <a:srgbClr val="FF0000"/>
                </a:solidFill>
              </a:rPr>
              <a:t> </a:t>
            </a:r>
            <a:r>
              <a:rPr lang="en-US" altLang="en-US" b="1" dirty="0" err="1">
                <a:solidFill>
                  <a:srgbClr val="FF0000"/>
                </a:solidFill>
              </a:rPr>
              <a:t>hóa</a:t>
            </a:r>
            <a:endParaRPr lang="en-US" altLang="en-US" b="1" dirty="0">
              <a:solidFill>
                <a:srgbClr val="FF0000"/>
              </a:solidFill>
            </a:endParaRPr>
          </a:p>
          <a:p>
            <a:pPr lvl="1" algn="just">
              <a:lnSpc>
                <a:spcPct val="100000"/>
              </a:lnSpc>
            </a:pPr>
            <a:r>
              <a:rPr lang="vi-VN" altLang="en-US" b="1" dirty="0"/>
              <a:t>Khuyến nghị của W3C</a:t>
            </a:r>
            <a:r>
              <a:rPr lang="vi-VN" altLang="en-US" dirty="0"/>
              <a:t>: các công nghệ được tiêu chuẩn hóa bởi W3C</a:t>
            </a:r>
            <a:r>
              <a:rPr lang="en-US" altLang="en-US" dirty="0"/>
              <a:t> </a:t>
            </a:r>
            <a:r>
              <a:rPr lang="vi-VN" altLang="en-US" dirty="0"/>
              <a:t>bao gồm</a:t>
            </a:r>
            <a:endParaRPr lang="en-US" altLang="en-US" dirty="0"/>
          </a:p>
          <a:p>
            <a:pPr lvl="1" algn="just">
              <a:lnSpc>
                <a:spcPct val="100000"/>
              </a:lnSpc>
            </a:pPr>
            <a:r>
              <a:rPr lang="vi-VN" altLang="en-US" dirty="0"/>
              <a:t>Ngôn ngữ đánh dấu siêu văn bản có thể mở rộng (XHTML), </a:t>
            </a:r>
            <a:endParaRPr lang="en-US" altLang="en-US" dirty="0"/>
          </a:p>
          <a:p>
            <a:pPr lvl="1" algn="just">
              <a:lnSpc>
                <a:spcPct val="100000"/>
              </a:lnSpc>
            </a:pPr>
            <a:r>
              <a:rPr lang="vi-VN" altLang="en-US" dirty="0"/>
              <a:t>Cascading Style Sheets (CSS) </a:t>
            </a:r>
            <a:endParaRPr lang="en-US" altLang="en-US" dirty="0"/>
          </a:p>
          <a:p>
            <a:pPr lvl="1" algn="just">
              <a:lnSpc>
                <a:spcPct val="100000"/>
              </a:lnSpc>
            </a:pPr>
            <a:r>
              <a:rPr lang="vi-VN" altLang="en-US" dirty="0"/>
              <a:t>Extensible Markup Language (XML)</a:t>
            </a:r>
            <a:endParaRPr lang="en-US" altLang="en-US" dirty="0"/>
          </a:p>
          <a:p>
            <a:pPr marL="0" indent="0" algn="just">
              <a:lnSpc>
                <a:spcPct val="100000"/>
              </a:lnSpc>
              <a:buNone/>
            </a:pPr>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36</a:t>
            </a:fld>
            <a:endParaRPr lang="en-US"/>
          </a:p>
        </p:txBody>
      </p:sp>
    </p:spTree>
    <p:extLst>
      <p:ext uri="{BB962C8B-B14F-4D97-AF65-F5344CB8AC3E}">
        <p14:creationId xmlns:p14="http://schemas.microsoft.com/office/powerpoint/2010/main" val="3260133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 </a:t>
            </a:r>
            <a:r>
              <a:rPr lang="en-US" dirty="0" err="1"/>
              <a:t>EXtensible</a:t>
            </a:r>
            <a:r>
              <a:rPr lang="en-US" dirty="0"/>
              <a:t> Markup Language</a:t>
            </a:r>
          </a:p>
        </p:txBody>
      </p:sp>
      <p:sp>
        <p:nvSpPr>
          <p:cNvPr id="3" name="Content Placeholder 2"/>
          <p:cNvSpPr>
            <a:spLocks noGrp="1"/>
          </p:cNvSpPr>
          <p:nvPr>
            <p:ph idx="1"/>
          </p:nvPr>
        </p:nvSpPr>
        <p:spPr/>
        <p:txBody>
          <a:bodyPr>
            <a:normAutofit/>
          </a:bodyPr>
          <a:lstStyle/>
          <a:p>
            <a:pPr algn="just">
              <a:lnSpc>
                <a:spcPct val="100000"/>
              </a:lnSpc>
            </a:pPr>
            <a:r>
              <a:rPr lang="en-US" b="1" dirty="0">
                <a:solidFill>
                  <a:srgbClr val="FF0000"/>
                </a:solidFill>
              </a:rPr>
              <a:t>Extensible Markup Language (XML) </a:t>
            </a:r>
            <a:r>
              <a:rPr lang="vi-VN" dirty="0"/>
              <a:t>là một ngôn ngữ đánh dấu xác định một tập hợp các quy tắc để mã hóa tài liệu ở định dạng vừa có thể đọc được cho con người vừa có thể đọc được bằng máy.</a:t>
            </a:r>
            <a:r>
              <a:rPr lang="vi-VN" b="1" dirty="0">
                <a:solidFill>
                  <a:srgbClr val="FF0000"/>
                </a:solidFill>
              </a:rPr>
              <a:t> </a:t>
            </a:r>
            <a:endParaRPr lang="en-US" dirty="0"/>
          </a:p>
          <a:p>
            <a:pPr lvl="1" algn="just">
              <a:lnSpc>
                <a:spcPct val="100000"/>
              </a:lnSpc>
            </a:pPr>
            <a:r>
              <a:rPr lang="vi-VN" dirty="0"/>
              <a:t>Các mục tiêu thiết kế của XML</a:t>
            </a:r>
            <a:r>
              <a:rPr lang="en-US" dirty="0"/>
              <a:t>:</a:t>
            </a:r>
            <a:r>
              <a:rPr lang="vi-VN" dirty="0"/>
              <a:t> nhấn mạnh tính đơn giản, tính tổng quát và khả năng sử dụng qua Internet</a:t>
            </a:r>
            <a:r>
              <a:rPr lang="en-US" dirty="0"/>
              <a:t>.</a:t>
            </a:r>
          </a:p>
          <a:p>
            <a:pPr lvl="1" algn="just">
              <a:lnSpc>
                <a:spcPct val="100000"/>
              </a:lnSpc>
            </a:pPr>
            <a:r>
              <a:rPr lang="vi-VN" dirty="0"/>
              <a:t>Nhiều giao diện lập trình ứng dụng (API) đã được phát triển để hỗ trợ các nhà phát triển phần mềm xử lý dữ liệu XML và một số hệ thống lược đồ tồn tại để hỗ trợ định nghĩa các ngôn ngữ dựa trên XML.</a:t>
            </a:r>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37</a:t>
            </a:fld>
            <a:endParaRPr lang="en-US"/>
          </a:p>
        </p:txBody>
      </p:sp>
    </p:spTree>
    <p:extLst>
      <p:ext uri="{BB962C8B-B14F-4D97-AF65-F5344CB8AC3E}">
        <p14:creationId xmlns:p14="http://schemas.microsoft.com/office/powerpoint/2010/main" val="2766030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SOAP - Simple Object Access Protocol</a:t>
            </a:r>
          </a:p>
        </p:txBody>
      </p:sp>
      <p:sp>
        <p:nvSpPr>
          <p:cNvPr id="3" name="Content Placeholder 2"/>
          <p:cNvSpPr>
            <a:spLocks noGrp="1"/>
          </p:cNvSpPr>
          <p:nvPr>
            <p:ph idx="1"/>
          </p:nvPr>
        </p:nvSpPr>
        <p:spPr/>
        <p:txBody>
          <a:bodyPr/>
          <a:lstStyle/>
          <a:p>
            <a:pPr algn="just">
              <a:lnSpc>
                <a:spcPct val="100000"/>
              </a:lnSpc>
            </a:pPr>
            <a:r>
              <a:rPr lang="vi-VN" dirty="0"/>
              <a:t>Là một giao thức chuẩn dựa trên văn bản của WS.</a:t>
            </a:r>
            <a:endParaRPr lang="en-US" dirty="0"/>
          </a:p>
          <a:p>
            <a:pPr algn="just">
              <a:lnSpc>
                <a:spcPct val="100000"/>
              </a:lnSpc>
            </a:pPr>
            <a:r>
              <a:rPr lang="vi-VN" dirty="0"/>
              <a:t>Cho phép giao tiếp giữa các dịch vụ Web và máy khách dịch vụ Web.</a:t>
            </a:r>
            <a:endParaRPr lang="en-US" dirty="0"/>
          </a:p>
          <a:p>
            <a:pPr algn="just">
              <a:lnSpc>
                <a:spcPct val="100000"/>
              </a:lnSpc>
            </a:pPr>
            <a:r>
              <a:rPr lang="vi-VN" dirty="0"/>
              <a:t>Cho phép các doanh nghiệp khác nhau giao tiếp và trao đổi thông tin dưới dạng tin nhắn SOAP</a:t>
            </a:r>
            <a:endParaRPr lang="en-US" dirty="0"/>
          </a:p>
        </p:txBody>
      </p:sp>
      <p:sp>
        <p:nvSpPr>
          <p:cNvPr id="4" name="Slide Number Placeholder 3"/>
          <p:cNvSpPr>
            <a:spLocks noGrp="1"/>
          </p:cNvSpPr>
          <p:nvPr>
            <p:ph type="sldNum" sz="quarter" idx="12"/>
          </p:nvPr>
        </p:nvSpPr>
        <p:spPr/>
        <p:txBody>
          <a:bodyPr/>
          <a:lstStyle/>
          <a:p>
            <a:fld id="{DA60BA0E-20D0-4E7C-B286-26C960A6788F}" type="slidenum">
              <a:rPr lang="en-US" smtClean="0"/>
              <a:pPr/>
              <a:t>38</a:t>
            </a:fld>
            <a:endParaRPr lang="en-US"/>
          </a:p>
        </p:txBody>
      </p:sp>
    </p:spTree>
    <p:extLst>
      <p:ext uri="{BB962C8B-B14F-4D97-AF65-F5344CB8AC3E}">
        <p14:creationId xmlns:p14="http://schemas.microsoft.com/office/powerpoint/2010/main" val="784482099"/>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325</TotalTime>
  <Words>2814</Words>
  <Application>Microsoft Office PowerPoint</Application>
  <PresentationFormat>Widescreen</PresentationFormat>
  <Paragraphs>297</Paragraphs>
  <Slides>38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 (Heading)</vt:lpstr>
      <vt:lpstr>Arial</vt:lpstr>
      <vt:lpstr>Arial</vt:lpstr>
      <vt:lpstr>Euphemia</vt:lpstr>
      <vt:lpstr>Tahoma</vt:lpstr>
      <vt:lpstr>Times New Roman</vt:lpstr>
      <vt:lpstr>Wingdings</vt:lpstr>
      <vt:lpstr>Academic Literature 16x9</vt:lpstr>
      <vt:lpstr>Hệ thống và công nghệ web (Web systems and technologies)</vt:lpstr>
      <vt:lpstr>Nội dung</vt:lpstr>
      <vt:lpstr>Giới thiệu Web</vt:lpstr>
      <vt:lpstr>Giới thiệu Web</vt:lpstr>
      <vt:lpstr>World Wide Web là gì? </vt:lpstr>
      <vt:lpstr>Sự phát triển của web</vt:lpstr>
      <vt:lpstr>Sự phát triển của web</vt:lpstr>
      <vt:lpstr>Phân loại web</vt:lpstr>
      <vt:lpstr>Sự phát triển của web</vt:lpstr>
      <vt:lpstr>Sự phát triển của web</vt:lpstr>
      <vt:lpstr>Truy cập web</vt:lpstr>
      <vt:lpstr>Web tĩnh và web động</vt:lpstr>
      <vt:lpstr>IP Address (Internet Protocol address)</vt:lpstr>
      <vt:lpstr>IP Address (Internet Protocol address)</vt:lpstr>
      <vt:lpstr>IP Address (Internet Protocol address)</vt:lpstr>
      <vt:lpstr>Tên miền (Domain name – DN)</vt:lpstr>
      <vt:lpstr>Tên miền (Domain name – DN)</vt:lpstr>
      <vt:lpstr>Tên miền (Domain name – DN)</vt:lpstr>
      <vt:lpstr>Tên miền (Domain name – DN)</vt:lpstr>
      <vt:lpstr>Tên miền (Domain name – DN)</vt:lpstr>
      <vt:lpstr>Tên miền (Domain name – DN)</vt:lpstr>
      <vt:lpstr>URL (Uniform Resource Locator)</vt:lpstr>
      <vt:lpstr>URL (Uniform Resource Locator)</vt:lpstr>
      <vt:lpstr>Hypertext Transfer Protocol (HTTP)</vt:lpstr>
      <vt:lpstr>Các loại ứng dụng Web</vt:lpstr>
      <vt:lpstr>Cấu trúc Client-Server của Web</vt:lpstr>
      <vt:lpstr>Kiến trúc ứng dụng web</vt:lpstr>
      <vt:lpstr>Code phía Server</vt:lpstr>
      <vt:lpstr>Code phía Server</vt:lpstr>
      <vt:lpstr>Code phía Client</vt:lpstr>
      <vt:lpstr>Giới thiệu Dịch vụ Web - Web Services</vt:lpstr>
      <vt:lpstr>Giới thiệu Web Services</vt:lpstr>
      <vt:lpstr>Kiến trúc dịch vụ Web - Web Services Architectures</vt:lpstr>
      <vt:lpstr>Kiến trúc dịch vụ Web - Web Services Architectures</vt:lpstr>
      <vt:lpstr>Kiến trúc dịch vụ Web - Web Services Architectures</vt:lpstr>
      <vt:lpstr>World Wide Web Consortium (W3C)</vt:lpstr>
      <vt:lpstr>XML – EXtensible Markup Language</vt:lpstr>
      <vt:lpstr>SOAP - Simple Object Access Protocol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và công nghệ web (Web systems and technologies)</dc:title>
  <dc:creator>Xuan Hien</dc:creator>
  <cp:lastModifiedBy>thị hồng lương nguyễn</cp:lastModifiedBy>
  <cp:revision>13</cp:revision>
  <dcterms:created xsi:type="dcterms:W3CDTF">2021-12-28T15:03:24Z</dcterms:created>
  <dcterms:modified xsi:type="dcterms:W3CDTF">2023-12-26T03:34:10Z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